
<file path=[Content_Types].xml><?xml version="1.0" encoding="utf-8"?>
<Types xmlns="http://schemas.openxmlformats.org/package/2006/content-types">
  <Default Extension="bin" ContentType="image/unknown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244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Parley (n.) is a conversation under truce, in which either side may speak at any moment. The benchmark's authors name the cause: agents "commit intermediate parameters before the correction arrives."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Fixed quiet-period gates (for example waiting 600 ms after every turn) help, but add that delay to every single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Violet nodes are PARLEY additions; teal-outlined nodes are off-the-shelf. When ToolGuard defers, the LLM receives "not executed, wait" instead of a result. The camera extension is a separate agent and is not part of the benchmark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video: https://youtu.be/-l4Yk7sETZQ?si=6066k-7NFxGb2okl. Walk through the five storyboard beats in order; the three tiles at the bottom show the extension's possible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reads bottom to top: transport at the base, benchmark harness on top. Violet layers are ours. Everything runs on free tiers plus local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guide explicitly names device troubleshooting with a camera frame as the extension use case. Remedies come from bundled manual pages, not from the LLM's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Self-correction clip quote: "…from the checking, wait, no… make it savings." No full 100-clip run yet: Groq's free tier allows about 200K LLM tokens/day and a clip costs about 4K. Scoring is exact-match with no gpt-4o judge, so these numbers are not comparable to the paper's judged Pass@1.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gpt-oss-20b under vLLM is already supported via PARLEY_LLM_BASE_URL.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run logs are in runs/fdb/. We publish the ablation that didn't flatter us and the retraining we rejected.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tsAryan-devop/parle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bin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bin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hyperlink" Target="https://youtu.be/-l4Yk7sETZQ?si=6066k-7NFxGb2okl" TargetMode="External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tsAryan-devop/parley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youtu.be/-l4Yk7sETZQ?si=6066k-7NFxGb2ok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tsAryan-devop/parley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050" y="1019175"/>
            <a:ext cx="3638550" cy="5238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D9D3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54756" y="1166813"/>
            <a:ext cx="247845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235"/>
              </a:lnSpc>
              <a:buNone/>
            </a:pPr>
            <a:r>
              <a:rPr lang="en-US" sz="1800" b="1" kern="0" spc="18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PRISM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62050" y="1809750"/>
            <a:ext cx="10110788" cy="1162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87413"/>
              </a:lnSpc>
              <a:buNone/>
            </a:pPr>
            <a:r>
              <a:rPr lang="en-US" sz="75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162050" y="2857500"/>
            <a:ext cx="10110788" cy="1162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87413"/>
              </a:lnSpc>
              <a:buNone/>
            </a:pPr>
            <a:r>
              <a:rPr lang="en-US" sz="75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7500" dirty="0"/>
          </a:p>
        </p:txBody>
      </p:sp>
      <p:sp>
        <p:nvSpPr>
          <p:cNvPr id="6" name="Text 4"/>
          <p:cNvSpPr/>
          <p:nvPr/>
        </p:nvSpPr>
        <p:spPr>
          <a:xfrm>
            <a:off x="1162050" y="4154805"/>
            <a:ext cx="2735806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 Edition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3820597" y="4154805"/>
            <a:ext cx="2330589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dirty="0">
                <a:solidFill>
                  <a:srgbClr val="636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– 27</a:t>
            </a:r>
            <a:endParaRPr lang="en-US" sz="3750" dirty="0"/>
          </a:p>
        </p:txBody>
      </p:sp>
      <p:sp>
        <p:nvSpPr>
          <p:cNvPr id="8" name="Shape 6"/>
          <p:cNvSpPr/>
          <p:nvPr/>
        </p:nvSpPr>
        <p:spPr>
          <a:xfrm>
            <a:off x="1162050" y="4972050"/>
            <a:ext cx="9191625" cy="15240"/>
          </a:xfrm>
          <a:prstGeom prst="rect">
            <a:avLst/>
          </a:prstGeom>
          <a:solidFill>
            <a:srgbClr val="D9D3F0"/>
          </a:solidFill>
          <a:ln/>
        </p:spPr>
      </p:sp>
      <p:sp>
        <p:nvSpPr>
          <p:cNvPr id="9" name="Text 7"/>
          <p:cNvSpPr/>
          <p:nvPr/>
        </p:nvSpPr>
        <p:spPr>
          <a:xfrm>
            <a:off x="1162050" y="5158740"/>
            <a:ext cx="191790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192"/>
              </a:lnSpc>
              <a:buNone/>
            </a:pPr>
            <a:r>
              <a:rPr lang="en-US" sz="3600" b="1" kern="0" spc="4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PARLEY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134201" y="5303520"/>
            <a:ext cx="702136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 agent that listens through self-corrections before it acts.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62050" y="6096000"/>
            <a:ext cx="345757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195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ID -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457700" y="6096000"/>
            <a:ext cx="685228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19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(Interruptible Real-Time Agents)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62050" y="6477000"/>
            <a:ext cx="345757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195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-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4457700" y="6477000"/>
            <a:ext cx="685228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19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The_T_Guys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62050" y="6858000"/>
            <a:ext cx="345757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195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Name -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4457700" y="6858000"/>
            <a:ext cx="685228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195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Thapar Institute of Engineering &amp; Technology, Patiala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62050" y="7239000"/>
            <a:ext cx="345757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195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&amp; Email 1 -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4457700" y="7239000"/>
            <a:ext cx="685228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195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Gobinda Podder, </a:t>
            </a:r>
            <a:r>
              <a:rPr lang="en-US" sz="19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gpodder_be24@thapar.edu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62050" y="7620000"/>
            <a:ext cx="345757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195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&amp; Email 2 -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4457700" y="7620000"/>
            <a:ext cx="685228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195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 Ashish, </a:t>
            </a:r>
            <a:r>
              <a:rPr lang="en-US" sz="19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kashish_be24@thapar.edu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162050" y="8001000"/>
            <a:ext cx="345757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195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&amp; Email 3 -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4457700" y="8001000"/>
            <a:ext cx="685228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195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Devaansh Gupta, </a:t>
            </a:r>
            <a:r>
              <a:rPr lang="en-US" sz="19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dgupta_be24@thapar.edu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62050" y="8382000"/>
            <a:ext cx="345757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195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&amp; Email 4 -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4457700" y="8382000"/>
            <a:ext cx="685228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195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Chourasia, </a:t>
            </a:r>
            <a:r>
              <a:rPr lang="en-US" sz="19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achourasia_be24@thapar.edu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162050" y="8763000"/>
            <a:ext cx="345757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195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Github link -</a:t>
            </a:r>
            <a:endParaRPr lang="en-US" sz="1950" dirty="0"/>
          </a:p>
        </p:txBody>
      </p:sp>
      <p:sp>
        <p:nvSpPr>
          <p:cNvPr id="26" name="Text 24">
            <a:hlinkClick r:id="rId3"/>
          </p:cNvPr>
          <p:cNvSpPr/>
          <p:nvPr/>
        </p:nvSpPr>
        <p:spPr>
          <a:xfrm>
            <a:off x="4457700" y="8763000"/>
            <a:ext cx="685228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1950" u="sng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https://github.com/itsAryan-devop/parley</a:t>
            </a:r>
            <a:endParaRPr lang="en-US" sz="195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800" y="158115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7300" y="762000"/>
            <a:ext cx="1735074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909"/>
              </a:lnSpc>
              <a:buNone/>
            </a:pPr>
            <a:r>
              <a:rPr lang="en-US" sz="54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257300" y="1634490"/>
            <a:ext cx="17350740" cy="520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403"/>
              </a:lnSpc>
              <a:buNone/>
            </a:pPr>
            <a:r>
              <a:rPr lang="en-US" sz="33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don't speak in finished commands.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257300" y="2718435"/>
            <a:ext cx="27241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SAYS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962400" y="2718435"/>
            <a:ext cx="4165985" cy="3886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"Switch my mortgage autopay to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8536305" y="2718435"/>
            <a:ext cx="1359456" cy="3886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24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checking…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0888504" y="2718435"/>
            <a:ext cx="1215390" cy="3886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wait, no…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979480" y="2718435"/>
            <a:ext cx="2160984" cy="3886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</a:t>
            </a:r>
            <a:r>
              <a:rPr lang="en-US" sz="2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r>
              <a:rPr lang="en-US" sz="225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."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3962400" y="4341495"/>
            <a:ext cx="13068300" cy="15240"/>
          </a:xfrm>
          <a:prstGeom prst="rect">
            <a:avLst/>
          </a:prstGeom>
          <a:solidFill>
            <a:srgbClr val="D9D3F0"/>
          </a:solidFill>
          <a:ln/>
        </p:spPr>
      </p:sp>
      <p:sp>
        <p:nvSpPr>
          <p:cNvPr id="10" name="Shape 8"/>
          <p:cNvSpPr/>
          <p:nvPr/>
        </p:nvSpPr>
        <p:spPr>
          <a:xfrm>
            <a:off x="3962400" y="3278505"/>
            <a:ext cx="13068300" cy="15240"/>
          </a:xfrm>
          <a:prstGeom prst="rect">
            <a:avLst/>
          </a:prstGeom>
          <a:solidFill>
            <a:srgbClr val="D9D3F0"/>
          </a:solidFill>
          <a:ln/>
        </p:spPr>
      </p:sp>
      <p:sp>
        <p:nvSpPr>
          <p:cNvPr id="11" name="Shape 9"/>
          <p:cNvSpPr/>
          <p:nvPr/>
        </p:nvSpPr>
        <p:spPr>
          <a:xfrm>
            <a:off x="3962400" y="3750945"/>
            <a:ext cx="57150" cy="13335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12" name="Shape 10"/>
          <p:cNvSpPr/>
          <p:nvPr/>
        </p:nvSpPr>
        <p:spPr>
          <a:xfrm>
            <a:off x="4081820" y="3412808"/>
            <a:ext cx="57150" cy="80962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13" name="Shape 11"/>
          <p:cNvSpPr/>
          <p:nvPr/>
        </p:nvSpPr>
        <p:spPr>
          <a:xfrm>
            <a:off x="4201120" y="3689033"/>
            <a:ext cx="57150" cy="25717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14" name="Shape 12"/>
          <p:cNvSpPr/>
          <p:nvPr/>
        </p:nvSpPr>
        <p:spPr>
          <a:xfrm>
            <a:off x="4320540" y="3674745"/>
            <a:ext cx="57150" cy="28575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15" name="Shape 13"/>
          <p:cNvSpPr/>
          <p:nvPr/>
        </p:nvSpPr>
        <p:spPr>
          <a:xfrm>
            <a:off x="4439841" y="3708083"/>
            <a:ext cx="57150" cy="21907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16" name="Shape 14"/>
          <p:cNvSpPr/>
          <p:nvPr/>
        </p:nvSpPr>
        <p:spPr>
          <a:xfrm>
            <a:off x="4559260" y="3560445"/>
            <a:ext cx="57150" cy="51435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17" name="Shape 15"/>
          <p:cNvSpPr/>
          <p:nvPr/>
        </p:nvSpPr>
        <p:spPr>
          <a:xfrm>
            <a:off x="4678561" y="3508058"/>
            <a:ext cx="57150" cy="61912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18" name="Shape 16"/>
          <p:cNvSpPr/>
          <p:nvPr/>
        </p:nvSpPr>
        <p:spPr>
          <a:xfrm>
            <a:off x="4797981" y="3517583"/>
            <a:ext cx="57150" cy="60007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19" name="Shape 17"/>
          <p:cNvSpPr/>
          <p:nvPr/>
        </p:nvSpPr>
        <p:spPr>
          <a:xfrm>
            <a:off x="4917400" y="3455670"/>
            <a:ext cx="57150" cy="7239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20" name="Shape 18"/>
          <p:cNvSpPr/>
          <p:nvPr/>
        </p:nvSpPr>
        <p:spPr>
          <a:xfrm>
            <a:off x="5036701" y="365569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21" name="Shape 19"/>
          <p:cNvSpPr/>
          <p:nvPr/>
        </p:nvSpPr>
        <p:spPr>
          <a:xfrm>
            <a:off x="5156121" y="3674745"/>
            <a:ext cx="57150" cy="28575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22" name="Shape 20"/>
          <p:cNvSpPr/>
          <p:nvPr/>
        </p:nvSpPr>
        <p:spPr>
          <a:xfrm>
            <a:off x="5275422" y="3736658"/>
            <a:ext cx="57150" cy="16192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23" name="Shape 21"/>
          <p:cNvSpPr/>
          <p:nvPr/>
        </p:nvSpPr>
        <p:spPr>
          <a:xfrm>
            <a:off x="5394841" y="3508058"/>
            <a:ext cx="57150" cy="61912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24" name="Shape 22"/>
          <p:cNvSpPr/>
          <p:nvPr/>
        </p:nvSpPr>
        <p:spPr>
          <a:xfrm>
            <a:off x="5514142" y="3712845"/>
            <a:ext cx="57150" cy="20955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25" name="Shape 23"/>
          <p:cNvSpPr/>
          <p:nvPr/>
        </p:nvSpPr>
        <p:spPr>
          <a:xfrm>
            <a:off x="5633561" y="3379470"/>
            <a:ext cx="57150" cy="8763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26" name="Shape 24"/>
          <p:cNvSpPr/>
          <p:nvPr/>
        </p:nvSpPr>
        <p:spPr>
          <a:xfrm>
            <a:off x="5752981" y="3627120"/>
            <a:ext cx="57150" cy="3810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27" name="Shape 25"/>
          <p:cNvSpPr/>
          <p:nvPr/>
        </p:nvSpPr>
        <p:spPr>
          <a:xfrm>
            <a:off x="5872282" y="3546158"/>
            <a:ext cx="57150" cy="54292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28" name="Shape 26"/>
          <p:cNvSpPr/>
          <p:nvPr/>
        </p:nvSpPr>
        <p:spPr>
          <a:xfrm>
            <a:off x="5991701" y="3708083"/>
            <a:ext cx="57150" cy="21907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29" name="Shape 27"/>
          <p:cNvSpPr/>
          <p:nvPr/>
        </p:nvSpPr>
        <p:spPr>
          <a:xfrm>
            <a:off x="6111002" y="368427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30" name="Shape 28"/>
          <p:cNvSpPr/>
          <p:nvPr/>
        </p:nvSpPr>
        <p:spPr>
          <a:xfrm>
            <a:off x="6230421" y="3560445"/>
            <a:ext cx="57150" cy="51435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31" name="Shape 29"/>
          <p:cNvSpPr/>
          <p:nvPr/>
        </p:nvSpPr>
        <p:spPr>
          <a:xfrm>
            <a:off x="6349722" y="3565208"/>
            <a:ext cx="57150" cy="50482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32" name="Shape 30"/>
          <p:cNvSpPr/>
          <p:nvPr/>
        </p:nvSpPr>
        <p:spPr>
          <a:xfrm>
            <a:off x="6469142" y="3403283"/>
            <a:ext cx="57150" cy="82867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33" name="Shape 31"/>
          <p:cNvSpPr/>
          <p:nvPr/>
        </p:nvSpPr>
        <p:spPr>
          <a:xfrm>
            <a:off x="6588562" y="3650933"/>
            <a:ext cx="57150" cy="33337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34" name="Shape 32"/>
          <p:cNvSpPr/>
          <p:nvPr/>
        </p:nvSpPr>
        <p:spPr>
          <a:xfrm>
            <a:off x="6707862" y="3527108"/>
            <a:ext cx="57150" cy="58102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35" name="Shape 33"/>
          <p:cNvSpPr/>
          <p:nvPr/>
        </p:nvSpPr>
        <p:spPr>
          <a:xfrm>
            <a:off x="6827282" y="3746183"/>
            <a:ext cx="57150" cy="14287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36" name="Shape 34"/>
          <p:cNvSpPr/>
          <p:nvPr/>
        </p:nvSpPr>
        <p:spPr>
          <a:xfrm>
            <a:off x="6946582" y="365569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37" name="Shape 35"/>
          <p:cNvSpPr/>
          <p:nvPr/>
        </p:nvSpPr>
        <p:spPr>
          <a:xfrm>
            <a:off x="7066002" y="3698558"/>
            <a:ext cx="57150" cy="23812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38" name="Shape 36"/>
          <p:cNvSpPr/>
          <p:nvPr/>
        </p:nvSpPr>
        <p:spPr>
          <a:xfrm>
            <a:off x="7185303" y="3422333"/>
            <a:ext cx="57150" cy="79057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39" name="Shape 37"/>
          <p:cNvSpPr/>
          <p:nvPr/>
        </p:nvSpPr>
        <p:spPr>
          <a:xfrm>
            <a:off x="7304723" y="3574733"/>
            <a:ext cx="57150" cy="48577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40" name="Shape 38"/>
          <p:cNvSpPr/>
          <p:nvPr/>
        </p:nvSpPr>
        <p:spPr>
          <a:xfrm>
            <a:off x="7424023" y="3474720"/>
            <a:ext cx="57150" cy="6858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41" name="Shape 39"/>
          <p:cNvSpPr/>
          <p:nvPr/>
        </p:nvSpPr>
        <p:spPr>
          <a:xfrm>
            <a:off x="7543443" y="3598545"/>
            <a:ext cx="57150" cy="43815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42" name="Shape 40"/>
          <p:cNvSpPr/>
          <p:nvPr/>
        </p:nvSpPr>
        <p:spPr>
          <a:xfrm>
            <a:off x="7662863" y="3703320"/>
            <a:ext cx="57150" cy="2286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43" name="Shape 41"/>
          <p:cNvSpPr/>
          <p:nvPr/>
        </p:nvSpPr>
        <p:spPr>
          <a:xfrm>
            <a:off x="7782163" y="3669983"/>
            <a:ext cx="57150" cy="29527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44" name="Shape 42"/>
          <p:cNvSpPr/>
          <p:nvPr/>
        </p:nvSpPr>
        <p:spPr>
          <a:xfrm>
            <a:off x="7901583" y="3641408"/>
            <a:ext cx="57150" cy="35242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45" name="Shape 43"/>
          <p:cNvSpPr/>
          <p:nvPr/>
        </p:nvSpPr>
        <p:spPr>
          <a:xfrm>
            <a:off x="8020884" y="341757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46" name="Shape 44"/>
          <p:cNvSpPr/>
          <p:nvPr/>
        </p:nvSpPr>
        <p:spPr>
          <a:xfrm>
            <a:off x="8140303" y="3679508"/>
            <a:ext cx="57150" cy="27622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47" name="Shape 45"/>
          <p:cNvSpPr/>
          <p:nvPr/>
        </p:nvSpPr>
        <p:spPr>
          <a:xfrm>
            <a:off x="8259604" y="3417570"/>
            <a:ext cx="57150" cy="8001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48" name="Shape 46"/>
          <p:cNvSpPr/>
          <p:nvPr/>
        </p:nvSpPr>
        <p:spPr>
          <a:xfrm>
            <a:off x="8379023" y="3736658"/>
            <a:ext cx="57150" cy="16192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49" name="Shape 47"/>
          <p:cNvSpPr/>
          <p:nvPr/>
        </p:nvSpPr>
        <p:spPr>
          <a:xfrm>
            <a:off x="8498443" y="368427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50" name="Shape 48"/>
          <p:cNvSpPr/>
          <p:nvPr/>
        </p:nvSpPr>
        <p:spPr>
          <a:xfrm>
            <a:off x="8617744" y="3717608"/>
            <a:ext cx="57150" cy="20002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51" name="Shape 49"/>
          <p:cNvSpPr/>
          <p:nvPr/>
        </p:nvSpPr>
        <p:spPr>
          <a:xfrm>
            <a:off x="8737164" y="3527108"/>
            <a:ext cx="57150" cy="58102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52" name="Shape 50"/>
          <p:cNvSpPr/>
          <p:nvPr/>
        </p:nvSpPr>
        <p:spPr>
          <a:xfrm>
            <a:off x="8856464" y="3555683"/>
            <a:ext cx="57150" cy="52387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53" name="Shape 51"/>
          <p:cNvSpPr/>
          <p:nvPr/>
        </p:nvSpPr>
        <p:spPr>
          <a:xfrm>
            <a:off x="8975884" y="3465195"/>
            <a:ext cx="57150" cy="70485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54" name="Shape 52"/>
          <p:cNvSpPr/>
          <p:nvPr/>
        </p:nvSpPr>
        <p:spPr>
          <a:xfrm>
            <a:off x="9095184" y="3503295"/>
            <a:ext cx="57150" cy="62865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55" name="Shape 53"/>
          <p:cNvSpPr/>
          <p:nvPr/>
        </p:nvSpPr>
        <p:spPr>
          <a:xfrm>
            <a:off x="9214604" y="3627120"/>
            <a:ext cx="57150" cy="3810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56" name="Shape 54"/>
          <p:cNvSpPr/>
          <p:nvPr/>
        </p:nvSpPr>
        <p:spPr>
          <a:xfrm>
            <a:off x="9334024" y="3693795"/>
            <a:ext cx="57150" cy="24765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57" name="Shape 55"/>
          <p:cNvSpPr/>
          <p:nvPr/>
        </p:nvSpPr>
        <p:spPr>
          <a:xfrm>
            <a:off x="9453325" y="3717608"/>
            <a:ext cx="57150" cy="20002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58" name="Shape 56"/>
          <p:cNvSpPr/>
          <p:nvPr/>
        </p:nvSpPr>
        <p:spPr>
          <a:xfrm>
            <a:off x="9572744" y="3503295"/>
            <a:ext cx="57150" cy="62865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59" name="Shape 57"/>
          <p:cNvSpPr/>
          <p:nvPr/>
        </p:nvSpPr>
        <p:spPr>
          <a:xfrm>
            <a:off x="9692045" y="3722370"/>
            <a:ext cx="57150" cy="1905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60" name="Shape 58"/>
          <p:cNvSpPr/>
          <p:nvPr/>
        </p:nvSpPr>
        <p:spPr>
          <a:xfrm>
            <a:off x="9811465" y="3369945"/>
            <a:ext cx="57150" cy="89535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61" name="Shape 59"/>
          <p:cNvSpPr/>
          <p:nvPr/>
        </p:nvSpPr>
        <p:spPr>
          <a:xfrm>
            <a:off x="9930765" y="3693795"/>
            <a:ext cx="57150" cy="24765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62" name="Shape 60"/>
          <p:cNvSpPr/>
          <p:nvPr/>
        </p:nvSpPr>
        <p:spPr>
          <a:xfrm>
            <a:off x="10050185" y="3541395"/>
            <a:ext cx="57150" cy="55245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63" name="Shape 61"/>
          <p:cNvSpPr/>
          <p:nvPr/>
        </p:nvSpPr>
        <p:spPr>
          <a:xfrm>
            <a:off x="10169605" y="3798570"/>
            <a:ext cx="57150" cy="381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64" name="Shape 62"/>
          <p:cNvSpPr/>
          <p:nvPr/>
        </p:nvSpPr>
        <p:spPr>
          <a:xfrm>
            <a:off x="10288906" y="3798570"/>
            <a:ext cx="57150" cy="381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65" name="Shape 63"/>
          <p:cNvSpPr/>
          <p:nvPr/>
        </p:nvSpPr>
        <p:spPr>
          <a:xfrm>
            <a:off x="10408325" y="3798570"/>
            <a:ext cx="57150" cy="381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66" name="Shape 64"/>
          <p:cNvSpPr/>
          <p:nvPr/>
        </p:nvSpPr>
        <p:spPr>
          <a:xfrm>
            <a:off x="10527626" y="3798570"/>
            <a:ext cx="57150" cy="381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67" name="Shape 65"/>
          <p:cNvSpPr/>
          <p:nvPr/>
        </p:nvSpPr>
        <p:spPr>
          <a:xfrm>
            <a:off x="10647045" y="3798570"/>
            <a:ext cx="57150" cy="381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68" name="Shape 66"/>
          <p:cNvSpPr/>
          <p:nvPr/>
        </p:nvSpPr>
        <p:spPr>
          <a:xfrm>
            <a:off x="10766346" y="3798570"/>
            <a:ext cx="57150" cy="381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69" name="Shape 67"/>
          <p:cNvSpPr/>
          <p:nvPr/>
        </p:nvSpPr>
        <p:spPr>
          <a:xfrm>
            <a:off x="10885766" y="3798570"/>
            <a:ext cx="57150" cy="381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70" name="Shape 68"/>
          <p:cNvSpPr/>
          <p:nvPr/>
        </p:nvSpPr>
        <p:spPr>
          <a:xfrm>
            <a:off x="11005185" y="3736658"/>
            <a:ext cx="57150" cy="16192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71" name="Shape 69"/>
          <p:cNvSpPr/>
          <p:nvPr/>
        </p:nvSpPr>
        <p:spPr>
          <a:xfrm>
            <a:off x="11124486" y="3641408"/>
            <a:ext cx="57150" cy="35242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72" name="Shape 70"/>
          <p:cNvSpPr/>
          <p:nvPr/>
        </p:nvSpPr>
        <p:spPr>
          <a:xfrm>
            <a:off x="11243906" y="3746183"/>
            <a:ext cx="57150" cy="14287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73" name="Shape 71"/>
          <p:cNvSpPr/>
          <p:nvPr/>
        </p:nvSpPr>
        <p:spPr>
          <a:xfrm>
            <a:off x="11363206" y="3398520"/>
            <a:ext cx="57150" cy="8382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74" name="Shape 72"/>
          <p:cNvSpPr/>
          <p:nvPr/>
        </p:nvSpPr>
        <p:spPr>
          <a:xfrm>
            <a:off x="11482626" y="364617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75" name="Shape 73"/>
          <p:cNvSpPr/>
          <p:nvPr/>
        </p:nvSpPr>
        <p:spPr>
          <a:xfrm>
            <a:off x="11601927" y="3450908"/>
            <a:ext cx="57150" cy="73342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76" name="Shape 74"/>
          <p:cNvSpPr/>
          <p:nvPr/>
        </p:nvSpPr>
        <p:spPr>
          <a:xfrm>
            <a:off x="11721346" y="3641408"/>
            <a:ext cx="57150" cy="35242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77" name="Shape 75"/>
          <p:cNvSpPr/>
          <p:nvPr/>
        </p:nvSpPr>
        <p:spPr>
          <a:xfrm>
            <a:off x="11840766" y="3708083"/>
            <a:ext cx="57150" cy="21907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78" name="Shape 76"/>
          <p:cNvSpPr/>
          <p:nvPr/>
        </p:nvSpPr>
        <p:spPr>
          <a:xfrm>
            <a:off x="11960066" y="3669983"/>
            <a:ext cx="57150" cy="29527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79" name="Shape 77"/>
          <p:cNvSpPr/>
          <p:nvPr/>
        </p:nvSpPr>
        <p:spPr>
          <a:xfrm>
            <a:off x="12079486" y="3593783"/>
            <a:ext cx="57150" cy="44767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80" name="Shape 78"/>
          <p:cNvSpPr/>
          <p:nvPr/>
        </p:nvSpPr>
        <p:spPr>
          <a:xfrm>
            <a:off x="12198787" y="3441383"/>
            <a:ext cx="57150" cy="75247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81" name="Shape 79"/>
          <p:cNvSpPr/>
          <p:nvPr/>
        </p:nvSpPr>
        <p:spPr>
          <a:xfrm>
            <a:off x="12318206" y="3608070"/>
            <a:ext cx="57150" cy="4191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82" name="Shape 80"/>
          <p:cNvSpPr/>
          <p:nvPr/>
        </p:nvSpPr>
        <p:spPr>
          <a:xfrm>
            <a:off x="12437507" y="3431858"/>
            <a:ext cx="57150" cy="77152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83" name="Shape 81"/>
          <p:cNvSpPr/>
          <p:nvPr/>
        </p:nvSpPr>
        <p:spPr>
          <a:xfrm>
            <a:off x="12556927" y="3798570"/>
            <a:ext cx="57150" cy="381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84" name="Shape 82"/>
          <p:cNvSpPr/>
          <p:nvPr/>
        </p:nvSpPr>
        <p:spPr>
          <a:xfrm>
            <a:off x="12676346" y="3798570"/>
            <a:ext cx="57150" cy="381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85" name="Shape 83"/>
          <p:cNvSpPr/>
          <p:nvPr/>
        </p:nvSpPr>
        <p:spPr>
          <a:xfrm>
            <a:off x="12795647" y="3798570"/>
            <a:ext cx="57150" cy="381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86" name="Shape 84"/>
          <p:cNvSpPr/>
          <p:nvPr/>
        </p:nvSpPr>
        <p:spPr>
          <a:xfrm>
            <a:off x="12915066" y="3798570"/>
            <a:ext cx="57150" cy="381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87" name="Shape 85"/>
          <p:cNvSpPr/>
          <p:nvPr/>
        </p:nvSpPr>
        <p:spPr>
          <a:xfrm>
            <a:off x="13034367" y="3612833"/>
            <a:ext cx="57150" cy="40957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88" name="Shape 86"/>
          <p:cNvSpPr/>
          <p:nvPr/>
        </p:nvSpPr>
        <p:spPr>
          <a:xfrm>
            <a:off x="13153787" y="3422333"/>
            <a:ext cx="57150" cy="79057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89" name="Shape 87"/>
          <p:cNvSpPr/>
          <p:nvPr/>
        </p:nvSpPr>
        <p:spPr>
          <a:xfrm>
            <a:off x="13273088" y="3550920"/>
            <a:ext cx="57150" cy="5334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90" name="Shape 88"/>
          <p:cNvSpPr/>
          <p:nvPr/>
        </p:nvSpPr>
        <p:spPr>
          <a:xfrm>
            <a:off x="13392507" y="3603308"/>
            <a:ext cx="57150" cy="42862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91" name="Shape 89"/>
          <p:cNvSpPr/>
          <p:nvPr/>
        </p:nvSpPr>
        <p:spPr>
          <a:xfrm>
            <a:off x="13511928" y="3712845"/>
            <a:ext cx="57150" cy="20955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92" name="Shape 90"/>
          <p:cNvSpPr/>
          <p:nvPr/>
        </p:nvSpPr>
        <p:spPr>
          <a:xfrm>
            <a:off x="13631227" y="3689033"/>
            <a:ext cx="57150" cy="25717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93" name="Shape 91"/>
          <p:cNvSpPr/>
          <p:nvPr/>
        </p:nvSpPr>
        <p:spPr>
          <a:xfrm>
            <a:off x="13750648" y="3508058"/>
            <a:ext cx="57150" cy="61912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94" name="Shape 92"/>
          <p:cNvSpPr/>
          <p:nvPr/>
        </p:nvSpPr>
        <p:spPr>
          <a:xfrm>
            <a:off x="13869948" y="365569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95" name="Shape 93"/>
          <p:cNvSpPr/>
          <p:nvPr/>
        </p:nvSpPr>
        <p:spPr>
          <a:xfrm>
            <a:off x="13989368" y="3374708"/>
            <a:ext cx="57150" cy="88582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96" name="Shape 94"/>
          <p:cNvSpPr/>
          <p:nvPr/>
        </p:nvSpPr>
        <p:spPr>
          <a:xfrm>
            <a:off x="14108668" y="3746183"/>
            <a:ext cx="57150" cy="14287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97" name="Shape 95"/>
          <p:cNvSpPr/>
          <p:nvPr/>
        </p:nvSpPr>
        <p:spPr>
          <a:xfrm>
            <a:off x="14228089" y="3546158"/>
            <a:ext cx="57150" cy="54292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98" name="Shape 96"/>
          <p:cNvSpPr/>
          <p:nvPr/>
        </p:nvSpPr>
        <p:spPr>
          <a:xfrm>
            <a:off x="14347388" y="3741420"/>
            <a:ext cx="57150" cy="1524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99" name="Shape 97"/>
          <p:cNvSpPr/>
          <p:nvPr/>
        </p:nvSpPr>
        <p:spPr>
          <a:xfrm>
            <a:off x="14466809" y="363664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100" name="Shape 98"/>
          <p:cNvSpPr/>
          <p:nvPr/>
        </p:nvSpPr>
        <p:spPr>
          <a:xfrm>
            <a:off x="14586228" y="3622358"/>
            <a:ext cx="57150" cy="39052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101" name="Shape 99"/>
          <p:cNvSpPr/>
          <p:nvPr/>
        </p:nvSpPr>
        <p:spPr>
          <a:xfrm>
            <a:off x="14705529" y="3460433"/>
            <a:ext cx="57150" cy="71437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4824949" y="3489008"/>
            <a:ext cx="57150" cy="65722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4944249" y="3546158"/>
            <a:ext cx="57150" cy="54292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5063669" y="3579495"/>
            <a:ext cx="57150" cy="47625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5182970" y="3731895"/>
            <a:ext cx="57150" cy="17145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5302389" y="3631883"/>
            <a:ext cx="57150" cy="37147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5421809" y="3708083"/>
            <a:ext cx="57150" cy="21907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5541110" y="3388995"/>
            <a:ext cx="57150" cy="85725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5660529" y="3712845"/>
            <a:ext cx="57150" cy="20955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5779830" y="3436620"/>
            <a:ext cx="57150" cy="7620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5899249" y="3679508"/>
            <a:ext cx="57150" cy="27622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6018550" y="3717608"/>
            <a:ext cx="57150" cy="200025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6137970" y="3798570"/>
            <a:ext cx="57150" cy="381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6257389" y="3798570"/>
            <a:ext cx="57150" cy="381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6376690" y="3798570"/>
            <a:ext cx="57150" cy="381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6496109" y="3798570"/>
            <a:ext cx="57150" cy="381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6615410" y="3798570"/>
            <a:ext cx="57150" cy="381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6734830" y="3798570"/>
            <a:ext cx="57150" cy="381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6854131" y="3798570"/>
            <a:ext cx="57150" cy="381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6973550" y="3798570"/>
            <a:ext cx="57150" cy="38100"/>
          </a:xfrm>
          <a:prstGeom prst="roundRect">
            <a:avLst>
              <a:gd name="adj" fmla="val 50000"/>
            </a:avLst>
          </a:prstGeom>
          <a:solidFill>
            <a:srgbClr val="B3A6E0"/>
          </a:solidFill>
          <a:ln/>
        </p:spPr>
      </p:sp>
      <p:sp>
        <p:nvSpPr>
          <p:cNvPr id="121" name="Text 119"/>
          <p:cNvSpPr/>
          <p:nvPr/>
        </p:nvSpPr>
        <p:spPr>
          <a:xfrm>
            <a:off x="1257300" y="4631055"/>
            <a:ext cx="272415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agent</a:t>
            </a:r>
            <a:endParaRPr lang="en-US" sz="2250" dirty="0"/>
          </a:p>
        </p:txBody>
      </p:sp>
      <p:sp>
        <p:nvSpPr>
          <p:cNvPr id="122" name="Text 120"/>
          <p:cNvSpPr/>
          <p:nvPr/>
        </p:nvSpPr>
        <p:spPr>
          <a:xfrm>
            <a:off x="1257300" y="5019675"/>
            <a:ext cx="27241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24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calls, the first one wrong</a:t>
            </a:r>
            <a:endParaRPr lang="en-US" sz="1800" dirty="0"/>
          </a:p>
        </p:txBody>
      </p:sp>
      <p:sp>
        <p:nvSpPr>
          <p:cNvPr id="123" name="Shape 121"/>
          <p:cNvSpPr/>
          <p:nvPr/>
        </p:nvSpPr>
        <p:spPr>
          <a:xfrm>
            <a:off x="3962400" y="4566285"/>
            <a:ext cx="13068300" cy="800100"/>
          </a:xfrm>
          <a:prstGeom prst="roundRect">
            <a:avLst>
              <a:gd name="adj" fmla="val 14286"/>
            </a:avLst>
          </a:prstGeom>
          <a:solidFill>
            <a:srgbClr val="F4F4F7"/>
          </a:solidFill>
          <a:ln/>
        </p:spPr>
      </p:sp>
      <p:sp>
        <p:nvSpPr>
          <p:cNvPr id="124" name="Shape 122"/>
          <p:cNvSpPr/>
          <p:nvPr/>
        </p:nvSpPr>
        <p:spPr>
          <a:xfrm rot="2700000">
            <a:off x="9712404" y="4735830"/>
            <a:ext cx="209550" cy="209550"/>
          </a:xfrm>
          <a:prstGeom prst="rect">
            <a:avLst/>
          </a:prstGeom>
          <a:solidFill>
            <a:srgbClr val="C2413A"/>
          </a:solidFill>
          <a:ln/>
        </p:spPr>
      </p:sp>
      <p:sp>
        <p:nvSpPr>
          <p:cNvPr id="125" name="Text 123"/>
          <p:cNvSpPr/>
          <p:nvPr/>
        </p:nvSpPr>
        <p:spPr>
          <a:xfrm>
            <a:off x="10017205" y="4699635"/>
            <a:ext cx="1625322" cy="3200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24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1 · checking</a:t>
            </a:r>
            <a:endParaRPr lang="en-US" sz="1800" dirty="0"/>
          </a:p>
        </p:txBody>
      </p:sp>
      <p:sp>
        <p:nvSpPr>
          <p:cNvPr id="126" name="Text 124"/>
          <p:cNvSpPr/>
          <p:nvPr/>
        </p:nvSpPr>
        <p:spPr>
          <a:xfrm>
            <a:off x="10017204" y="5023485"/>
            <a:ext cx="2446330" cy="3200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value committed</a:t>
            </a:r>
            <a:endParaRPr lang="en-US" sz="1800" dirty="0"/>
          </a:p>
        </p:txBody>
      </p:sp>
      <p:sp>
        <p:nvSpPr>
          <p:cNvPr id="127" name="Shape 125"/>
          <p:cNvSpPr/>
          <p:nvPr/>
        </p:nvSpPr>
        <p:spPr>
          <a:xfrm rot="2700000">
            <a:off x="14286310" y="4735830"/>
            <a:ext cx="209550" cy="209550"/>
          </a:xfrm>
          <a:prstGeom prst="rect">
            <a:avLst/>
          </a:prstGeom>
          <a:solidFill>
            <a:srgbClr val="9A9AB0"/>
          </a:solidFill>
          <a:ln/>
        </p:spPr>
      </p:sp>
      <p:sp>
        <p:nvSpPr>
          <p:cNvPr id="128" name="Text 126"/>
          <p:cNvSpPr/>
          <p:nvPr/>
        </p:nvSpPr>
        <p:spPr>
          <a:xfrm>
            <a:off x="14591109" y="4699635"/>
            <a:ext cx="1472875" cy="3200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2 · savings</a:t>
            </a:r>
            <a:endParaRPr lang="en-US" sz="1800" dirty="0"/>
          </a:p>
        </p:txBody>
      </p:sp>
      <p:sp>
        <p:nvSpPr>
          <p:cNvPr id="129" name="Text 127"/>
          <p:cNvSpPr/>
          <p:nvPr/>
        </p:nvSpPr>
        <p:spPr>
          <a:xfrm>
            <a:off x="1257300" y="5640705"/>
            <a:ext cx="272415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PARLEY</a:t>
            </a:r>
            <a:endParaRPr lang="en-US" sz="2250" dirty="0"/>
          </a:p>
        </p:txBody>
      </p:sp>
      <p:sp>
        <p:nvSpPr>
          <p:cNvPr id="130" name="Text 128"/>
          <p:cNvSpPr/>
          <p:nvPr/>
        </p:nvSpPr>
        <p:spPr>
          <a:xfrm>
            <a:off x="1257300" y="6029325"/>
            <a:ext cx="27241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call, the right one</a:t>
            </a:r>
            <a:endParaRPr lang="en-US" sz="1800" dirty="0"/>
          </a:p>
        </p:txBody>
      </p:sp>
      <p:sp>
        <p:nvSpPr>
          <p:cNvPr id="131" name="Shape 129"/>
          <p:cNvSpPr/>
          <p:nvPr/>
        </p:nvSpPr>
        <p:spPr>
          <a:xfrm>
            <a:off x="3962400" y="5575935"/>
            <a:ext cx="13068300" cy="800100"/>
          </a:xfrm>
          <a:prstGeom prst="roundRect">
            <a:avLst>
              <a:gd name="adj" fmla="val 14286"/>
            </a:avLst>
          </a:prstGeom>
          <a:solidFill>
            <a:srgbClr val="F1EEFB"/>
          </a:solidFill>
          <a:ln/>
        </p:spPr>
      </p:sp>
      <p:sp>
        <p:nvSpPr>
          <p:cNvPr id="132" name="Text 130"/>
          <p:cNvSpPr/>
          <p:nvPr/>
        </p:nvSpPr>
        <p:spPr>
          <a:xfrm>
            <a:off x="4354354" y="5842635"/>
            <a:ext cx="4979563" cy="3200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listening… turn held open through the correction</a:t>
            </a:r>
            <a:endParaRPr lang="en-US" sz="1800" dirty="0"/>
          </a:p>
        </p:txBody>
      </p:sp>
      <p:sp>
        <p:nvSpPr>
          <p:cNvPr id="133" name="Shape 131"/>
          <p:cNvSpPr/>
          <p:nvPr/>
        </p:nvSpPr>
        <p:spPr>
          <a:xfrm rot="2700000">
            <a:off x="14286310" y="5878830"/>
            <a:ext cx="209550" cy="20955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34" name="Text 132"/>
          <p:cNvSpPr/>
          <p:nvPr/>
        </p:nvSpPr>
        <p:spPr>
          <a:xfrm>
            <a:off x="14591109" y="5842635"/>
            <a:ext cx="1472875" cy="3200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call · savings</a:t>
            </a:r>
            <a:endParaRPr lang="en-US" sz="1800" dirty="0"/>
          </a:p>
        </p:txBody>
      </p:sp>
      <p:sp>
        <p:nvSpPr>
          <p:cNvPr id="135" name="Shape 133"/>
          <p:cNvSpPr/>
          <p:nvPr/>
        </p:nvSpPr>
        <p:spPr>
          <a:xfrm>
            <a:off x="1257300" y="8014335"/>
            <a:ext cx="15773400" cy="15240"/>
          </a:xfrm>
          <a:prstGeom prst="rect">
            <a:avLst/>
          </a:prstGeom>
          <a:solidFill>
            <a:srgbClr val="D9D3F0"/>
          </a:solidFill>
          <a:ln/>
        </p:spPr>
      </p:sp>
      <p:sp>
        <p:nvSpPr>
          <p:cNvPr id="136" name="Text 134"/>
          <p:cNvSpPr/>
          <p:nvPr/>
        </p:nvSpPr>
        <p:spPr>
          <a:xfrm>
            <a:off x="1257300" y="8296275"/>
            <a:ext cx="550409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5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05</a:t>
            </a:r>
            <a:endParaRPr lang="en-US" sz="1800" dirty="0"/>
          </a:p>
        </p:txBody>
      </p:sp>
      <p:sp>
        <p:nvSpPr>
          <p:cNvPr id="137" name="Text 135"/>
          <p:cNvSpPr/>
          <p:nvPr/>
        </p:nvSpPr>
        <p:spPr>
          <a:xfrm>
            <a:off x="1257300" y="8654415"/>
            <a:ext cx="5153832" cy="1003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625"/>
              </a:lnSpc>
              <a:buNone/>
            </a:pPr>
            <a:r>
              <a:rPr lang="en-US" sz="195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Interruptible Real-Time Agents: voice agents must handle users who pause, hesitate and correct themselves mid-sentence.</a:t>
            </a:r>
            <a:endParaRPr lang="en-US" sz="1950" dirty="0"/>
          </a:p>
        </p:txBody>
      </p:sp>
      <p:sp>
        <p:nvSpPr>
          <p:cNvPr id="138" name="Text 136"/>
          <p:cNvSpPr/>
          <p:nvPr/>
        </p:nvSpPr>
        <p:spPr>
          <a:xfrm>
            <a:off x="6642021" y="8296275"/>
            <a:ext cx="550422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5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 FULL-DUPLEX-BENCH V3</a:t>
            </a:r>
            <a:endParaRPr lang="en-US" sz="1800" dirty="0"/>
          </a:p>
        </p:txBody>
      </p:sp>
      <p:sp>
        <p:nvSpPr>
          <p:cNvPr id="139" name="Text 137"/>
          <p:cNvSpPr/>
          <p:nvPr/>
        </p:nvSpPr>
        <p:spPr>
          <a:xfrm>
            <a:off x="6642021" y="8654415"/>
            <a:ext cx="5153955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625"/>
              </a:lnSpc>
              <a:buNone/>
            </a:pPr>
            <a:r>
              <a:rPr lang="en-US" sz="195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real human recordings, 4 domains, 12 tools (flights, cards, apartments, orders…).</a:t>
            </a:r>
            <a:endParaRPr lang="en-US" sz="1950" dirty="0"/>
          </a:p>
        </p:txBody>
      </p:sp>
      <p:sp>
        <p:nvSpPr>
          <p:cNvPr id="140" name="Text 138"/>
          <p:cNvSpPr/>
          <p:nvPr/>
        </p:nvSpPr>
        <p:spPr>
          <a:xfrm>
            <a:off x="12026860" y="8296275"/>
            <a:ext cx="550422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5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CATEGORY</a:t>
            </a:r>
            <a:endParaRPr lang="en-US" sz="1800" dirty="0"/>
          </a:p>
        </p:txBody>
      </p:sp>
      <p:sp>
        <p:nvSpPr>
          <p:cNvPr id="141" name="Text 139"/>
          <p:cNvSpPr/>
          <p:nvPr/>
        </p:nvSpPr>
        <p:spPr>
          <a:xfrm>
            <a:off x="12026860" y="8654415"/>
            <a:ext cx="5153955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625"/>
              </a:lnSpc>
              <a:buNone/>
            </a:pPr>
            <a:r>
              <a:rPr lang="en-US" sz="195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Self-correction: even GPT-Realtime fails over 40% of them.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7300" y="762000"/>
            <a:ext cx="1735074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909"/>
              </a:lnSpc>
              <a:buNone/>
            </a:pPr>
            <a:r>
              <a:rPr lang="en-US" sz="54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&amp; Gaps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257300" y="1939290"/>
            <a:ext cx="942975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FDB-v3 Pass@1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257300" y="2327910"/>
            <a:ext cx="94297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paper · 100 clips · gpt-4o judge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42975" y="2933700"/>
            <a:ext cx="34575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GPT-Realtime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4591050" y="2876550"/>
            <a:ext cx="4476750" cy="419100"/>
          </a:xfrm>
          <a:custGeom>
            <a:avLst/>
            <a:gdLst/>
            <a:ahLst/>
            <a:cxnLst/>
            <a:rect l="l" t="t" r="r" b="b"/>
            <a:pathLst>
              <a:path w="4476750" h="419100">
                <a:moveTo>
                  <a:pt x="0" y="0"/>
                </a:moveTo>
                <a:lnTo>
                  <a:pt x="4419600" y="0"/>
                </a:lnTo>
                <a:arcTo wR="57150" hR="57150" stAng="16200000" swAng="5400000"/>
                <a:lnTo>
                  <a:pt x="4476750" y="361950"/>
                </a:lnTo>
                <a:arcTo wR="57150" hR="57150" stAng="0" swAng="5400000"/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5FB8B0"/>
          </a:solidFill>
          <a:ln/>
        </p:spPr>
      </p:sp>
      <p:sp>
        <p:nvSpPr>
          <p:cNvPr id="7" name="Text 5"/>
          <p:cNvSpPr/>
          <p:nvPr/>
        </p:nvSpPr>
        <p:spPr>
          <a:xfrm>
            <a:off x="9182100" y="2933700"/>
            <a:ext cx="64079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0.600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42975" y="3562350"/>
            <a:ext cx="34575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Live 3.1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4591050" y="3505200"/>
            <a:ext cx="4029075" cy="419100"/>
          </a:xfrm>
          <a:custGeom>
            <a:avLst/>
            <a:gdLst/>
            <a:ahLst/>
            <a:cxnLst/>
            <a:rect l="l" t="t" r="r" b="b"/>
            <a:pathLst>
              <a:path w="4029075" h="419100">
                <a:moveTo>
                  <a:pt x="0" y="0"/>
                </a:moveTo>
                <a:lnTo>
                  <a:pt x="3971925" y="0"/>
                </a:lnTo>
                <a:arcTo wR="57150" hR="57150" stAng="16200000" swAng="5400000"/>
                <a:lnTo>
                  <a:pt x="4029075" y="361950"/>
                </a:lnTo>
                <a:arcTo wR="57150" hR="57150" stAng="0" swAng="5400000"/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5FB8B0"/>
          </a:solidFill>
          <a:ln/>
        </p:spPr>
      </p:sp>
      <p:sp>
        <p:nvSpPr>
          <p:cNvPr id="10" name="Text 8"/>
          <p:cNvSpPr/>
          <p:nvPr/>
        </p:nvSpPr>
        <p:spPr>
          <a:xfrm>
            <a:off x="8734425" y="3562350"/>
            <a:ext cx="64079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0.540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42975" y="4191000"/>
            <a:ext cx="34575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Live 2.5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591050" y="4133850"/>
            <a:ext cx="3657600" cy="419100"/>
          </a:xfrm>
          <a:custGeom>
            <a:avLst/>
            <a:gdLst/>
            <a:ahLst/>
            <a:cxnLst/>
            <a:rect l="l" t="t" r="r" b="b"/>
            <a:pathLst>
              <a:path w="3657600" h="419100">
                <a:moveTo>
                  <a:pt x="0" y="0"/>
                </a:moveTo>
                <a:lnTo>
                  <a:pt x="3600450" y="0"/>
                </a:lnTo>
                <a:arcTo wR="57150" hR="57150" stAng="16200000" swAng="5400000"/>
                <a:lnTo>
                  <a:pt x="3657600" y="361950"/>
                </a:lnTo>
                <a:arcTo wR="57150" hR="57150" stAng="0" swAng="5400000"/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5FB8B0"/>
          </a:solidFill>
          <a:ln/>
        </p:spPr>
      </p:sp>
      <p:sp>
        <p:nvSpPr>
          <p:cNvPr id="13" name="Text 11"/>
          <p:cNvSpPr/>
          <p:nvPr/>
        </p:nvSpPr>
        <p:spPr>
          <a:xfrm>
            <a:off x="8362950" y="4191000"/>
            <a:ext cx="64079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0.490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63003" y="4997768"/>
            <a:ext cx="3237548" cy="607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93437"/>
              </a:lnSpc>
              <a:buNone/>
            </a:pPr>
            <a:r>
              <a:rPr lang="en-US" sz="1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cascaded (Whisper → GPT-4o → TTS)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4591050" y="4762500"/>
            <a:ext cx="3352800" cy="419100"/>
          </a:xfrm>
          <a:custGeom>
            <a:avLst/>
            <a:gdLst/>
            <a:ahLst/>
            <a:cxnLst/>
            <a:rect l="l" t="t" r="r" b="b"/>
            <a:pathLst>
              <a:path w="3352800" h="419100">
                <a:moveTo>
                  <a:pt x="0" y="0"/>
                </a:moveTo>
                <a:lnTo>
                  <a:pt x="3295650" y="0"/>
                </a:lnTo>
                <a:arcTo wR="57150" hR="57150" stAng="16200000" swAng="5400000"/>
                <a:lnTo>
                  <a:pt x="3352800" y="361950"/>
                </a:lnTo>
                <a:arcTo wR="57150" hR="57150" stAng="0" swAng="5400000"/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6D28D9"/>
          </a:solidFill>
          <a:ln/>
        </p:spPr>
      </p:sp>
      <p:sp>
        <p:nvSpPr>
          <p:cNvPr id="16" name="Text 14"/>
          <p:cNvSpPr/>
          <p:nvPr/>
        </p:nvSpPr>
        <p:spPr>
          <a:xfrm>
            <a:off x="8058150" y="4819650"/>
            <a:ext cx="6444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0.450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4591050" y="5238750"/>
            <a:ext cx="5395913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slowest: 10.12 s mean latency · the template PARLEY forks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42975" y="6069330"/>
            <a:ext cx="34575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4591050" y="6012180"/>
            <a:ext cx="3209925" cy="419100"/>
          </a:xfrm>
          <a:custGeom>
            <a:avLst/>
            <a:gdLst/>
            <a:ahLst/>
            <a:cxnLst/>
            <a:rect l="l" t="t" r="r" b="b"/>
            <a:pathLst>
              <a:path w="3209925" h="419100">
                <a:moveTo>
                  <a:pt x="0" y="0"/>
                </a:moveTo>
                <a:lnTo>
                  <a:pt x="3152775" y="0"/>
                </a:lnTo>
                <a:arcTo wR="57150" hR="57150" stAng="16200000" swAng="5400000"/>
                <a:lnTo>
                  <a:pt x="3209925" y="361950"/>
                </a:lnTo>
                <a:arcTo wR="57150" hR="57150" stAng="0" swAng="5400000"/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5FB8B0"/>
          </a:solidFill>
          <a:ln/>
        </p:spPr>
      </p:sp>
      <p:sp>
        <p:nvSpPr>
          <p:cNvPr id="20" name="Text 18"/>
          <p:cNvSpPr/>
          <p:nvPr/>
        </p:nvSpPr>
        <p:spPr>
          <a:xfrm>
            <a:off x="7915275" y="6069330"/>
            <a:ext cx="64079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0.430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42975" y="6697980"/>
            <a:ext cx="34575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Ultravox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4591050" y="6640830"/>
            <a:ext cx="3057525" cy="419100"/>
          </a:xfrm>
          <a:custGeom>
            <a:avLst/>
            <a:gdLst/>
            <a:ahLst/>
            <a:cxnLst/>
            <a:rect l="l" t="t" r="r" b="b"/>
            <a:pathLst>
              <a:path w="3057525" h="419100">
                <a:moveTo>
                  <a:pt x="0" y="0"/>
                </a:moveTo>
                <a:lnTo>
                  <a:pt x="3000375" y="0"/>
                </a:lnTo>
                <a:arcTo wR="57150" hR="57150" stAng="16200000" swAng="5400000"/>
                <a:lnTo>
                  <a:pt x="3057525" y="361950"/>
                </a:lnTo>
                <a:arcTo wR="57150" hR="57150" stAng="0" swAng="5400000"/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5FB8B0"/>
          </a:solidFill>
          <a:ln/>
        </p:spPr>
      </p:sp>
      <p:sp>
        <p:nvSpPr>
          <p:cNvPr id="23" name="Text 21"/>
          <p:cNvSpPr/>
          <p:nvPr/>
        </p:nvSpPr>
        <p:spPr>
          <a:xfrm>
            <a:off x="7762875" y="6697980"/>
            <a:ext cx="64079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0.410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257300" y="9338310"/>
            <a:ext cx="94297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Lin et al., Full-Duplex-Bench v3, arXiv 2604.04847.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439400" y="1939290"/>
            <a:ext cx="6591300" cy="2433280"/>
          </a:xfrm>
          <a:prstGeom prst="roundRect">
            <a:avLst>
              <a:gd name="adj" fmla="val 4697"/>
            </a:avLst>
          </a:prstGeom>
          <a:solidFill>
            <a:srgbClr val="D9D3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725150" y="218694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7" name="Text 25"/>
          <p:cNvSpPr/>
          <p:nvPr/>
        </p:nvSpPr>
        <p:spPr>
          <a:xfrm>
            <a:off x="10687050" y="218694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1391900" y="2186940"/>
            <a:ext cx="588835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Barge-in = flush everything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1391900" y="2613660"/>
            <a:ext cx="5513642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05"/>
              </a:lnSpc>
              <a:buNone/>
            </a:pP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Pipecat and LiveKit cancel the whole pipeline when the user speaks: they conflate </a:t>
            </a:r>
            <a:r>
              <a:rPr lang="en-US" sz="1800" i="1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talking </a:t>
            </a: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</a:t>
            </a:r>
            <a:r>
              <a:rPr lang="en-US" sz="1800" i="1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working</a:t>
            </a: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439400" y="4563070"/>
            <a:ext cx="6591300" cy="2433399"/>
          </a:xfrm>
          <a:prstGeom prst="roundRect">
            <a:avLst>
              <a:gd name="adj" fmla="val 4697"/>
            </a:avLst>
          </a:prstGeom>
          <a:solidFill>
            <a:srgbClr val="D9D3F0"/>
          </a:solidFill>
          <a:ln/>
        </p:spPr>
      </p:sp>
      <p:sp>
        <p:nvSpPr>
          <p:cNvPr id="31" name="Shape 29"/>
          <p:cNvSpPr/>
          <p:nvPr/>
        </p:nvSpPr>
        <p:spPr>
          <a:xfrm>
            <a:off x="10725150" y="481072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32" name="Text 30"/>
          <p:cNvSpPr/>
          <p:nvPr/>
        </p:nvSpPr>
        <p:spPr>
          <a:xfrm>
            <a:off x="10687050" y="481072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1391900" y="4810720"/>
            <a:ext cx="588835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fire on the first plausible value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1391900" y="5237440"/>
            <a:ext cx="5513642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05"/>
              </a:lnSpc>
              <a:buNone/>
            </a:pP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 holds a tool call until the user has actually finished, so corrections become a second, extra call.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0439400" y="7186970"/>
            <a:ext cx="6591300" cy="2433280"/>
          </a:xfrm>
          <a:prstGeom prst="roundRect">
            <a:avLst>
              <a:gd name="adj" fmla="val 4697"/>
            </a:avLst>
          </a:prstGeom>
          <a:solidFill>
            <a:srgbClr val="D9D3F0"/>
          </a:solidFill>
          <a:ln/>
        </p:spPr>
      </p:sp>
      <p:sp>
        <p:nvSpPr>
          <p:cNvPr id="36" name="Shape 34"/>
          <p:cNvSpPr/>
          <p:nvPr/>
        </p:nvSpPr>
        <p:spPr>
          <a:xfrm>
            <a:off x="10725150" y="7434620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37" name="Text 35"/>
          <p:cNvSpPr/>
          <p:nvPr/>
        </p:nvSpPr>
        <p:spPr>
          <a:xfrm>
            <a:off x="10687050" y="7434620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1391900" y="7434620"/>
            <a:ext cx="5888355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calls are a known framework bug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11391900" y="7861340"/>
            <a:ext cx="5513642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05"/>
              </a:lnSpc>
              <a:buNone/>
            </a:pP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LiveKit issue #3702: interrupted tool calls get re-issued. The later fix dedupes by tool </a:t>
            </a:r>
            <a:r>
              <a:rPr lang="en-US" sz="1800" i="1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</a:t>
            </a: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only, so it can't tell "track order A" from "track order B".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7300" y="762000"/>
            <a:ext cx="11804606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909"/>
              </a:lnSpc>
              <a:buNone/>
            </a:pPr>
            <a:r>
              <a:rPr lang="en-US" sz="54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Solutions &amp; Architecture Diagram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3405009" y="114109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6D28D9"/>
          </a:solidFill>
          <a:ln/>
        </p:spPr>
      </p:sp>
      <p:sp>
        <p:nvSpPr>
          <p:cNvPr id="4" name="Text 2"/>
          <p:cNvSpPr/>
          <p:nvPr/>
        </p:nvSpPr>
        <p:spPr>
          <a:xfrm>
            <a:off x="13747909" y="1123950"/>
            <a:ext cx="164850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PARLEY addition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5513248" y="1141095"/>
            <a:ext cx="247650" cy="247650"/>
          </a:xfrm>
          <a:prstGeom prst="roundRect">
            <a:avLst>
              <a:gd name="adj" fmla="val 23077"/>
            </a:avLst>
          </a:prstGeom>
          <a:ln w="22860">
            <a:solidFill>
              <a:srgbClr val="5FB8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856148" y="1123950"/>
            <a:ext cx="125075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7300" y="1672590"/>
            <a:ext cx="15773400" cy="47625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34050" y="1767840"/>
            <a:ext cx="3312081" cy="2819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5829300" y="1767840"/>
            <a:ext cx="3452789" cy="3200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mid-thought → keep listening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706100" y="3787140"/>
            <a:ext cx="542687" cy="3200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353800" y="2167890"/>
            <a:ext cx="998934" cy="3200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done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3735050" y="4072890"/>
            <a:ext cx="605195" cy="3200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344650" y="4930140"/>
            <a:ext cx="578882" cy="3200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4935200" y="3768090"/>
            <a:ext cx="696039" cy="3200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591300" y="5882640"/>
            <a:ext cx="4189571" cy="2819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6686550" y="5882640"/>
            <a:ext cx="4418028" cy="3200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also feeds ToolGuard: speaking / silent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257300" y="2529840"/>
            <a:ext cx="2057400" cy="1047750"/>
          </a:xfrm>
          <a:prstGeom prst="roundRect">
            <a:avLst>
              <a:gd name="adj" fmla="val 10909"/>
            </a:avLst>
          </a:prstGeom>
          <a:solidFill>
            <a:srgbClr val="F4F4F7"/>
          </a:solidFill>
          <a:ln w="15240">
            <a:solidFill>
              <a:srgbClr val="D9D3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24940" y="2750820"/>
            <a:ext cx="189433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audio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1424940" y="3074670"/>
            <a:ext cx="189433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LiveKit room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4000500" y="2529840"/>
            <a:ext cx="20574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2860">
            <a:solidFill>
              <a:srgbClr val="5FB8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75760" y="2750820"/>
            <a:ext cx="18775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Silero VAD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4175760" y="3074670"/>
            <a:ext cx="187756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activity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6743700" y="2529840"/>
            <a:ext cx="20574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2860">
            <a:solidFill>
              <a:srgbClr val="5FB8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18960" y="2630805"/>
            <a:ext cx="1783080" cy="58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375"/>
              </a:lnSpc>
              <a:buNone/>
            </a:pPr>
            <a:r>
              <a:rPr lang="en-US" sz="19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large-v3-turbo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6918960" y="3194685"/>
            <a:ext cx="187756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9486900" y="2529840"/>
            <a:ext cx="2057400" cy="1047750"/>
          </a:xfrm>
          <a:prstGeom prst="roundRect">
            <a:avLst>
              <a:gd name="adj" fmla="val 10909"/>
            </a:avLst>
          </a:prstGeom>
          <a:solidFill>
            <a:srgbClr val="6D28D9"/>
          </a:solidFill>
          <a:ln/>
        </p:spPr>
      </p:sp>
      <p:sp>
        <p:nvSpPr>
          <p:cNvPr id="27" name="Text 24"/>
          <p:cNvSpPr/>
          <p:nvPr/>
        </p:nvSpPr>
        <p:spPr>
          <a:xfrm>
            <a:off x="9639300" y="2626043"/>
            <a:ext cx="1927860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375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Detector</a:t>
            </a:r>
            <a:endParaRPr lang="en-US" sz="1950" dirty="0"/>
          </a:p>
        </p:txBody>
      </p:sp>
      <p:sp>
        <p:nvSpPr>
          <p:cNvPr id="28" name="Text 25"/>
          <p:cNvSpPr/>
          <p:nvPr/>
        </p:nvSpPr>
        <p:spPr>
          <a:xfrm>
            <a:off x="9639300" y="2917508"/>
            <a:ext cx="1828800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6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endpointer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12230100" y="2529840"/>
            <a:ext cx="20574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2860">
            <a:solidFill>
              <a:srgbClr val="5FB8B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2405360" y="2750820"/>
            <a:ext cx="18775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gpt-oss-120b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2405360" y="3074670"/>
            <a:ext cx="187756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LLM, tool calling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14973300" y="2529840"/>
            <a:ext cx="2057400" cy="1047750"/>
          </a:xfrm>
          <a:prstGeom prst="roundRect">
            <a:avLst>
              <a:gd name="adj" fmla="val 10909"/>
            </a:avLst>
          </a:prstGeom>
          <a:solidFill>
            <a:srgbClr val="6D28D9"/>
          </a:solidFill>
          <a:ln/>
        </p:spPr>
      </p:sp>
      <p:sp>
        <p:nvSpPr>
          <p:cNvPr id="33" name="Text 30"/>
          <p:cNvSpPr/>
          <p:nvPr/>
        </p:nvSpPr>
        <p:spPr>
          <a:xfrm>
            <a:off x="15125700" y="2767013"/>
            <a:ext cx="1927860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375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canonicaliser</a:t>
            </a:r>
            <a:endParaRPr lang="en-US" sz="1950" dirty="0"/>
          </a:p>
        </p:txBody>
      </p:sp>
      <p:sp>
        <p:nvSpPr>
          <p:cNvPr id="34" name="Text 31"/>
          <p:cNvSpPr/>
          <p:nvPr/>
        </p:nvSpPr>
        <p:spPr>
          <a:xfrm>
            <a:off x="15125700" y="3058478"/>
            <a:ext cx="192786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6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"P-5-2" → "P52"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14973300" y="4815840"/>
            <a:ext cx="2057400" cy="1047750"/>
          </a:xfrm>
          <a:prstGeom prst="roundRect">
            <a:avLst>
              <a:gd name="adj" fmla="val 10909"/>
            </a:avLst>
          </a:prstGeom>
          <a:solidFill>
            <a:srgbClr val="6D28D9"/>
          </a:solidFill>
          <a:ln/>
        </p:spPr>
      </p:sp>
      <p:sp>
        <p:nvSpPr>
          <p:cNvPr id="36" name="Text 33"/>
          <p:cNvSpPr/>
          <p:nvPr/>
        </p:nvSpPr>
        <p:spPr>
          <a:xfrm>
            <a:off x="15125700" y="4926330"/>
            <a:ext cx="19278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ToolGuard</a:t>
            </a:r>
            <a:endParaRPr lang="en-US" sz="1950" dirty="0"/>
          </a:p>
        </p:txBody>
      </p:sp>
      <p:sp>
        <p:nvSpPr>
          <p:cNvPr id="37" name="Text 34"/>
          <p:cNvSpPr/>
          <p:nvPr/>
        </p:nvSpPr>
        <p:spPr>
          <a:xfrm>
            <a:off x="15125700" y="5250180"/>
            <a:ext cx="1828800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189"/>
              </a:lnSpc>
              <a:buNone/>
            </a:pPr>
            <a:r>
              <a:rPr lang="en-US" sz="1800" dirty="0">
                <a:solidFill>
                  <a:srgbClr val="E6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window + dedupe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12230100" y="4815840"/>
            <a:ext cx="20574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2860">
            <a:solidFill>
              <a:srgbClr val="5FB8B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2405360" y="5036820"/>
            <a:ext cx="18775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tool</a:t>
            </a:r>
            <a:endParaRPr lang="en-US" sz="1950" dirty="0"/>
          </a:p>
        </p:txBody>
      </p:sp>
      <p:sp>
        <p:nvSpPr>
          <p:cNvPr id="40" name="Text 37"/>
          <p:cNvSpPr/>
          <p:nvPr/>
        </p:nvSpPr>
        <p:spPr>
          <a:xfrm>
            <a:off x="12405360" y="5360670"/>
            <a:ext cx="187756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FDB-v3 mock APIs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9486900" y="4815840"/>
            <a:ext cx="20574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2860">
            <a:solidFill>
              <a:srgbClr val="5FB8B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662160" y="5036820"/>
            <a:ext cx="18775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Piper TTS</a:t>
            </a:r>
            <a:endParaRPr lang="en-US" sz="1950" dirty="0"/>
          </a:p>
        </p:txBody>
      </p:sp>
      <p:sp>
        <p:nvSpPr>
          <p:cNvPr id="43" name="Text 40"/>
          <p:cNvSpPr/>
          <p:nvPr/>
        </p:nvSpPr>
        <p:spPr>
          <a:xfrm>
            <a:off x="9662160" y="5360670"/>
            <a:ext cx="187756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CPU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6743700" y="4815840"/>
            <a:ext cx="2057400" cy="1047750"/>
          </a:xfrm>
          <a:prstGeom prst="roundRect">
            <a:avLst>
              <a:gd name="adj" fmla="val 10909"/>
            </a:avLst>
          </a:prstGeom>
          <a:solidFill>
            <a:srgbClr val="F4F4F7"/>
          </a:solidFill>
          <a:ln w="15240">
            <a:solidFill>
              <a:srgbClr val="D9D3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911340" y="5187315"/>
            <a:ext cx="189433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audio</a:t>
            </a:r>
            <a:endParaRPr lang="en-US" sz="1950" dirty="0"/>
          </a:p>
        </p:txBody>
      </p:sp>
      <p:sp>
        <p:nvSpPr>
          <p:cNvPr id="46" name="Shape 43"/>
          <p:cNvSpPr/>
          <p:nvPr/>
        </p:nvSpPr>
        <p:spPr>
          <a:xfrm>
            <a:off x="1257300" y="6770370"/>
            <a:ext cx="3841671" cy="2849880"/>
          </a:xfrm>
          <a:prstGeom prst="roundRect">
            <a:avLst>
              <a:gd name="adj" fmla="val 4011"/>
            </a:avLst>
          </a:prstGeom>
          <a:solidFill>
            <a:srgbClr val="D9D3F0"/>
          </a:solidFill>
          <a:ln/>
        </p:spPr>
      </p:sp>
      <p:sp>
        <p:nvSpPr>
          <p:cNvPr id="47" name="Text 44"/>
          <p:cNvSpPr/>
          <p:nvPr/>
        </p:nvSpPr>
        <p:spPr>
          <a:xfrm>
            <a:off x="1485900" y="6979920"/>
            <a:ext cx="372291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turn detector</a:t>
            </a:r>
            <a:endParaRPr lang="en-US" sz="2100" dirty="0"/>
          </a:p>
        </p:txBody>
      </p:sp>
      <p:sp>
        <p:nvSpPr>
          <p:cNvPr id="48" name="Text 45"/>
          <p:cNvSpPr/>
          <p:nvPr/>
        </p:nvSpPr>
        <p:spPr>
          <a:xfrm>
            <a:off x="1485900" y="7376160"/>
            <a:ext cx="3486005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351"/>
              </a:lnSpc>
              <a:buNone/>
            </a:pP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turn open on a dangling word, a repair ("no", "I mean") or a trailing "…". </a:t>
            </a: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89.4% </a:t>
            </a: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</a:t>
            </a: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</a:t>
            </a: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false-early vs a silence timeout's 72% and 25%. About 10 µs per decision.</a:t>
            </a:r>
            <a:endParaRPr lang="en-US" sz="1800" dirty="0"/>
          </a:p>
        </p:txBody>
      </p:sp>
      <p:sp>
        <p:nvSpPr>
          <p:cNvPr id="49" name="Shape 46"/>
          <p:cNvSpPr/>
          <p:nvPr/>
        </p:nvSpPr>
        <p:spPr>
          <a:xfrm>
            <a:off x="5308521" y="6770370"/>
            <a:ext cx="3841790" cy="2849880"/>
          </a:xfrm>
          <a:prstGeom prst="roundRect">
            <a:avLst>
              <a:gd name="adj" fmla="val 4011"/>
            </a:avLst>
          </a:prstGeom>
          <a:solidFill>
            <a:srgbClr val="D9D3F0"/>
          </a:solidFill>
          <a:ln/>
        </p:spPr>
      </p:sp>
      <p:sp>
        <p:nvSpPr>
          <p:cNvPr id="50" name="Text 47"/>
          <p:cNvSpPr/>
          <p:nvPr/>
        </p:nvSpPr>
        <p:spPr>
          <a:xfrm>
            <a:off x="5537121" y="6979920"/>
            <a:ext cx="348612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ToolGuard: cancel before effect</a:t>
            </a:r>
            <a:endParaRPr lang="en-US" sz="2100" dirty="0"/>
          </a:p>
        </p:txBody>
      </p:sp>
      <p:sp>
        <p:nvSpPr>
          <p:cNvPr id="51" name="Text 48"/>
          <p:cNvSpPr/>
          <p:nvPr/>
        </p:nvSpPr>
        <p:spPr>
          <a:xfrm>
            <a:off x="5537121" y="7696200"/>
            <a:ext cx="3486127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351"/>
              </a:lnSpc>
              <a:buNone/>
            </a:pP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waits a 0.3 s commit window and runs only if the user is silent and nothing they said is still being transcribed. An identical (tool, arguments) pair runs at most once per conversation.</a:t>
            </a:r>
            <a:endParaRPr lang="en-US" sz="1800" dirty="0"/>
          </a:p>
        </p:txBody>
      </p:sp>
      <p:sp>
        <p:nvSpPr>
          <p:cNvPr id="52" name="Shape 49"/>
          <p:cNvSpPr/>
          <p:nvPr/>
        </p:nvSpPr>
        <p:spPr>
          <a:xfrm>
            <a:off x="9359861" y="6770370"/>
            <a:ext cx="3841671" cy="2849880"/>
          </a:xfrm>
          <a:prstGeom prst="roundRect">
            <a:avLst>
              <a:gd name="adj" fmla="val 4011"/>
            </a:avLst>
          </a:prstGeom>
          <a:solidFill>
            <a:srgbClr val="D9D3F0"/>
          </a:solidFill>
          <a:ln/>
        </p:spPr>
      </p:sp>
      <p:sp>
        <p:nvSpPr>
          <p:cNvPr id="53" name="Text 50"/>
          <p:cNvSpPr/>
          <p:nvPr/>
        </p:nvSpPr>
        <p:spPr>
          <a:xfrm>
            <a:off x="9588461" y="6979920"/>
            <a:ext cx="348600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Fork, don't fork the benchmark</a:t>
            </a:r>
            <a:endParaRPr lang="en-US" sz="2100" dirty="0"/>
          </a:p>
        </p:txBody>
      </p:sp>
      <p:sp>
        <p:nvSpPr>
          <p:cNvPr id="54" name="Text 51"/>
          <p:cNvSpPr/>
          <p:nvPr/>
        </p:nvSpPr>
        <p:spPr>
          <a:xfrm>
            <a:off x="9588461" y="7696200"/>
            <a:ext cx="348600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351"/>
              </a:lnSpc>
              <a:buNone/>
            </a:pP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12 tools, schemas and logs as FDB-v3's stock cascaded agent, so the benchmark scores it exactly like the original.</a:t>
            </a:r>
            <a:endParaRPr lang="en-US" sz="1800" dirty="0"/>
          </a:p>
        </p:txBody>
      </p:sp>
      <p:sp>
        <p:nvSpPr>
          <p:cNvPr id="55" name="Shape 52"/>
          <p:cNvSpPr/>
          <p:nvPr/>
        </p:nvSpPr>
        <p:spPr>
          <a:xfrm>
            <a:off x="13411081" y="6770370"/>
            <a:ext cx="3619500" cy="2849880"/>
          </a:xfrm>
          <a:prstGeom prst="roundRect">
            <a:avLst>
              <a:gd name="adj" fmla="val 4011"/>
            </a:avLst>
          </a:prstGeom>
          <a:ln w="15240">
            <a:solidFill>
              <a:srgbClr val="704EA6"/>
            </a:solidFill>
            <a:prstDash val="dash"/>
          </a:ln>
        </p:spPr>
      </p:sp>
      <p:sp>
        <p:nvSpPr>
          <p:cNvPr id="56" name="Text 53"/>
          <p:cNvSpPr/>
          <p:nvPr/>
        </p:nvSpPr>
        <p:spPr>
          <a:xfrm>
            <a:off x="13635871" y="6976110"/>
            <a:ext cx="348691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5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· SEPARATE AGENT</a:t>
            </a:r>
            <a:endParaRPr lang="en-US" sz="1800" dirty="0"/>
          </a:p>
        </p:txBody>
      </p:sp>
      <p:sp>
        <p:nvSpPr>
          <p:cNvPr id="57" name="Text 54"/>
          <p:cNvSpPr/>
          <p:nvPr/>
        </p:nvSpPr>
        <p:spPr>
          <a:xfrm>
            <a:off x="13635871" y="7334250"/>
            <a:ext cx="3265018" cy="1489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351"/>
              </a:lnSpc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frame → </a:t>
            </a:r>
            <a:r>
              <a:rPr lang="en-US" sz="18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diagnose_device_frame() </a:t>
            </a: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colour classifier + OCR + abstention → diagnosed / ask / retake</a:t>
            </a:r>
            <a:endParaRPr lang="en-US" sz="1800" dirty="0"/>
          </a:p>
        </p:txBody>
      </p:sp>
      <p:sp>
        <p:nvSpPr>
          <p:cNvPr id="58" name="Text 55"/>
          <p:cNvSpPr/>
          <p:nvPr/>
        </p:nvSpPr>
        <p:spPr>
          <a:xfrm>
            <a:off x="13635871" y="8862060"/>
            <a:ext cx="348691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part of the benchmark score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7300" y="762000"/>
            <a:ext cx="1735074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909"/>
              </a:lnSpc>
              <a:buNone/>
            </a:pPr>
            <a:r>
              <a:rPr lang="en-US" sz="54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Product Walkthrough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257300" y="1863090"/>
            <a:ext cx="8572500" cy="4819650"/>
          </a:xfrm>
          <a:prstGeom prst="roundRect">
            <a:avLst>
              <a:gd name="adj" fmla="val 2372"/>
            </a:avLst>
          </a:prstGeom>
          <a:solidFill>
            <a:srgbClr val="14142B"/>
          </a:solidFill>
          <a:ln/>
        </p:spPr>
      </p:sp>
      <p:sp>
        <p:nvSpPr>
          <p:cNvPr id="4" name="Shape 2"/>
          <p:cNvSpPr/>
          <p:nvPr/>
        </p:nvSpPr>
        <p:spPr>
          <a:xfrm>
            <a:off x="4972050" y="3412212"/>
            <a:ext cx="1143000" cy="1143000"/>
          </a:xfrm>
          <a:prstGeom prst="ellipse">
            <a:avLst/>
          </a:prstGeom>
          <a:solidFill>
            <a:srgbClr val="14142B">
              <a:alpha val="78000"/>
            </a:srgbClr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6854190"/>
            <a:ext cx="914400" cy="914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381250" y="6989445"/>
            <a:ext cx="2520887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(max 5 min)</a:t>
            </a:r>
            <a:endParaRPr lang="en-US" sz="1800" dirty="0"/>
          </a:p>
        </p:txBody>
      </p:sp>
      <p:sp>
        <p:nvSpPr>
          <p:cNvPr id="10" name="Text 7">
            <a:hlinkClick r:id="rId6"/>
          </p:cNvPr>
          <p:cNvSpPr/>
          <p:nvPr/>
        </p:nvSpPr>
        <p:spPr>
          <a:xfrm>
            <a:off x="2381250" y="7328535"/>
            <a:ext cx="252088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u="sng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youtu.be/-l4Yk7sETZQ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10363200" y="1863090"/>
            <a:ext cx="419100" cy="4191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2" name="Text 9"/>
          <p:cNvSpPr/>
          <p:nvPr/>
        </p:nvSpPr>
        <p:spPr>
          <a:xfrm>
            <a:off x="10325100" y="186309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953750" y="1863090"/>
            <a:ext cx="6259259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05"/>
              </a:lnSpc>
              <a:buNone/>
            </a:pPr>
            <a:r>
              <a:rPr lang="en-US" sz="18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clip. </a:t>
            </a: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recording with a self-correction ("checking… wait, no… savings"). PARLEY waits, then makes </a:t>
            </a:r>
            <a:r>
              <a:rPr lang="en-US" sz="1800" b="1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</a:t>
            </a: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on "savings".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0363200" y="3339465"/>
            <a:ext cx="419100" cy="4191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5" name="Text 12"/>
          <p:cNvSpPr/>
          <p:nvPr/>
        </p:nvSpPr>
        <p:spPr>
          <a:xfrm>
            <a:off x="10325100" y="333946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953750" y="3339465"/>
            <a:ext cx="6259259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05"/>
              </a:lnSpc>
              <a:buNone/>
            </a:pPr>
            <a:r>
              <a:rPr lang="en-US" sz="18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log. </a:t>
            </a: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premature call is visibly deferred ("not executed: user still speaking").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0363200" y="4518660"/>
            <a:ext cx="419100" cy="419100"/>
          </a:xfrm>
          <a:prstGeom prst="ellipse">
            <a:avLst/>
          </a:prstGeom>
          <a:solidFill>
            <a:srgbClr val="704EA6"/>
          </a:solidFill>
          <a:ln/>
        </p:spPr>
      </p:sp>
      <p:sp>
        <p:nvSpPr>
          <p:cNvPr id="18" name="Text 15"/>
          <p:cNvSpPr/>
          <p:nvPr/>
        </p:nvSpPr>
        <p:spPr>
          <a:xfrm>
            <a:off x="10325100" y="451866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0953750" y="4518660"/>
            <a:ext cx="6259259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05"/>
              </a:lnSpc>
              <a:buNone/>
            </a:pPr>
            <a:r>
              <a:rPr lang="en-US" sz="18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Extension, camera away. </a:t>
            </a: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asks "what's wrong?" and the agent asks to see the device. It doesn't guess.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0363200" y="5697855"/>
            <a:ext cx="419100" cy="419100"/>
          </a:xfrm>
          <a:prstGeom prst="ellipse">
            <a:avLst/>
          </a:prstGeom>
          <a:solidFill>
            <a:srgbClr val="704EA6"/>
          </a:solidFill>
          <a:ln/>
        </p:spPr>
      </p:sp>
      <p:sp>
        <p:nvSpPr>
          <p:cNvPr id="21" name="Text 18"/>
          <p:cNvSpPr/>
          <p:nvPr/>
        </p:nvSpPr>
        <p:spPr>
          <a:xfrm>
            <a:off x="10325100" y="569785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0953750" y="5697855"/>
            <a:ext cx="6259259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05"/>
              </a:lnSpc>
              <a:buNone/>
            </a:pPr>
            <a:r>
              <a:rPr lang="en-US" sz="18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Extension, real TV. </a:t>
            </a: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camera shows a TV reading "No Signal"; the agent diagnoses it from the screen text and reads the fix steps.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0363200" y="7174230"/>
            <a:ext cx="419100" cy="419100"/>
          </a:xfrm>
          <a:prstGeom prst="ellipse">
            <a:avLst/>
          </a:prstGeom>
          <a:solidFill>
            <a:srgbClr val="704EA6"/>
          </a:solidFill>
          <a:ln/>
        </p:spPr>
      </p:sp>
      <p:sp>
        <p:nvSpPr>
          <p:cNvPr id="24" name="Text 21"/>
          <p:cNvSpPr/>
          <p:nvPr/>
        </p:nvSpPr>
        <p:spPr>
          <a:xfrm>
            <a:off x="10325100" y="717423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0953750" y="7174230"/>
            <a:ext cx="6259259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405"/>
              </a:lnSpc>
              <a:buNone/>
            </a:pPr>
            <a:r>
              <a:rPr lang="en-US" sz="18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degradation. </a:t>
            </a: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Groq's free voice quota runs out mid-call; the offline Piper voice takes over, with no dropped session.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1257300" y="8347710"/>
            <a:ext cx="15773400" cy="15240"/>
          </a:xfrm>
          <a:prstGeom prst="rect">
            <a:avLst/>
          </a:prstGeom>
          <a:solidFill>
            <a:srgbClr val="D9D3F0"/>
          </a:solidFill>
          <a:ln/>
        </p:spPr>
      </p:sp>
      <p:sp>
        <p:nvSpPr>
          <p:cNvPr id="27" name="Text 24"/>
          <p:cNvSpPr/>
          <p:nvPr/>
        </p:nvSpPr>
        <p:spPr>
          <a:xfrm>
            <a:off x="1257300" y="8631555"/>
            <a:ext cx="27241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5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ANSWERS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257300" y="8970645"/>
            <a:ext cx="25527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asks rather than guesses.</a:t>
            </a:r>
            <a:endParaRPr lang="en-US" sz="1950" dirty="0"/>
          </a:p>
        </p:txBody>
      </p:sp>
      <p:sp>
        <p:nvSpPr>
          <p:cNvPr id="29" name="Shape 26"/>
          <p:cNvSpPr/>
          <p:nvPr/>
        </p:nvSpPr>
        <p:spPr>
          <a:xfrm>
            <a:off x="4000500" y="8591550"/>
            <a:ext cx="1828800" cy="10287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7"/>
          <a:srcRect t="21875" b="21875"/>
          <a:stretch/>
        </p:blipFill>
        <p:spPr>
          <a:xfrm>
            <a:off x="4000500" y="8591550"/>
            <a:ext cx="1828800" cy="102870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981700" y="8968740"/>
            <a:ext cx="184194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97"/>
              </a:lnSpc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+ steps</a:t>
            </a:r>
            <a:endParaRPr lang="en-US" sz="1800" dirty="0"/>
          </a:p>
        </p:txBody>
      </p:sp>
      <p:sp>
        <p:nvSpPr>
          <p:cNvPr id="32" name="Shape 28"/>
          <p:cNvSpPr/>
          <p:nvPr/>
        </p:nvSpPr>
        <p:spPr>
          <a:xfrm>
            <a:off x="8432721" y="8591550"/>
            <a:ext cx="1828800" cy="10287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8"/>
          <a:srcRect t="21875" b="21875"/>
          <a:stretch/>
        </p:blipFill>
        <p:spPr>
          <a:xfrm>
            <a:off x="8432721" y="8591550"/>
            <a:ext cx="1828800" cy="10287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10413921" y="8831580"/>
            <a:ext cx="226064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97"/>
              </a:lnSpc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Asks: WAN light or power light?</a:t>
            </a:r>
            <a:endParaRPr lang="en-US" sz="1800" dirty="0"/>
          </a:p>
        </p:txBody>
      </p:sp>
      <p:sp>
        <p:nvSpPr>
          <p:cNvPr id="35" name="Shape 30"/>
          <p:cNvSpPr/>
          <p:nvPr/>
        </p:nvSpPr>
        <p:spPr>
          <a:xfrm>
            <a:off x="12865060" y="8591550"/>
            <a:ext cx="1828800" cy="10287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2865060" y="8591550"/>
            <a:ext cx="1828800" cy="102870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4846260" y="8968740"/>
            <a:ext cx="216661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97"/>
              </a:lnSpc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a better shot</a:t>
            </a:r>
            <a:endParaRPr lang="en-US" sz="1800" dirty="0"/>
          </a:p>
        </p:txBody>
      </p:sp>
      <p:pic>
        <p:nvPicPr>
          <p:cNvPr id="38" name="PARLEY_demo_Thapar_The_T_Guys_Theme5">
            <a:hlinkClick r:id="" action="ppaction://media"/>
            <a:extLst>
              <a:ext uri="{FF2B5EF4-FFF2-40B4-BE49-F238E27FC236}">
                <a16:creationId xmlns:a16="http://schemas.microsoft.com/office/drawing/2014/main" id="{E113F487-6574-6C00-8BA0-4017EE5362E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360170" y="1788795"/>
            <a:ext cx="8572500" cy="4822031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8148"/>
    </mc:Choice>
    <mc:Fallback>
      <p:transition spd="slow" advTm="2981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8148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7300" y="762000"/>
            <a:ext cx="1735074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909"/>
              </a:lnSpc>
              <a:buNone/>
            </a:pPr>
            <a:r>
              <a:rPr lang="en-US" sz="54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 stack used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485900" y="1824990"/>
            <a:ext cx="3352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62500" y="1824990"/>
            <a:ext cx="739711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715750" y="1824990"/>
            <a:ext cx="220027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944600" y="1824990"/>
            <a:ext cx="31432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57300" y="2183130"/>
            <a:ext cx="15773400" cy="590550"/>
          </a:xfrm>
          <a:prstGeom prst="roundRect">
            <a:avLst>
              <a:gd name="adj" fmla="val 19355"/>
            </a:avLst>
          </a:prstGeom>
          <a:solidFill>
            <a:srgbClr val="D9D3F0"/>
          </a:solidFill>
          <a:ln/>
        </p:spPr>
      </p:sp>
      <p:sp>
        <p:nvSpPr>
          <p:cNvPr id="8" name="Text 6"/>
          <p:cNvSpPr/>
          <p:nvPr/>
        </p:nvSpPr>
        <p:spPr>
          <a:xfrm>
            <a:off x="1485900" y="2337435"/>
            <a:ext cx="3352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62500" y="2333625"/>
            <a:ext cx="7397115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Full-Duplex-Bench v3 @ </a:t>
            </a:r>
            <a:r>
              <a:rPr lang="en-US" sz="18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3e799c45</a:t>
            </a: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NeMo parakeet ASR scorer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715750" y="2337435"/>
            <a:ext cx="220027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FDB-v3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944600" y="2337435"/>
            <a:ext cx="31432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57300" y="2849880"/>
            <a:ext cx="15773400" cy="590550"/>
          </a:xfrm>
          <a:prstGeom prst="roundRect">
            <a:avLst>
              <a:gd name="adj" fmla="val 19355"/>
            </a:avLst>
          </a:prstGeom>
          <a:solidFill>
            <a:srgbClr val="704EA6"/>
          </a:solidFill>
          <a:ln/>
        </p:spPr>
      </p:sp>
      <p:sp>
        <p:nvSpPr>
          <p:cNvPr id="13" name="Text 11"/>
          <p:cNvSpPr/>
          <p:nvPr/>
        </p:nvSpPr>
        <p:spPr>
          <a:xfrm>
            <a:off x="1485900" y="3004185"/>
            <a:ext cx="3352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(extension)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62500" y="3004185"/>
            <a:ext cx="739711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PARLEY colour classifier + RapidOCR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715750" y="3004185"/>
            <a:ext cx="220027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/ Apache-2.0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944600" y="3004185"/>
            <a:ext cx="31432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CPU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57300" y="3516630"/>
            <a:ext cx="15773400" cy="678180"/>
          </a:xfrm>
          <a:prstGeom prst="roundRect">
            <a:avLst>
              <a:gd name="adj" fmla="val 16854"/>
            </a:avLst>
          </a:prstGeom>
          <a:solidFill>
            <a:srgbClr val="D9D3F0"/>
          </a:solidFill>
          <a:ln/>
        </p:spPr>
      </p:sp>
      <p:sp>
        <p:nvSpPr>
          <p:cNvPr id="18" name="Text 16"/>
          <p:cNvSpPr/>
          <p:nvPr/>
        </p:nvSpPr>
        <p:spPr>
          <a:xfrm>
            <a:off x="1485900" y="3714750"/>
            <a:ext cx="3352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62500" y="3573780"/>
            <a:ext cx="6926390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97"/>
              </a:lnSpc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Piper 1.2.0 (</a:t>
            </a:r>
            <a:r>
              <a:rPr lang="en-US" sz="18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en_US-ljspeech-medium </a:t>
            </a: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public-domain voice); Groq Orpheus in the extension, with Piper fallback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715750" y="3714750"/>
            <a:ext cx="220027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944600" y="3714750"/>
            <a:ext cx="31432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CPU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57300" y="4271010"/>
            <a:ext cx="15773400" cy="590550"/>
          </a:xfrm>
          <a:prstGeom prst="roundRect">
            <a:avLst>
              <a:gd name="adj" fmla="val 19355"/>
            </a:avLst>
          </a:prstGeom>
          <a:solidFill>
            <a:srgbClr val="6D28D9"/>
          </a:solidFill>
          <a:ln/>
        </p:spPr>
      </p:sp>
      <p:sp>
        <p:nvSpPr>
          <p:cNvPr id="23" name="Text 21"/>
          <p:cNvSpPr/>
          <p:nvPr/>
        </p:nvSpPr>
        <p:spPr>
          <a:xfrm>
            <a:off x="1485900" y="4425315"/>
            <a:ext cx="3352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safety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62500" y="4425315"/>
            <a:ext cx="739711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PARLEY ToolGuard + ID canonicaliser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715750" y="4425315"/>
            <a:ext cx="220027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944600" y="4425315"/>
            <a:ext cx="31432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57300" y="4937760"/>
            <a:ext cx="15773400" cy="590550"/>
          </a:xfrm>
          <a:prstGeom prst="roundRect">
            <a:avLst>
              <a:gd name="adj" fmla="val 19355"/>
            </a:avLst>
          </a:prstGeom>
          <a:solidFill>
            <a:srgbClr val="D9D3F0"/>
          </a:solidFill>
          <a:ln/>
        </p:spPr>
      </p:sp>
      <p:sp>
        <p:nvSpPr>
          <p:cNvPr id="28" name="Text 26"/>
          <p:cNvSpPr/>
          <p:nvPr/>
        </p:nvSpPr>
        <p:spPr>
          <a:xfrm>
            <a:off x="1485900" y="5092065"/>
            <a:ext cx="3352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 tool calls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762500" y="5088255"/>
            <a:ext cx="7397115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gpt-oss-120b (</a:t>
            </a:r>
            <a:r>
              <a:rPr lang="en-US" sz="18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reasoning_effort=low</a:t>
            </a: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715750" y="5092065"/>
            <a:ext cx="220027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944600" y="5092065"/>
            <a:ext cx="31432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(free tier)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57300" y="5604510"/>
            <a:ext cx="15773400" cy="590550"/>
          </a:xfrm>
          <a:prstGeom prst="roundRect">
            <a:avLst>
              <a:gd name="adj" fmla="val 19355"/>
            </a:avLst>
          </a:prstGeom>
          <a:solidFill>
            <a:srgbClr val="6D28D9"/>
          </a:solidFill>
          <a:ln/>
        </p:spPr>
      </p:sp>
      <p:sp>
        <p:nvSpPr>
          <p:cNvPr id="33" name="Text 31"/>
          <p:cNvSpPr/>
          <p:nvPr/>
        </p:nvSpPr>
        <p:spPr>
          <a:xfrm>
            <a:off x="1485900" y="5758815"/>
            <a:ext cx="3352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detection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762500" y="5758815"/>
            <a:ext cx="739711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PARLEY endpointer 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(logistic regression, our own synthetic corpus)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1715750" y="5758815"/>
            <a:ext cx="220027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3944600" y="5758815"/>
            <a:ext cx="31432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CPU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257300" y="6271260"/>
            <a:ext cx="15773400" cy="590550"/>
          </a:xfrm>
          <a:prstGeom prst="roundRect">
            <a:avLst>
              <a:gd name="adj" fmla="val 19355"/>
            </a:avLst>
          </a:prstGeom>
          <a:solidFill>
            <a:srgbClr val="D9D3F0"/>
          </a:solidFill>
          <a:ln/>
        </p:spPr>
      </p:sp>
      <p:sp>
        <p:nvSpPr>
          <p:cNvPr id="38" name="Text 36"/>
          <p:cNvSpPr/>
          <p:nvPr/>
        </p:nvSpPr>
        <p:spPr>
          <a:xfrm>
            <a:off x="1485900" y="6425565"/>
            <a:ext cx="3352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762500" y="6425565"/>
            <a:ext cx="739711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large-v3-turbo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1715750" y="6425565"/>
            <a:ext cx="220027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3944600" y="6425565"/>
            <a:ext cx="31432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(free tier)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257300" y="6938010"/>
            <a:ext cx="15773400" cy="590550"/>
          </a:xfrm>
          <a:prstGeom prst="roundRect">
            <a:avLst>
              <a:gd name="adj" fmla="val 19355"/>
            </a:avLst>
          </a:prstGeom>
          <a:solidFill>
            <a:srgbClr val="D9D3F0"/>
          </a:solidFill>
          <a:ln/>
        </p:spPr>
      </p:sp>
      <p:sp>
        <p:nvSpPr>
          <p:cNvPr id="43" name="Text 41"/>
          <p:cNvSpPr/>
          <p:nvPr/>
        </p:nvSpPr>
        <p:spPr>
          <a:xfrm>
            <a:off x="1485900" y="7092315"/>
            <a:ext cx="3352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activity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762500" y="7092315"/>
            <a:ext cx="739711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Silero VAD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1715750" y="7092315"/>
            <a:ext cx="220027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3944600" y="7092315"/>
            <a:ext cx="31432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CPU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257300" y="7604760"/>
            <a:ext cx="15773400" cy="590550"/>
          </a:xfrm>
          <a:prstGeom prst="roundRect">
            <a:avLst>
              <a:gd name="adj" fmla="val 19355"/>
            </a:avLst>
          </a:prstGeom>
          <a:solidFill>
            <a:srgbClr val="D9D3F0"/>
          </a:solidFill>
          <a:ln/>
        </p:spPr>
      </p:sp>
      <p:sp>
        <p:nvSpPr>
          <p:cNvPr id="48" name="Text 46"/>
          <p:cNvSpPr/>
          <p:nvPr/>
        </p:nvSpPr>
        <p:spPr>
          <a:xfrm>
            <a:off x="1485900" y="7759065"/>
            <a:ext cx="3352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transport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4762500" y="7759065"/>
            <a:ext cx="739711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LiveKit Agents 1.3.12 + LiveKit Cloud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1715750" y="7759065"/>
            <a:ext cx="220027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3944600" y="7759065"/>
            <a:ext cx="31432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agent / cloud rooms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257300" y="9031605"/>
            <a:ext cx="221153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395"/>
              </a:lnSpc>
              <a:buNone/>
            </a:pPr>
            <a:r>
              <a:rPr lang="en-US" sz="4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to run</a:t>
            </a:r>
            <a:endParaRPr lang="en-US" sz="4200" dirty="0"/>
          </a:p>
        </p:txBody>
      </p:sp>
      <p:sp>
        <p:nvSpPr>
          <p:cNvPr id="53" name="Text 51"/>
          <p:cNvSpPr/>
          <p:nvPr/>
        </p:nvSpPr>
        <p:spPr>
          <a:xfrm>
            <a:off x="3534489" y="8976360"/>
            <a:ext cx="7456170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625"/>
              </a:lnSpc>
              <a:buNone/>
            </a:pPr>
            <a:r>
              <a:rPr lang="en-US" sz="195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tiers plus local models; no paid APIs, no servers of our own at evaluation time. One command reproduces everything:</a:t>
            </a:r>
            <a:endParaRPr lang="en-US" sz="1950" dirty="0"/>
          </a:p>
        </p:txBody>
      </p:sp>
      <p:sp>
        <p:nvSpPr>
          <p:cNvPr id="54" name="Shape 52"/>
          <p:cNvSpPr/>
          <p:nvPr/>
        </p:nvSpPr>
        <p:spPr>
          <a:xfrm>
            <a:off x="11040190" y="9062085"/>
            <a:ext cx="2869406" cy="472440"/>
          </a:xfrm>
          <a:prstGeom prst="roundRect">
            <a:avLst>
              <a:gd name="adj" fmla="val 16129"/>
            </a:avLst>
          </a:prstGeom>
          <a:solidFill>
            <a:srgbClr val="14142B"/>
          </a:solidFill>
          <a:ln/>
        </p:spPr>
      </p:sp>
      <p:sp>
        <p:nvSpPr>
          <p:cNvPr id="55" name="Text 53"/>
          <p:cNvSpPr/>
          <p:nvPr/>
        </p:nvSpPr>
        <p:spPr>
          <a:xfrm>
            <a:off x="11211640" y="9157335"/>
            <a:ext cx="2612588" cy="3200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reproduce.sh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7300" y="762000"/>
            <a:ext cx="1735074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909"/>
              </a:lnSpc>
              <a:buNone/>
            </a:pPr>
            <a:r>
              <a:rPr lang="en-US" sz="54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257300" y="1634490"/>
            <a:ext cx="1735074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262"/>
              </a:lnSpc>
              <a:buNone/>
            </a:pPr>
            <a:r>
              <a:rPr lang="en-US" sz="30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voice commerce, an extra tool call isn't a typo. It's a double charge.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57300" y="2453640"/>
            <a:ext cx="5105400" cy="2316480"/>
          </a:xfrm>
          <a:prstGeom prst="roundRect">
            <a:avLst>
              <a:gd name="adj" fmla="val 4934"/>
            </a:avLst>
          </a:prstGeom>
          <a:solidFill>
            <a:srgbClr val="D9D3F0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701290"/>
            <a:ext cx="50292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5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24000" y="3116580"/>
            <a:ext cx="5029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"autopay from checking… no, savings"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24000" y="3569970"/>
            <a:ext cx="13144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351"/>
              </a:lnSpc>
              <a:buNone/>
            </a:pPr>
            <a:r>
              <a:rPr lang="en-US" sz="1800" b="1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95600" y="3569970"/>
            <a:ext cx="329641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351"/>
              </a:lnSpc>
              <a:buNone/>
            </a:pP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autopay twice; the first change was wrong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24000" y="4236720"/>
            <a:ext cx="13620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351"/>
              </a:lnSpc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95600" y="4236720"/>
            <a:ext cx="35204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351"/>
              </a:lnSpc>
              <a:buNone/>
            </a:pPr>
            <a:r>
              <a:rPr lang="en-US" sz="18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change, on savings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91300" y="2453640"/>
            <a:ext cx="5105400" cy="2316480"/>
          </a:xfrm>
          <a:prstGeom prst="roundRect">
            <a:avLst>
              <a:gd name="adj" fmla="val 4934"/>
            </a:avLst>
          </a:prstGeom>
          <a:solidFill>
            <a:srgbClr val="D9D3F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2701290"/>
            <a:ext cx="50292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5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0" y="3116580"/>
            <a:ext cx="5029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the… um… the blue one"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858000" y="3569970"/>
            <a:ext cx="13144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351"/>
              </a:lnSpc>
              <a:buNone/>
            </a:pPr>
            <a:r>
              <a:rPr lang="en-US" sz="1800" b="1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0" y="3569970"/>
            <a:ext cx="329641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351"/>
              </a:lnSpc>
              <a:buNone/>
            </a:pP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the wrong item, then the right one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8000" y="4236720"/>
            <a:ext cx="13620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351"/>
              </a:lnSpc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0" y="4236720"/>
            <a:ext cx="35204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351"/>
              </a:lnSpc>
              <a:buNone/>
            </a:pPr>
            <a:r>
              <a:rPr lang="en-US" sz="18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the finished request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925300" y="2453640"/>
            <a:ext cx="5105400" cy="2316480"/>
          </a:xfrm>
          <a:prstGeom prst="roundRect">
            <a:avLst>
              <a:gd name="adj" fmla="val 4934"/>
            </a:avLst>
          </a:prstGeom>
          <a:solidFill>
            <a:srgbClr val="D9D3F0"/>
          </a:solidFill>
          <a:ln/>
        </p:spPr>
      </p:sp>
      <p:sp>
        <p:nvSpPr>
          <p:cNvPr id="19" name="Text 17"/>
          <p:cNvSpPr/>
          <p:nvPr/>
        </p:nvSpPr>
        <p:spPr>
          <a:xfrm>
            <a:off x="12192000" y="2701290"/>
            <a:ext cx="50292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5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192000" y="3116580"/>
            <a:ext cx="5029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"flights to Paris… actually Berlin"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2192000" y="3569970"/>
            <a:ext cx="13620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351"/>
              </a:lnSpc>
              <a:buNone/>
            </a:pPr>
            <a:r>
              <a:rPr lang="en-US" sz="1800" b="1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563600" y="3569970"/>
            <a:ext cx="35204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351"/>
              </a:lnSpc>
              <a:buNone/>
            </a:pP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Paris </a:t>
            </a:r>
            <a:r>
              <a:rPr lang="en-US" sz="1800" i="1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192000" y="3950970"/>
            <a:ext cx="13620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351"/>
              </a:lnSpc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563600" y="3950970"/>
            <a:ext cx="35204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351"/>
              </a:lnSpc>
              <a:buNone/>
            </a:pPr>
            <a:r>
              <a:rPr lang="en-US" sz="18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Berlin once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57300" y="5943600"/>
            <a:ext cx="15773400" cy="3676650"/>
          </a:xfrm>
          <a:prstGeom prst="roundRect">
            <a:avLst>
              <a:gd name="adj" fmla="val 3109"/>
            </a:avLst>
          </a:prstGeom>
          <a:solidFill>
            <a:srgbClr val="14142B"/>
          </a:solidFill>
          <a:ln/>
        </p:spPr>
      </p:sp>
      <p:sp>
        <p:nvSpPr>
          <p:cNvPr id="26" name="Text 24"/>
          <p:cNvSpPr/>
          <p:nvPr/>
        </p:nvSpPr>
        <p:spPr>
          <a:xfrm>
            <a:off x="7658100" y="6748939"/>
            <a:ext cx="98069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5" dirty="0">
                <a:solidFill>
                  <a:srgbClr val="B3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· SAMSUNG DEVICES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658100" y="7202329"/>
            <a:ext cx="980694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262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"Point your phone at the TV and ask what's wrong."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7658100" y="7811929"/>
            <a:ext cx="9182862" cy="1041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1950" dirty="0">
                <a:solidFill>
                  <a:srgbClr val="D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reads the screen ("No Signal"), names the fault and reads the fix. When unsure, for example two router LEDs lit, it </a:t>
            </a: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instead of guessing </a:t>
            </a:r>
            <a:r>
              <a:rPr lang="en-US" sz="1950" dirty="0">
                <a:solidFill>
                  <a:srgbClr val="D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difference between a support call avoided and a wrong fix.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7300" y="609600"/>
            <a:ext cx="1735074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909"/>
              </a:lnSpc>
              <a:buNone/>
            </a:pPr>
            <a:r>
              <a:rPr lang="en-US" sz="54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highlights, results and limitations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257300" y="1954530"/>
            <a:ext cx="3619500" cy="2286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4" name="Text 2"/>
          <p:cNvSpPr/>
          <p:nvPr/>
        </p:nvSpPr>
        <p:spPr>
          <a:xfrm>
            <a:off x="1257300" y="1558290"/>
            <a:ext cx="39814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75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57300" y="2148840"/>
            <a:ext cx="3728085" cy="91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784"/>
              </a:lnSpc>
              <a:buNone/>
            </a:pP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800" i="1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</a:t>
            </a: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detector running as LiveKit's turn-detection plug-in: </a:t>
            </a: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false-early </a:t>
            </a: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7300" y="3197900"/>
            <a:ext cx="3728085" cy="91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784"/>
              </a:lnSpc>
              <a:buNone/>
            </a:pP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"Cancel before effect" ToolGuard: defers while the user speaks </a:t>
            </a:r>
            <a:r>
              <a:rPr lang="en-US" sz="1800" i="1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</a:t>
            </a: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their words are still in transcription.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57300" y="4246959"/>
            <a:ext cx="3728085" cy="91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784"/>
              </a:lnSpc>
              <a:buNone/>
            </a:pP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by tool </a:t>
            </a:r>
            <a:r>
              <a:rPr lang="en-US" sz="1800" b="1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normalised arguments </a:t>
            </a: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returning the first result instead of refusing.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57300" y="5296019"/>
            <a:ext cx="3728085" cy="91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784"/>
              </a:lnSpc>
              <a:buNone/>
            </a:pP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that reads the screen and abstains: </a:t>
            </a: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wrong diagnoses </a:t>
            </a: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real camera frames.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81600" y="1954530"/>
            <a:ext cx="7924800" cy="22860"/>
          </a:xfrm>
          <a:prstGeom prst="rect">
            <a:avLst/>
          </a:prstGeom>
          <a:solidFill>
            <a:srgbClr val="14142B"/>
          </a:solidFill>
          <a:ln/>
        </p:spPr>
      </p:sp>
      <p:sp>
        <p:nvSpPr>
          <p:cNvPr id="10" name="Text 8"/>
          <p:cNvSpPr/>
          <p:nvPr/>
        </p:nvSpPr>
        <p:spPr>
          <a:xfrm>
            <a:off x="5181600" y="1558290"/>
            <a:ext cx="871728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75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181600" y="2091690"/>
            <a:ext cx="4211955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243"/>
              </a:lnSpc>
              <a:buNone/>
            </a:pPr>
            <a:r>
              <a:rPr lang="en-US" sz="18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detector vs baselines (held-out)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181600" y="2447925"/>
            <a:ext cx="152400" cy="152400"/>
          </a:xfrm>
          <a:prstGeom prst="rect">
            <a:avLst/>
          </a:prstGeom>
          <a:solidFill>
            <a:srgbClr val="5FB8B0"/>
          </a:solidFill>
          <a:ln/>
        </p:spPr>
      </p:sp>
      <p:sp>
        <p:nvSpPr>
          <p:cNvPr id="13" name="Text 11"/>
          <p:cNvSpPr/>
          <p:nvPr/>
        </p:nvSpPr>
        <p:spPr>
          <a:xfrm>
            <a:off x="5391150" y="2383155"/>
            <a:ext cx="90666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74011" y="2447925"/>
            <a:ext cx="152400" cy="152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561" y="2383155"/>
            <a:ext cx="132778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False-early 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81600" y="2731770"/>
            <a:ext cx="421195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timeout (700 ms)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81600" y="3080385"/>
            <a:ext cx="2057400" cy="152400"/>
          </a:xfrm>
          <a:prstGeom prst="rect">
            <a:avLst/>
          </a:prstGeom>
          <a:solidFill>
            <a:srgbClr val="5FB8B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3042285"/>
            <a:ext cx="47136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081"/>
              </a:lnSpc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181600" y="3337560"/>
            <a:ext cx="714375" cy="152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5972175" y="3299460"/>
            <a:ext cx="47136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081"/>
              </a:lnSpc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81600" y="3575685"/>
            <a:ext cx="421195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completeness rule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181600" y="3924300"/>
            <a:ext cx="1800225" cy="152400"/>
          </a:xfrm>
          <a:prstGeom prst="rect">
            <a:avLst/>
          </a:prstGeom>
          <a:solidFill>
            <a:srgbClr val="5FB8B0"/>
          </a:solidFill>
          <a:ln/>
        </p:spPr>
      </p:sp>
      <p:sp>
        <p:nvSpPr>
          <p:cNvPr id="23" name="Text 21"/>
          <p:cNvSpPr/>
          <p:nvPr/>
        </p:nvSpPr>
        <p:spPr>
          <a:xfrm>
            <a:off x="7058025" y="3886200"/>
            <a:ext cx="47136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081"/>
              </a:lnSpc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181600" y="4181475"/>
            <a:ext cx="1257300" cy="152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6515100" y="4143375"/>
            <a:ext cx="47136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081"/>
              </a:lnSpc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81600" y="4419600"/>
            <a:ext cx="421195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PARLEY endpointer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181600" y="4768215"/>
            <a:ext cx="2552700" cy="1524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8" name="Text 26"/>
          <p:cNvSpPr/>
          <p:nvPr/>
        </p:nvSpPr>
        <p:spPr>
          <a:xfrm>
            <a:off x="7810500" y="4730115"/>
            <a:ext cx="6515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081"/>
              </a:lnSpc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89.4%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181600" y="5025390"/>
            <a:ext cx="85725" cy="152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5343525" y="4987290"/>
            <a:ext cx="21634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081"/>
              </a:lnSpc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← lower is better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277350" y="2091690"/>
            <a:ext cx="4211955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243"/>
              </a:lnSpc>
              <a:buNone/>
            </a:pPr>
            <a:r>
              <a:rPr lang="en-US" sz="18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response latency (s)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277350" y="2383155"/>
            <a:ext cx="421195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 benchmark clips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277350" y="2731770"/>
            <a:ext cx="421195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cascaded (paper, 100 clips)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277350" y="3068955"/>
            <a:ext cx="2857500" cy="228600"/>
          </a:xfrm>
          <a:prstGeom prst="rect">
            <a:avLst/>
          </a:prstGeom>
          <a:solidFill>
            <a:srgbClr val="5FB8B0"/>
          </a:solidFill>
          <a:ln/>
        </p:spPr>
      </p:sp>
      <p:sp>
        <p:nvSpPr>
          <p:cNvPr id="35" name="Text 33"/>
          <p:cNvSpPr/>
          <p:nvPr/>
        </p:nvSpPr>
        <p:spPr>
          <a:xfrm>
            <a:off x="12211050" y="3042285"/>
            <a:ext cx="597456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10.12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277350" y="3371850"/>
            <a:ext cx="421195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PARLEY, hosted TTS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277350" y="3709035"/>
            <a:ext cx="2847975" cy="228600"/>
          </a:xfrm>
          <a:prstGeom prst="rect">
            <a:avLst/>
          </a:prstGeom>
          <a:solidFill>
            <a:srgbClr val="B3A6E0"/>
          </a:solidFill>
          <a:ln/>
        </p:spPr>
      </p:sp>
      <p:sp>
        <p:nvSpPr>
          <p:cNvPr id="38" name="Text 36"/>
          <p:cNvSpPr/>
          <p:nvPr/>
        </p:nvSpPr>
        <p:spPr>
          <a:xfrm>
            <a:off x="12201525" y="3682365"/>
            <a:ext cx="481608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277350" y="4011930"/>
            <a:ext cx="421195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PARLEY, local Piper TTS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9277350" y="4349115"/>
            <a:ext cx="1609725" cy="2286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41" name="Text 39"/>
          <p:cNvSpPr/>
          <p:nvPr/>
        </p:nvSpPr>
        <p:spPr>
          <a:xfrm>
            <a:off x="10963275" y="4322445"/>
            <a:ext cx="36909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181600" y="5330190"/>
            <a:ext cx="871728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FDB-v3 strict pass, our runs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181600" y="5981700"/>
            <a:ext cx="2304217" cy="15240"/>
          </a:xfrm>
          <a:prstGeom prst="rect">
            <a:avLst/>
          </a:prstGeom>
          <a:solidFill>
            <a:srgbClr val="D9D3F0"/>
          </a:solidFill>
          <a:ln/>
        </p:spPr>
      </p:sp>
      <p:sp>
        <p:nvSpPr>
          <p:cNvPr id="44" name="Text 42"/>
          <p:cNvSpPr/>
          <p:nvPr/>
        </p:nvSpPr>
        <p:spPr>
          <a:xfrm>
            <a:off x="5181600" y="5678805"/>
            <a:ext cx="253463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97"/>
              </a:lnSpc>
              <a:buNone/>
            </a:pPr>
            <a:r>
              <a:rPr lang="en-US" sz="18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Clips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7638217" y="5981700"/>
            <a:ext cx="2496383" cy="15240"/>
          </a:xfrm>
          <a:prstGeom prst="rect">
            <a:avLst/>
          </a:prstGeom>
          <a:solidFill>
            <a:srgbClr val="D9D3F0"/>
          </a:solidFill>
          <a:ln/>
        </p:spPr>
      </p:sp>
      <p:sp>
        <p:nvSpPr>
          <p:cNvPr id="46" name="Text 44"/>
          <p:cNvSpPr/>
          <p:nvPr/>
        </p:nvSpPr>
        <p:spPr>
          <a:xfrm>
            <a:off x="7638217" y="5678805"/>
            <a:ext cx="274602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97"/>
              </a:lnSpc>
              <a:buNone/>
            </a:pPr>
            <a:r>
              <a:rPr lang="en-US" sz="18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0287000" y="5981700"/>
            <a:ext cx="1238250" cy="15240"/>
          </a:xfrm>
          <a:prstGeom prst="rect">
            <a:avLst/>
          </a:prstGeom>
          <a:solidFill>
            <a:srgbClr val="D9D3F0"/>
          </a:solidFill>
          <a:ln/>
        </p:spPr>
      </p:sp>
      <p:sp>
        <p:nvSpPr>
          <p:cNvPr id="48" name="Text 46"/>
          <p:cNvSpPr/>
          <p:nvPr/>
        </p:nvSpPr>
        <p:spPr>
          <a:xfrm>
            <a:off x="10287000" y="5678805"/>
            <a:ext cx="136207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97"/>
              </a:lnSpc>
              <a:buNone/>
            </a:pPr>
            <a:r>
              <a:rPr lang="en-US" sz="18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1677650" y="5981700"/>
            <a:ext cx="1428750" cy="15240"/>
          </a:xfrm>
          <a:prstGeom prst="rect">
            <a:avLst/>
          </a:prstGeom>
          <a:solidFill>
            <a:srgbClr val="D9D3F0"/>
          </a:solidFill>
          <a:ln/>
        </p:spPr>
      </p:sp>
      <p:sp>
        <p:nvSpPr>
          <p:cNvPr id="50" name="Text 48"/>
          <p:cNvSpPr/>
          <p:nvPr/>
        </p:nvSpPr>
        <p:spPr>
          <a:xfrm>
            <a:off x="11677650" y="5678805"/>
            <a:ext cx="15716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97"/>
              </a:lnSpc>
              <a:buNone/>
            </a:pPr>
            <a:r>
              <a:rPr lang="en-US" sz="18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sel.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5181600" y="6328410"/>
            <a:ext cx="2304217" cy="9525"/>
          </a:xfrm>
          <a:prstGeom prst="rect">
            <a:avLst/>
          </a:prstGeom>
          <a:solidFill>
            <a:srgbClr val="D9D3F0"/>
          </a:solidFill>
          <a:ln/>
        </p:spPr>
      </p:sp>
      <p:sp>
        <p:nvSpPr>
          <p:cNvPr id="52" name="Text 50"/>
          <p:cNvSpPr/>
          <p:nvPr/>
        </p:nvSpPr>
        <p:spPr>
          <a:xfrm>
            <a:off x="5181600" y="6025515"/>
            <a:ext cx="253463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97"/>
              </a:lnSpc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7638217" y="6328410"/>
            <a:ext cx="2496383" cy="9525"/>
          </a:xfrm>
          <a:prstGeom prst="rect">
            <a:avLst/>
          </a:prstGeom>
          <a:solidFill>
            <a:srgbClr val="D9D3F0"/>
          </a:solidFill>
          <a:ln/>
        </p:spPr>
      </p:sp>
      <p:sp>
        <p:nvSpPr>
          <p:cNvPr id="54" name="Text 52"/>
          <p:cNvSpPr/>
          <p:nvPr/>
        </p:nvSpPr>
        <p:spPr>
          <a:xfrm>
            <a:off x="7638217" y="6025515"/>
            <a:ext cx="274602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97"/>
              </a:lnSpc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agent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0287000" y="6328410"/>
            <a:ext cx="1238250" cy="9525"/>
          </a:xfrm>
          <a:prstGeom prst="rect">
            <a:avLst/>
          </a:prstGeom>
          <a:solidFill>
            <a:srgbClr val="D9D3F0"/>
          </a:solidFill>
          <a:ln/>
        </p:spPr>
      </p:sp>
      <p:sp>
        <p:nvSpPr>
          <p:cNvPr id="56" name="Text 54"/>
          <p:cNvSpPr/>
          <p:nvPr/>
        </p:nvSpPr>
        <p:spPr>
          <a:xfrm>
            <a:off x="10287000" y="6025515"/>
            <a:ext cx="136207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97"/>
              </a:lnSpc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1677650" y="6328410"/>
            <a:ext cx="1428750" cy="9525"/>
          </a:xfrm>
          <a:prstGeom prst="rect">
            <a:avLst/>
          </a:prstGeom>
          <a:solidFill>
            <a:srgbClr val="D9D3F0"/>
          </a:solidFill>
          <a:ln/>
        </p:spPr>
      </p:sp>
      <p:sp>
        <p:nvSpPr>
          <p:cNvPr id="58" name="Text 56"/>
          <p:cNvSpPr/>
          <p:nvPr/>
        </p:nvSpPr>
        <p:spPr>
          <a:xfrm>
            <a:off x="11677650" y="6025515"/>
            <a:ext cx="15716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97"/>
              </a:lnSpc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93.3%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5181600" y="6667500"/>
            <a:ext cx="2304217" cy="9525"/>
          </a:xfrm>
          <a:prstGeom prst="rect">
            <a:avLst/>
          </a:prstGeom>
          <a:solidFill>
            <a:srgbClr val="D9D3F0"/>
          </a:solidFill>
          <a:ln/>
        </p:spPr>
      </p:sp>
      <p:sp>
        <p:nvSpPr>
          <p:cNvPr id="60" name="Text 58"/>
          <p:cNvSpPr/>
          <p:nvPr/>
        </p:nvSpPr>
        <p:spPr>
          <a:xfrm>
            <a:off x="5181600" y="6364605"/>
            <a:ext cx="253463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97"/>
              </a:lnSpc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spread, all 4 domains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7638217" y="6667500"/>
            <a:ext cx="2496383" cy="9525"/>
          </a:xfrm>
          <a:prstGeom prst="rect">
            <a:avLst/>
          </a:prstGeom>
          <a:solidFill>
            <a:srgbClr val="D9D3F0"/>
          </a:solidFill>
          <a:ln/>
        </p:spPr>
      </p:sp>
      <p:sp>
        <p:nvSpPr>
          <p:cNvPr id="62" name="Text 60"/>
          <p:cNvSpPr/>
          <p:nvPr/>
        </p:nvSpPr>
        <p:spPr>
          <a:xfrm>
            <a:off x="7638217" y="6364605"/>
            <a:ext cx="274602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97"/>
              </a:lnSpc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agent + fixes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0287000" y="6667500"/>
            <a:ext cx="1238250" cy="9525"/>
          </a:xfrm>
          <a:prstGeom prst="rect">
            <a:avLst/>
          </a:prstGeom>
          <a:solidFill>
            <a:srgbClr val="D9D3F0"/>
          </a:solidFill>
          <a:ln/>
        </p:spPr>
      </p:sp>
      <p:sp>
        <p:nvSpPr>
          <p:cNvPr id="64" name="Text 62"/>
          <p:cNvSpPr/>
          <p:nvPr/>
        </p:nvSpPr>
        <p:spPr>
          <a:xfrm>
            <a:off x="10287000" y="6364605"/>
            <a:ext cx="136207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97"/>
              </a:lnSpc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4/10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1677650" y="6667500"/>
            <a:ext cx="1428750" cy="9525"/>
          </a:xfrm>
          <a:prstGeom prst="rect">
            <a:avLst/>
          </a:prstGeom>
          <a:solidFill>
            <a:srgbClr val="D9D3F0"/>
          </a:solidFill>
          <a:ln/>
        </p:spPr>
      </p:sp>
      <p:sp>
        <p:nvSpPr>
          <p:cNvPr id="66" name="Text 64"/>
          <p:cNvSpPr/>
          <p:nvPr/>
        </p:nvSpPr>
        <p:spPr>
          <a:xfrm>
            <a:off x="11677650" y="6364605"/>
            <a:ext cx="15716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97"/>
              </a:lnSpc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81.1%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5181600" y="6703695"/>
            <a:ext cx="253463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97"/>
              </a:lnSpc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spread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7638217" y="6703695"/>
            <a:ext cx="274602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97"/>
              </a:lnSpc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gpt-oss-20b A/B baseline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10287000" y="6703695"/>
            <a:ext cx="136207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97"/>
              </a:lnSpc>
              <a:buNone/>
            </a:pPr>
            <a:r>
              <a:rPr lang="en-US" sz="18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11677650" y="6703695"/>
            <a:ext cx="157162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97"/>
              </a:lnSpc>
              <a:buNone/>
            </a:pPr>
            <a:r>
              <a:rPr lang="en-US" sz="18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5181600" y="7120890"/>
            <a:ext cx="3886200" cy="1171575"/>
          </a:xfrm>
          <a:prstGeom prst="roundRect">
            <a:avLst>
              <a:gd name="adj" fmla="val 9756"/>
            </a:avLst>
          </a:prstGeom>
          <a:solidFill>
            <a:srgbClr val="D9D3F0"/>
          </a:solidFill>
          <a:ln/>
        </p:spPr>
      </p:sp>
      <p:sp>
        <p:nvSpPr>
          <p:cNvPr id="72" name="Text 70"/>
          <p:cNvSpPr/>
          <p:nvPr/>
        </p:nvSpPr>
        <p:spPr>
          <a:xfrm>
            <a:off x="5353050" y="7235190"/>
            <a:ext cx="389763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909"/>
              </a:lnSpc>
              <a:buNone/>
            </a:pPr>
            <a:r>
              <a:rPr lang="en-US" sz="27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calls → 1 call</a:t>
            </a:r>
            <a:endParaRPr lang="en-US" sz="2700" dirty="0"/>
          </a:p>
        </p:txBody>
      </p:sp>
      <p:sp>
        <p:nvSpPr>
          <p:cNvPr id="73" name="Text 71"/>
          <p:cNvSpPr/>
          <p:nvPr/>
        </p:nvSpPr>
        <p:spPr>
          <a:xfrm>
            <a:off x="5353050" y="7614285"/>
            <a:ext cx="389763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Self-correction clip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9220200" y="7120890"/>
            <a:ext cx="3886200" cy="1171575"/>
          </a:xfrm>
          <a:prstGeom prst="roundRect">
            <a:avLst>
              <a:gd name="adj" fmla="val 9756"/>
            </a:avLst>
          </a:prstGeom>
          <a:solidFill>
            <a:srgbClr val="D9D3F0"/>
          </a:solidFill>
          <a:ln/>
        </p:spPr>
      </p:sp>
      <p:sp>
        <p:nvSpPr>
          <p:cNvPr id="75" name="Text 73"/>
          <p:cNvSpPr/>
          <p:nvPr/>
        </p:nvSpPr>
        <p:spPr>
          <a:xfrm>
            <a:off x="9391650" y="7235190"/>
            <a:ext cx="389763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909"/>
              </a:lnSpc>
              <a:buNone/>
            </a:pPr>
            <a:r>
              <a:rPr lang="en-US" sz="27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5/9 · 4 · 0</a:t>
            </a:r>
            <a:endParaRPr lang="en-US" sz="2700" dirty="0"/>
          </a:p>
        </p:txBody>
      </p:sp>
      <p:sp>
        <p:nvSpPr>
          <p:cNvPr id="76" name="Text 74"/>
          <p:cNvSpPr/>
          <p:nvPr/>
        </p:nvSpPr>
        <p:spPr>
          <a:xfrm>
            <a:off x="9391650" y="7614285"/>
            <a:ext cx="3649599" cy="601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phone frames: diagnosed · abstained · wrong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5181600" y="8406765"/>
            <a:ext cx="7924800" cy="754380"/>
          </a:xfrm>
          <a:prstGeom prst="roundRect">
            <a:avLst>
              <a:gd name="adj" fmla="val 12626"/>
            </a:avLst>
          </a:prstGeom>
          <a:solidFill>
            <a:srgbClr val="FEF3E2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349240" y="8498205"/>
            <a:ext cx="782726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1351"/>
              </a:lnSpc>
              <a:buNone/>
            </a:pPr>
            <a:r>
              <a:rPr lang="en-US" sz="1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</a:t>
            </a:r>
            <a:r>
              <a:rPr lang="en-US" sz="1800" dirty="0">
                <a:solidFill>
                  <a:srgbClr val="92400E"/>
                </a:solidFill>
                <a:highlight>
                  <a:srgbClr val="FEF3E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exact-match scoring (no gpt-4o judge), 5–10 clips per run; one clip is within noise. Not comparable to the paper's judged Pass@1.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13411200" y="1954530"/>
            <a:ext cx="3619500" cy="22860"/>
          </a:xfrm>
          <a:prstGeom prst="rect">
            <a:avLst/>
          </a:prstGeom>
          <a:solidFill>
            <a:srgbClr val="63637E"/>
          </a:solidFill>
          <a:ln/>
        </p:spPr>
      </p:sp>
      <p:sp>
        <p:nvSpPr>
          <p:cNvPr id="80" name="Text 78"/>
          <p:cNvSpPr/>
          <p:nvPr/>
        </p:nvSpPr>
        <p:spPr>
          <a:xfrm>
            <a:off x="13411200" y="1558290"/>
            <a:ext cx="39814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75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100" dirty="0"/>
          </a:p>
        </p:txBody>
      </p:sp>
      <p:sp>
        <p:nvSpPr>
          <p:cNvPr id="81" name="Text 79"/>
          <p:cNvSpPr/>
          <p:nvPr/>
        </p:nvSpPr>
        <p:spPr>
          <a:xfrm>
            <a:off x="13411200" y="2148840"/>
            <a:ext cx="3728085" cy="91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784"/>
              </a:lnSpc>
              <a:buNone/>
            </a:pP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full 100-clip run yet: Groq's free tier allows about 200K LLM tokens/day, and a clip costs about 4K.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13411200" y="3197900"/>
            <a:ext cx="3728085" cy="1208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784"/>
              </a:lnSpc>
              <a:buNone/>
            </a:pP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5 easy clips, turning our additions off scored the same (5/5 vs 4/5, within replay noise). Those clips contain no self-corrections.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13411200" y="4539496"/>
            <a:ext cx="3728085" cy="1793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784"/>
              </a:lnSpc>
              <a:buNone/>
            </a:pP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 model was trained on synthetic frames only; retraining with camera-style augmentation was tried and </a:t>
            </a:r>
            <a:r>
              <a:rPr lang="en-US" sz="1800" b="1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</a:t>
            </a:r>
            <a:r>
              <a:rPr lang="en-US" sz="1800" dirty="0">
                <a:solidFill>
                  <a:srgbClr val="3E3E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 began guessing on two-LED frames). Routers and washers on camera are unproven.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7300" y="762000"/>
            <a:ext cx="1735074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909"/>
              </a:lnSpc>
              <a:buNone/>
            </a:pPr>
            <a:r>
              <a:rPr lang="en-US" sz="54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257300" y="3263265"/>
            <a:ext cx="15773400" cy="38100"/>
          </a:xfrm>
          <a:prstGeom prst="rect">
            <a:avLst/>
          </a:prstGeom>
          <a:gradFill rotWithShape="1">
            <a:gsLst>
              <a:gs pos="0">
                <a:srgbClr val="6D28D9">
                  <a:alpha val="100000"/>
                </a:srgbClr>
              </a:gs>
              <a:gs pos="60000">
                <a:srgbClr val="3B63DB">
                  <a:alpha val="100000"/>
                </a:srgbClr>
              </a:gs>
              <a:gs pos="100000">
                <a:srgbClr val="5FB8B0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1257300" y="2625090"/>
            <a:ext cx="396049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257300" y="3116580"/>
            <a:ext cx="323850" cy="323850"/>
          </a:xfrm>
          <a:prstGeom prst="ellipse">
            <a:avLst/>
          </a:prstGeom>
          <a:solidFill>
            <a:srgbClr val="6D28D9"/>
          </a:solidFill>
          <a:ln/>
          <a:effectLst>
            <a:outerShdw blurRad="101600" dist="50800" dir="16200000" algn="bl" rotWithShape="0">
              <a:srgbClr val="EDE8FB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57300" y="3821430"/>
            <a:ext cx="3960495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833"/>
              </a:lnSpc>
              <a:buNone/>
            </a:pPr>
            <a:r>
              <a:rPr lang="en-US" sz="25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100-clip run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57300" y="4365308"/>
            <a:ext cx="3708464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195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the LLM on the evaluation GPU (e.g. gpt-oss-20b under vLLM, already supported via </a:t>
            </a:r>
            <a:r>
              <a:rPr lang="en-US" sz="1800" dirty="0">
                <a:solidFill>
                  <a:srgbClr val="636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PARLEY_LLM_BASE_URL </a:t>
            </a:r>
            <a:r>
              <a:rPr lang="en-US" sz="195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to remove the daily token cap.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314950" y="2625090"/>
            <a:ext cx="396049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314950" y="3116580"/>
            <a:ext cx="323850" cy="323850"/>
          </a:xfrm>
          <a:prstGeom prst="ellipse">
            <a:avLst/>
          </a:prstGeom>
          <a:solidFill>
            <a:srgbClr val="6D28D9"/>
          </a:solidFill>
          <a:ln/>
          <a:effectLst>
            <a:outerShdw blurRad="101600" dist="50800" dir="16200000" algn="bl" rotWithShape="0">
              <a:srgbClr val="EDE8FB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14950" y="3821430"/>
            <a:ext cx="3960495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833"/>
              </a:lnSpc>
              <a:buNone/>
            </a:pPr>
            <a:r>
              <a:rPr lang="en-US" sz="25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Judged scoring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314950" y="4365308"/>
            <a:ext cx="3708464" cy="1041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195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 with FDB-v3's gpt-4o judge for a like-for-like comparison with the paper.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372600" y="2625090"/>
            <a:ext cx="396049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372600" y="3116580"/>
            <a:ext cx="323850" cy="323850"/>
          </a:xfrm>
          <a:prstGeom prst="ellipse">
            <a:avLst/>
          </a:prstGeom>
          <a:solidFill>
            <a:srgbClr val="6D28D9"/>
          </a:solidFill>
          <a:ln/>
          <a:effectLst>
            <a:outerShdw blurRad="101600" dist="50800" dir="16200000" algn="bl" rotWithShape="0">
              <a:srgbClr val="EDE8FB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72600" y="3821430"/>
            <a:ext cx="3960495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833"/>
              </a:lnSpc>
              <a:buNone/>
            </a:pPr>
            <a:r>
              <a:rPr lang="en-US" sz="25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Audio-aware turn-taking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372600" y="4365308"/>
            <a:ext cx="3708464" cy="1041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195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prosody cues (pitch and energy at the pause) to the text-based endpointer.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3430250" y="2625090"/>
            <a:ext cx="396049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3430250" y="3116580"/>
            <a:ext cx="323850" cy="323850"/>
          </a:xfrm>
          <a:prstGeom prst="ellipse">
            <a:avLst/>
          </a:prstGeom>
          <a:solidFill>
            <a:srgbClr val="6D28D9"/>
          </a:solidFill>
          <a:ln/>
          <a:effectLst>
            <a:outerShdw blurRad="101600" dist="50800" dir="16200000" algn="bl" rotWithShape="0">
              <a:srgbClr val="EDE8FB">
                <a:alpha val="1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430250" y="3821430"/>
            <a:ext cx="3960495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833"/>
              </a:lnSpc>
              <a:buNone/>
            </a:pPr>
            <a:r>
              <a:rPr lang="en-US" sz="255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on real devices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3430250" y="4365308"/>
            <a:ext cx="3708464" cy="1709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195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real router and washer frames with the built-in debug capture, and add readable-panel rules like the one that fixed real TVs.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7300" y="762000"/>
            <a:ext cx="1735074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909"/>
              </a:lnSpc>
              <a:buNone/>
            </a:pPr>
            <a:r>
              <a:rPr lang="en-US" sz="54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Brownie points slide( differentiation)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257300" y="1901190"/>
            <a:ext cx="5105400" cy="2476500"/>
          </a:xfrm>
          <a:prstGeom prst="roundRect">
            <a:avLst>
              <a:gd name="adj" fmla="val 4615"/>
            </a:avLst>
          </a:prstGeom>
          <a:solidFill>
            <a:srgbClr val="D9D3F0"/>
          </a:solidFill>
          <a:ln/>
        </p:spPr>
      </p:sp>
      <p:sp>
        <p:nvSpPr>
          <p:cNvPr id="4" name="Text 2"/>
          <p:cNvSpPr/>
          <p:nvPr/>
        </p:nvSpPr>
        <p:spPr>
          <a:xfrm>
            <a:off x="1600200" y="2186940"/>
            <a:ext cx="486156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71"/>
              </a:lnSpc>
              <a:buNone/>
            </a:pPr>
            <a:r>
              <a:rPr lang="en-US" sz="8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1600200" y="3425190"/>
            <a:ext cx="455218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21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false-early turn endings (vs 25% for a silence timeout)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591300" y="1901190"/>
            <a:ext cx="5105400" cy="2476500"/>
          </a:xfrm>
          <a:prstGeom prst="roundRect">
            <a:avLst>
              <a:gd name="adj" fmla="val 4615"/>
            </a:avLst>
          </a:prstGeom>
          <a:solidFill>
            <a:srgbClr val="D9D3F0"/>
          </a:solidFill>
          <a:ln/>
        </p:spPr>
      </p:sp>
      <p:sp>
        <p:nvSpPr>
          <p:cNvPr id="7" name="Text 5"/>
          <p:cNvSpPr/>
          <p:nvPr/>
        </p:nvSpPr>
        <p:spPr>
          <a:xfrm>
            <a:off x="6934200" y="2186940"/>
            <a:ext cx="486156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71"/>
              </a:lnSpc>
              <a:buNone/>
            </a:pPr>
            <a:r>
              <a:rPr lang="en-US" sz="8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→ 1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6934200" y="3758565"/>
            <a:ext cx="48615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21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on a real self-correction clip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1925300" y="1901190"/>
            <a:ext cx="5105400" cy="2476500"/>
          </a:xfrm>
          <a:prstGeom prst="roundRect">
            <a:avLst>
              <a:gd name="adj" fmla="val 4615"/>
            </a:avLst>
          </a:prstGeom>
          <a:solidFill>
            <a:srgbClr val="D9D3F0"/>
          </a:solidFill>
          <a:ln/>
        </p:spPr>
      </p:sp>
      <p:sp>
        <p:nvSpPr>
          <p:cNvPr id="10" name="Text 8"/>
          <p:cNvSpPr/>
          <p:nvPr/>
        </p:nvSpPr>
        <p:spPr>
          <a:xfrm>
            <a:off x="12268200" y="2186940"/>
            <a:ext cx="486156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71"/>
              </a:lnSpc>
              <a:buNone/>
            </a:pPr>
            <a:r>
              <a:rPr lang="en-US" sz="8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 s</a:t>
            </a:r>
            <a:endParaRPr lang="en-US" sz="8400" dirty="0"/>
          </a:p>
        </p:txBody>
      </p:sp>
      <p:sp>
        <p:nvSpPr>
          <p:cNvPr id="11" name="Text 9"/>
          <p:cNvSpPr/>
          <p:nvPr/>
        </p:nvSpPr>
        <p:spPr>
          <a:xfrm>
            <a:off x="12268200" y="3425190"/>
            <a:ext cx="455218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21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latency, down from 10.1 s, by moving TTS on-device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57300" y="4606290"/>
            <a:ext cx="5105400" cy="2476500"/>
          </a:xfrm>
          <a:prstGeom prst="roundRect">
            <a:avLst>
              <a:gd name="adj" fmla="val 4615"/>
            </a:avLst>
          </a:prstGeom>
          <a:solidFill>
            <a:srgbClr val="D9D3F0"/>
          </a:solidFill>
          <a:ln/>
        </p:spPr>
      </p:sp>
      <p:sp>
        <p:nvSpPr>
          <p:cNvPr id="13" name="Text 11"/>
          <p:cNvSpPr/>
          <p:nvPr/>
        </p:nvSpPr>
        <p:spPr>
          <a:xfrm>
            <a:off x="1600200" y="4892040"/>
            <a:ext cx="486156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71"/>
              </a:lnSpc>
              <a:buNone/>
            </a:pPr>
            <a:r>
              <a:rPr lang="en-US" sz="8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400" dirty="0"/>
          </a:p>
        </p:txBody>
      </p:sp>
      <p:sp>
        <p:nvSpPr>
          <p:cNvPr id="14" name="Text 12"/>
          <p:cNvSpPr/>
          <p:nvPr/>
        </p:nvSpPr>
        <p:spPr>
          <a:xfrm>
            <a:off x="1600200" y="6130290"/>
            <a:ext cx="455218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21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diagnoses on real phone-camera frames: it asks instead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6591300" y="4606290"/>
            <a:ext cx="5105400" cy="2476500"/>
          </a:xfrm>
          <a:prstGeom prst="roundRect">
            <a:avLst>
              <a:gd name="adj" fmla="val 4615"/>
            </a:avLst>
          </a:prstGeom>
          <a:solidFill>
            <a:srgbClr val="D9D3F0"/>
          </a:solidFill>
          <a:ln/>
        </p:spPr>
      </p:sp>
      <p:sp>
        <p:nvSpPr>
          <p:cNvPr id="16" name="Text 14"/>
          <p:cNvSpPr/>
          <p:nvPr/>
        </p:nvSpPr>
        <p:spPr>
          <a:xfrm>
            <a:off x="6934200" y="4892040"/>
            <a:ext cx="486156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71"/>
              </a:lnSpc>
              <a:buNone/>
            </a:pPr>
            <a:r>
              <a:rPr lang="en-US" sz="8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8400" dirty="0"/>
          </a:p>
        </p:txBody>
      </p:sp>
      <p:sp>
        <p:nvSpPr>
          <p:cNvPr id="17" name="Text 15"/>
          <p:cNvSpPr/>
          <p:nvPr/>
        </p:nvSpPr>
        <p:spPr>
          <a:xfrm>
            <a:off x="6934200" y="6130290"/>
            <a:ext cx="455218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21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run: free tiers plus local models, one-command reproduction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1925300" y="4606290"/>
            <a:ext cx="5105400" cy="2476500"/>
          </a:xfrm>
          <a:prstGeom prst="roundRect">
            <a:avLst>
              <a:gd name="adj" fmla="val 4615"/>
            </a:avLst>
          </a:prstGeom>
          <a:solidFill>
            <a:srgbClr val="D9D3F0"/>
          </a:solidFill>
          <a:ln/>
        </p:spPr>
      </p:sp>
      <p:sp>
        <p:nvSpPr>
          <p:cNvPr id="19" name="Text 17"/>
          <p:cNvSpPr/>
          <p:nvPr/>
        </p:nvSpPr>
        <p:spPr>
          <a:xfrm>
            <a:off x="12268200" y="4892040"/>
            <a:ext cx="486156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1871"/>
              </a:lnSpc>
              <a:buNone/>
            </a:pPr>
            <a:r>
              <a:rPr lang="en-US" sz="8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414</a:t>
            </a:r>
            <a:endParaRPr lang="en-US" sz="8400" dirty="0"/>
          </a:p>
        </p:txBody>
      </p:sp>
      <p:sp>
        <p:nvSpPr>
          <p:cNvPr id="20" name="Text 18"/>
          <p:cNvSpPr/>
          <p:nvPr/>
        </p:nvSpPr>
        <p:spPr>
          <a:xfrm>
            <a:off x="12268200" y="6463665"/>
            <a:ext cx="48615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21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1257300" y="8446770"/>
            <a:ext cx="15773400" cy="1173480"/>
          </a:xfrm>
          <a:prstGeom prst="roundRect">
            <a:avLst>
              <a:gd name="adj" fmla="val 9740"/>
            </a:avLst>
          </a:prstGeom>
          <a:solidFill>
            <a:srgbClr val="14142B"/>
          </a:solidFill>
          <a:ln/>
        </p:spPr>
      </p:sp>
      <p:sp>
        <p:nvSpPr>
          <p:cNvPr id="22" name="Text 20"/>
          <p:cNvSpPr/>
          <p:nvPr/>
        </p:nvSpPr>
        <p:spPr>
          <a:xfrm>
            <a:off x="1600200" y="8858250"/>
            <a:ext cx="303284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trust our numbers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4738330" y="8694420"/>
            <a:ext cx="12307954" cy="716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1950" dirty="0">
                <a:solidFill>
                  <a:srgbClr val="D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publish the ablation that </a:t>
            </a:r>
            <a:r>
              <a:rPr lang="en-US" sz="1950" i="1" dirty="0">
                <a:solidFill>
                  <a:srgbClr val="D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didn't </a:t>
            </a:r>
            <a:r>
              <a:rPr lang="en-US" sz="1950" dirty="0">
                <a:solidFill>
                  <a:srgbClr val="D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flatter us, the retraining we rejected, and every run's logs in </a:t>
            </a: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runs/fdb/ </a:t>
            </a:r>
            <a:r>
              <a:rPr lang="en-US" sz="1950" dirty="0">
                <a:solidFill>
                  <a:srgbClr val="D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Judges can re-run it all with </a:t>
            </a: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reproduce.sh</a:t>
            </a:r>
            <a:r>
              <a:rPr lang="en-US" sz="1950" dirty="0">
                <a:solidFill>
                  <a:srgbClr val="D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7300" y="762000"/>
            <a:ext cx="17350740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909"/>
              </a:lnSpc>
              <a:buNone/>
            </a:pPr>
            <a:r>
              <a:rPr lang="en-US" sz="54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Checklist- Updated on Public GitHub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257300" y="3128010"/>
            <a:ext cx="7886700" cy="15240"/>
          </a:xfrm>
          <a:prstGeom prst="rect">
            <a:avLst/>
          </a:prstGeom>
          <a:solidFill>
            <a:srgbClr val="D9D3F0"/>
          </a:solidFill>
          <a:ln/>
        </p:spPr>
      </p:sp>
      <p:sp>
        <p:nvSpPr>
          <p:cNvPr id="4" name="Shape 2"/>
          <p:cNvSpPr/>
          <p:nvPr/>
        </p:nvSpPr>
        <p:spPr>
          <a:xfrm>
            <a:off x="1257300" y="2091690"/>
            <a:ext cx="7886700" cy="15240"/>
          </a:xfrm>
          <a:prstGeom prst="rect">
            <a:avLst/>
          </a:prstGeom>
          <a:solidFill>
            <a:srgbClr val="D9D3F0"/>
          </a:solidFill>
          <a:ln/>
        </p:spPr>
      </p:sp>
      <p:sp>
        <p:nvSpPr>
          <p:cNvPr id="5" name="Text 3"/>
          <p:cNvSpPr/>
          <p:nvPr/>
        </p:nvSpPr>
        <p:spPr>
          <a:xfrm>
            <a:off x="1257300" y="2411730"/>
            <a:ext cx="7742301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code — public or shared GitHub repo (Y/N)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0" y="3128010"/>
            <a:ext cx="7886700" cy="15240"/>
          </a:xfrm>
          <a:prstGeom prst="rect">
            <a:avLst/>
          </a:prstGeom>
          <a:solidFill>
            <a:srgbClr val="D9D3F0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0" y="2091690"/>
            <a:ext cx="7886700" cy="15240"/>
          </a:xfrm>
          <a:prstGeom prst="rect">
            <a:avLst/>
          </a:prstGeom>
          <a:solidFill>
            <a:srgbClr val="D9D3F0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0" y="2411730"/>
            <a:ext cx="751165" cy="411480"/>
          </a:xfrm>
          <a:prstGeom prst="roundRect">
            <a:avLst>
              <a:gd name="adj" fmla="val 46296"/>
            </a:avLst>
          </a:prstGeom>
          <a:solidFill>
            <a:srgbClr val="1F7A4D"/>
          </a:solidFill>
          <a:ln/>
        </p:spPr>
      </p:sp>
      <p:sp>
        <p:nvSpPr>
          <p:cNvPr id="9" name="Text 7"/>
          <p:cNvSpPr/>
          <p:nvPr/>
        </p:nvSpPr>
        <p:spPr>
          <a:xfrm>
            <a:off x="9334500" y="2449830"/>
            <a:ext cx="44636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</a:t>
            </a:r>
            <a:endParaRPr lang="en-US" sz="1950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10085666" y="2457450"/>
            <a:ext cx="412263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u="sng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github.com/itsAryan-devop/parley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257300" y="4164330"/>
            <a:ext cx="7886700" cy="15240"/>
          </a:xfrm>
          <a:prstGeom prst="rect">
            <a:avLst/>
          </a:prstGeom>
          <a:solidFill>
            <a:srgbClr val="D9D3F0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3448050"/>
            <a:ext cx="7742301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with reproducible setup instructions (Y/N)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0" y="4164330"/>
            <a:ext cx="7886700" cy="15240"/>
          </a:xfrm>
          <a:prstGeom prst="rect">
            <a:avLst/>
          </a:prstGeom>
          <a:solidFill>
            <a:srgbClr val="D9D3F0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0" y="3448050"/>
            <a:ext cx="751165" cy="411480"/>
          </a:xfrm>
          <a:prstGeom prst="roundRect">
            <a:avLst>
              <a:gd name="adj" fmla="val 46296"/>
            </a:avLst>
          </a:prstGeom>
          <a:solidFill>
            <a:srgbClr val="1F7A4D"/>
          </a:solidFill>
          <a:ln/>
        </p:spPr>
      </p:sp>
      <p:sp>
        <p:nvSpPr>
          <p:cNvPr id="15" name="Text 13"/>
          <p:cNvSpPr/>
          <p:nvPr/>
        </p:nvSpPr>
        <p:spPr>
          <a:xfrm>
            <a:off x="9334500" y="3486150"/>
            <a:ext cx="44636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085666" y="3489960"/>
            <a:ext cx="467859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command: </a:t>
            </a:r>
            <a:r>
              <a:rPr lang="en-US" sz="195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reproduce.sh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257300" y="5200650"/>
            <a:ext cx="7886700" cy="15240"/>
          </a:xfrm>
          <a:prstGeom prst="rect">
            <a:avLst/>
          </a:prstGeom>
          <a:solidFill>
            <a:srgbClr val="D9D3F0"/>
          </a:solidFill>
          <a:ln/>
        </p:spPr>
      </p:sp>
      <p:sp>
        <p:nvSpPr>
          <p:cNvPr id="18" name="Text 16"/>
          <p:cNvSpPr/>
          <p:nvPr/>
        </p:nvSpPr>
        <p:spPr>
          <a:xfrm>
            <a:off x="1257300" y="4484370"/>
            <a:ext cx="7742301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video, max 5 minutes (YouTube or Drive link)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144000" y="5200650"/>
            <a:ext cx="7886700" cy="15240"/>
          </a:xfrm>
          <a:prstGeom prst="rect">
            <a:avLst/>
          </a:prstGeom>
          <a:solidFill>
            <a:srgbClr val="D9D3F0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0" y="4484370"/>
            <a:ext cx="751165" cy="411480"/>
          </a:xfrm>
          <a:prstGeom prst="roundRect">
            <a:avLst>
              <a:gd name="adj" fmla="val 46296"/>
            </a:avLst>
          </a:prstGeom>
          <a:solidFill>
            <a:srgbClr val="1F7A4D"/>
          </a:solidFill>
          <a:ln/>
        </p:spPr>
      </p:sp>
      <p:sp>
        <p:nvSpPr>
          <p:cNvPr id="21" name="Text 19"/>
          <p:cNvSpPr/>
          <p:nvPr/>
        </p:nvSpPr>
        <p:spPr>
          <a:xfrm>
            <a:off x="9334500" y="4522470"/>
            <a:ext cx="44636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</a:t>
            </a:r>
            <a:endParaRPr lang="en-US" sz="1950" dirty="0"/>
          </a:p>
        </p:txBody>
      </p:sp>
      <p:sp>
        <p:nvSpPr>
          <p:cNvPr id="22" name="Text 20">
            <a:hlinkClick r:id="rId4"/>
          </p:cNvPr>
          <p:cNvSpPr/>
          <p:nvPr/>
        </p:nvSpPr>
        <p:spPr>
          <a:xfrm>
            <a:off x="10085666" y="4530090"/>
            <a:ext cx="264124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u="sng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youtu.be/-l4Yk7sETZQ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257300" y="6236970"/>
            <a:ext cx="7886700" cy="15240"/>
          </a:xfrm>
          <a:prstGeom prst="rect">
            <a:avLst/>
          </a:prstGeom>
          <a:solidFill>
            <a:srgbClr val="D9D3F0"/>
          </a:solidFill>
          <a:ln/>
        </p:spPr>
      </p:sp>
      <p:sp>
        <p:nvSpPr>
          <p:cNvPr id="24" name="Text 22"/>
          <p:cNvSpPr/>
          <p:nvPr/>
        </p:nvSpPr>
        <p:spPr>
          <a:xfrm>
            <a:off x="1257300" y="5520690"/>
            <a:ext cx="7742301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file (PPT or PDF) (Y/N)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144000" y="6236970"/>
            <a:ext cx="7886700" cy="15240"/>
          </a:xfrm>
          <a:prstGeom prst="rect">
            <a:avLst/>
          </a:prstGeom>
          <a:solidFill>
            <a:srgbClr val="D9D3F0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0" y="5520690"/>
            <a:ext cx="751165" cy="411480"/>
          </a:xfrm>
          <a:prstGeom prst="roundRect">
            <a:avLst>
              <a:gd name="adj" fmla="val 46296"/>
            </a:avLst>
          </a:prstGeom>
          <a:solidFill>
            <a:srgbClr val="1F7A4D"/>
          </a:solidFill>
          <a:ln/>
        </p:spPr>
      </p:sp>
      <p:sp>
        <p:nvSpPr>
          <p:cNvPr id="27" name="Text 25"/>
          <p:cNvSpPr/>
          <p:nvPr/>
        </p:nvSpPr>
        <p:spPr>
          <a:xfrm>
            <a:off x="9334500" y="5558790"/>
            <a:ext cx="44636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71625" y="5591175"/>
            <a:ext cx="11169015" cy="1343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87121"/>
              </a:lnSpc>
              <a:buNone/>
            </a:pPr>
            <a:r>
              <a:rPr lang="en-US" sz="69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1571625" y="7048500"/>
            <a:ext cx="106477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25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12601" y="7048500"/>
            <a:ext cx="14358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100" dirty="0"/>
          </a:p>
        </p:txBody>
      </p:sp>
      <p:sp>
        <p:nvSpPr>
          <p:cNvPr id="5" name="Text 3">
            <a:hlinkClick r:id="rId3"/>
          </p:cNvPr>
          <p:cNvSpPr/>
          <p:nvPr/>
        </p:nvSpPr>
        <p:spPr>
          <a:xfrm>
            <a:off x="2932390" y="7048500"/>
            <a:ext cx="412263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u="sng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github.com/itsAryan-devop/parley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62050" y="8848725"/>
            <a:ext cx="1638395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by the Language AI Team and the PRISM Team, Samsung R&amp;D Institute India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2081</Words>
  <Application>Microsoft Office PowerPoint</Application>
  <PresentationFormat>Custom</PresentationFormat>
  <Paragraphs>313</Paragraphs>
  <Slides>12</Slides>
  <Notes>12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Jaibhav Gupta</cp:lastModifiedBy>
  <cp:revision>2</cp:revision>
  <dcterms:created xsi:type="dcterms:W3CDTF">2026-09-30T17:30:52Z</dcterms:created>
  <dcterms:modified xsi:type="dcterms:W3CDTF">2026-09-30T17:34:22Z</dcterms:modified>
</cp:coreProperties>
</file>