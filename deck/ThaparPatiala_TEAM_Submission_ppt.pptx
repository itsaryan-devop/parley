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</p:sldIdLst>
  <p:notesMasterIdLst>
    <p:notesMasterId r:id="rId14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notesMaster" Target="notesMasters/notesMaster1.xml"/><Relationship Id="rId15" Type="http://schemas.openxmlformats.org/officeDocument/2006/relationships/presProps" Target="presProps.xml"/><Relationship Id="rId16" Type="http://schemas.openxmlformats.org/officeDocument/2006/relationships/viewProps" Target="viewProps.xml"/><Relationship Id="rId17" Type="http://schemas.openxmlformats.org/officeDocument/2006/relationships/theme" Target="theme/theme1.xml"/><Relationship Id="rId18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PARLEY. Theme 5. The thesis in one line: interruption handling is a dataflow problem, not a control-flow problem. Everything else follows from taking that seriously.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Stopping the voice is right — the user no longer wants to hear the sentence. Stopping the work is wrong — they may still want the flight search that is 80% done.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This is the whole thesis. Every in-flight call records which slots fed its arguments, so a slot correction invalidates exactly its readers — a dict lookup, not a judgement call.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Floor verbs come from the overlapping-speech literature (arXiv 2609.13117). The work axis is ours. Telling SELF_REPAIR from SLOT_CORRECTION uses Shriberg's disfluency structure: they differ in what the repair does to the value.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Cancellation happens BEFORE state is mutated. Patch the slot first and the in-flight call looks consistent with the new value, so it survives when it should die — invisible in a passing demo, fatal on the hidden set.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Undecidable media is generated separately and held out of training entirely. Teaching a classifier to pick one label for a frame with two LEDs lit would train away the behaviour that scores.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Expectations are deliberately not checked under perturbation: move an interruption 200 ms later and the call has already finished, so cancelling it becomes impossible rather than wrong.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Close on the limitations slide deliberately. The jury asks about trade-offs, and a team that already knows its own weak points answers better than one defending a claim.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0E1116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822960" y="1737360"/>
            <a:ext cx="7315200" cy="1371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200" b="1" spc="300" kern="0" dirty="0">
                <a:solidFill>
                  <a:srgbClr val="E6EDF3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PARLEY</a:t>
            </a:r>
            <a:endParaRPr lang="en-US" sz="8200" dirty="0"/>
          </a:p>
        </p:txBody>
      </p:sp>
      <p:sp>
        <p:nvSpPr>
          <p:cNvPr id="3" name="Text 1"/>
          <p:cNvSpPr txBox="1"/>
          <p:nvPr/>
        </p:nvSpPr>
        <p:spPr>
          <a:xfrm>
            <a:off x="868680" y="3063240"/>
            <a:ext cx="749808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900" dirty="0">
                <a:solidFill>
                  <a:srgbClr val="58A6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An interruption-native coordination kernel for full-duplex voice agents</a:t>
            </a:r>
            <a:endParaRPr lang="en-US" sz="1900" dirty="0"/>
          </a:p>
        </p:txBody>
      </p:sp>
      <p:sp>
        <p:nvSpPr>
          <p:cNvPr id="4" name="Text 2"/>
          <p:cNvSpPr txBox="1"/>
          <p:nvPr/>
        </p:nvSpPr>
        <p:spPr>
          <a:xfrm>
            <a:off x="868680" y="4069080"/>
            <a:ext cx="7498080" cy="1371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2100"/>
              </a:lnSpc>
              <a:buNone/>
            </a:pPr>
            <a:r>
              <a:rPr lang="en-US" sz="1400" dirty="0">
                <a:solidFill>
                  <a:srgbClr val="8B949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Samsung PRISM Y2026 GenAI Hackathon (3rd Edition)</a:t>
            </a:r>
            <a:endParaRPr lang="en-US" sz="1400" dirty="0"/>
          </a:p>
          <a:p>
            <a:pPr indent="0" marL="0">
              <a:lnSpc>
                <a:spcPts val="2100"/>
              </a:lnSpc>
              <a:buNone/>
            </a:pPr>
            <a:r>
              <a:rPr lang="en-US" sz="1400" dirty="0">
                <a:solidFill>
                  <a:srgbClr val="8B949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Theme 05 — Interruptible Real-Time Agents</a:t>
            </a:r>
            <a:endParaRPr lang="en-US" sz="1400" dirty="0"/>
          </a:p>
          <a:p>
            <a:pPr indent="0" marL="0">
              <a:lnSpc>
                <a:spcPts val="2100"/>
              </a:lnSpc>
              <a:buNone/>
            </a:pPr>
            <a:endParaRPr lang="en-US" sz="1400" dirty="0"/>
          </a:p>
          <a:p>
            <a:pPr indent="0" marL="0">
              <a:lnSpc>
                <a:spcPts val="2100"/>
              </a:lnSpc>
              <a:buNone/>
            </a:pPr>
            <a:r>
              <a:rPr lang="en-US" sz="1400" dirty="0">
                <a:solidFill>
                  <a:srgbClr val="8B949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ThaparPatiala_TEAM · Thapar Institute of Engineering &amp; Technology, Patiala</a:t>
            </a:r>
            <a:endParaRPr lang="en-US" sz="1400" dirty="0"/>
          </a:p>
        </p:txBody>
      </p:sp>
      <p:sp>
        <p:nvSpPr>
          <p:cNvPr id="5" name="Shape 3"/>
          <p:cNvSpPr/>
          <p:nvPr/>
        </p:nvSpPr>
        <p:spPr>
          <a:xfrm>
            <a:off x="8778240" y="1901952"/>
            <a:ext cx="2743200" cy="18288"/>
          </a:xfrm>
          <a:prstGeom prst="rect">
            <a:avLst/>
          </a:prstGeom>
          <a:solidFill>
            <a:srgbClr val="2B323C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8778240" y="1783080"/>
            <a:ext cx="822960" cy="182880"/>
          </a:xfrm>
          <a:prstGeom prst="roundRect">
            <a:avLst>
              <a:gd name="adj" fmla="val 250000"/>
            </a:avLst>
          </a:prstGeom>
          <a:solidFill>
            <a:srgbClr val="58A6FF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7" name="Shape 5"/>
          <p:cNvSpPr/>
          <p:nvPr/>
        </p:nvSpPr>
        <p:spPr>
          <a:xfrm>
            <a:off x="9930384" y="1783080"/>
            <a:ext cx="603504" cy="182880"/>
          </a:xfrm>
          <a:prstGeom prst="roundRect">
            <a:avLst>
              <a:gd name="adj" fmla="val 250000"/>
            </a:avLst>
          </a:prstGeom>
          <a:solidFill>
            <a:srgbClr val="58A6FF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8" name="Shape 6"/>
          <p:cNvSpPr/>
          <p:nvPr/>
        </p:nvSpPr>
        <p:spPr>
          <a:xfrm>
            <a:off x="8778240" y="2322576"/>
            <a:ext cx="2743200" cy="18288"/>
          </a:xfrm>
          <a:prstGeom prst="rect">
            <a:avLst/>
          </a:prstGeom>
          <a:solidFill>
            <a:srgbClr val="2B323C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9" name="Shape 7"/>
          <p:cNvSpPr/>
          <p:nvPr/>
        </p:nvSpPr>
        <p:spPr>
          <a:xfrm>
            <a:off x="8915400" y="2203704"/>
            <a:ext cx="713232" cy="182880"/>
          </a:xfrm>
          <a:prstGeom prst="roundRect">
            <a:avLst>
              <a:gd name="adj" fmla="val 250000"/>
            </a:avLst>
          </a:prstGeom>
          <a:solidFill>
            <a:srgbClr val="3FB95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0" name="Shape 8"/>
          <p:cNvSpPr/>
          <p:nvPr/>
        </p:nvSpPr>
        <p:spPr>
          <a:xfrm>
            <a:off x="10149840" y="2203704"/>
            <a:ext cx="932688" cy="182880"/>
          </a:xfrm>
          <a:prstGeom prst="roundRect">
            <a:avLst>
              <a:gd name="adj" fmla="val 250000"/>
            </a:avLst>
          </a:prstGeom>
          <a:solidFill>
            <a:srgbClr val="3FB95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1" name="Shape 9"/>
          <p:cNvSpPr/>
          <p:nvPr/>
        </p:nvSpPr>
        <p:spPr>
          <a:xfrm>
            <a:off x="8778240" y="2743200"/>
            <a:ext cx="2743200" cy="18288"/>
          </a:xfrm>
          <a:prstGeom prst="rect">
            <a:avLst/>
          </a:prstGeom>
          <a:solidFill>
            <a:srgbClr val="2B323C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2" name="Shape 10"/>
          <p:cNvSpPr/>
          <p:nvPr/>
        </p:nvSpPr>
        <p:spPr>
          <a:xfrm>
            <a:off x="8833104" y="2624328"/>
            <a:ext cx="1042416" cy="182880"/>
          </a:xfrm>
          <a:prstGeom prst="roundRect">
            <a:avLst>
              <a:gd name="adj" fmla="val 250000"/>
            </a:avLst>
          </a:prstGeom>
          <a:solidFill>
            <a:srgbClr val="A371F7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3" name="Shape 11"/>
          <p:cNvSpPr/>
          <p:nvPr/>
        </p:nvSpPr>
        <p:spPr>
          <a:xfrm>
            <a:off x="8778240" y="3163824"/>
            <a:ext cx="2743200" cy="18288"/>
          </a:xfrm>
          <a:prstGeom prst="rect">
            <a:avLst/>
          </a:prstGeom>
          <a:solidFill>
            <a:srgbClr val="2B323C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4" name="Shape 12"/>
          <p:cNvSpPr/>
          <p:nvPr/>
        </p:nvSpPr>
        <p:spPr>
          <a:xfrm>
            <a:off x="9875520" y="3044952"/>
            <a:ext cx="438912" cy="182880"/>
          </a:xfrm>
          <a:prstGeom prst="roundRect">
            <a:avLst>
              <a:gd name="adj" fmla="val 250000"/>
            </a:avLst>
          </a:prstGeom>
          <a:solidFill>
            <a:srgbClr val="F8514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5" name="Shape 13"/>
          <p:cNvSpPr/>
          <p:nvPr/>
        </p:nvSpPr>
        <p:spPr>
          <a:xfrm>
            <a:off x="8778240" y="3584448"/>
            <a:ext cx="2743200" cy="18288"/>
          </a:xfrm>
          <a:prstGeom prst="rect">
            <a:avLst/>
          </a:prstGeom>
          <a:solidFill>
            <a:srgbClr val="2B323C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6" name="Shape 14"/>
          <p:cNvSpPr/>
          <p:nvPr/>
        </p:nvSpPr>
        <p:spPr>
          <a:xfrm>
            <a:off x="9985248" y="3465576"/>
            <a:ext cx="1371600" cy="182880"/>
          </a:xfrm>
          <a:prstGeom prst="roundRect">
            <a:avLst>
              <a:gd name="adj" fmla="val 250000"/>
            </a:avLst>
          </a:prstGeom>
          <a:solidFill>
            <a:srgbClr val="A371F7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7" name="Text 15"/>
          <p:cNvSpPr txBox="1"/>
          <p:nvPr/>
        </p:nvSpPr>
        <p:spPr>
          <a:xfrm>
            <a:off x="8778240" y="4069080"/>
            <a:ext cx="2743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6E768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one timeline · one trace</a:t>
            </a:r>
            <a:endParaRPr lang="en-US" sz="11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0E1116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384048"/>
            <a:ext cx="110642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200" kern="0" dirty="0">
                <a:solidFill>
                  <a:srgbClr val="58A6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PROBLEM, IN OUR OWN WORDS</a:t>
            </a:r>
            <a:endParaRPr lang="en-US" sz="12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676656"/>
            <a:ext cx="1106424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400" b="1" dirty="0">
                <a:solidFill>
                  <a:srgbClr val="E6EDF3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People interrupt. Assistants take turns.</a:t>
            </a:r>
            <a:endParaRPr lang="en-US" sz="3400" dirty="0"/>
          </a:p>
        </p:txBody>
      </p:sp>
      <p:sp>
        <p:nvSpPr>
          <p:cNvPr id="4" name="Text 2"/>
          <p:cNvSpPr txBox="1"/>
          <p:nvPr/>
        </p:nvSpPr>
        <p:spPr>
          <a:xfrm>
            <a:off x="548640" y="1691640"/>
            <a:ext cx="576072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2200"/>
              </a:lnSpc>
              <a:buNone/>
            </a:pPr>
            <a:r>
              <a:rPr lang="en-US" sz="1600" dirty="0">
                <a:solidFill>
                  <a:srgbClr val="8B949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half-duplex assistant owns the microphone in phases: listen, think, speak — each excluding the others. People do not work like that. They interrupt. They correct themselves mid-noun-phrase. They change their mind while the machine is three tool calls deep into the plan they just abandoned.</a:t>
            </a:r>
            <a:endParaRPr lang="en-US" sz="1600" dirty="0"/>
          </a:p>
        </p:txBody>
      </p:sp>
      <p:sp>
        <p:nvSpPr>
          <p:cNvPr id="5" name="Text 3"/>
          <p:cNvSpPr txBox="1"/>
          <p:nvPr/>
        </p:nvSpPr>
        <p:spPr>
          <a:xfrm>
            <a:off x="548640" y="3429000"/>
            <a:ext cx="57607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D299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obvious fix is worse than the disease.</a:t>
            </a:r>
            <a:endParaRPr lang="en-US" sz="1700" dirty="0"/>
          </a:p>
        </p:txBody>
      </p:sp>
      <p:sp>
        <p:nvSpPr>
          <p:cNvPr id="6" name="Text 4"/>
          <p:cNvSpPr txBox="1"/>
          <p:nvPr/>
        </p:nvSpPr>
        <p:spPr>
          <a:xfrm>
            <a:off x="548640" y="3840480"/>
            <a:ext cx="576072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2200"/>
              </a:lnSpc>
              <a:buNone/>
            </a:pPr>
            <a:r>
              <a:rPr lang="en-US" sz="1500" dirty="0">
                <a:solidFill>
                  <a:srgbClr val="8B949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“On interrupt, throw the plan away and start over” discards work that was still valid, re-runs calls that already had side effects, and produces an assistant that is responsive and wrong instead of slow and right.</a:t>
            </a:r>
            <a:endParaRPr lang="en-US" sz="1500" dirty="0"/>
          </a:p>
        </p:txBody>
      </p:sp>
      <p:sp>
        <p:nvSpPr>
          <p:cNvPr id="7" name="Shape 5"/>
          <p:cNvSpPr/>
          <p:nvPr/>
        </p:nvSpPr>
        <p:spPr>
          <a:xfrm>
            <a:off x="6720840" y="1600200"/>
            <a:ext cx="4892040" cy="4023360"/>
          </a:xfrm>
          <a:prstGeom prst="roundRect">
            <a:avLst>
              <a:gd name="adj" fmla="val 1364"/>
            </a:avLst>
          </a:prstGeom>
          <a:solidFill>
            <a:srgbClr val="161B22"/>
          </a:solidFill>
          <a:ln w="12700">
            <a:solidFill>
              <a:srgbClr val="2B323C"/>
            </a:solidFill>
            <a:prstDash val="solid"/>
          </a:ln>
          <a:effectLst>
            <a:outerShdw sx="100000" sy="100000" kx="0" ky="0" algn="bl" rotWithShape="0" blurRad="127000" dist="25400" dir="5400000">
              <a:srgbClr val="000000">
                <a:alpha val="35000"/>
              </a:srgbClr>
            </a:outerShdw>
          </a:effectLst>
        </p:spPr>
      </p:sp>
      <p:sp>
        <p:nvSpPr>
          <p:cNvPr id="8" name="Text 6"/>
          <p:cNvSpPr txBox="1"/>
          <p:nvPr/>
        </p:nvSpPr>
        <p:spPr>
          <a:xfrm>
            <a:off x="7040880" y="1828800"/>
            <a:ext cx="42976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E6EDF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What every framework we surveyed does</a:t>
            </a:r>
            <a:endParaRPr lang="en-US" sz="1400" dirty="0"/>
          </a:p>
        </p:txBody>
      </p:sp>
      <p:sp>
        <p:nvSpPr>
          <p:cNvPr id="9" name="Shape 7"/>
          <p:cNvSpPr/>
          <p:nvPr/>
        </p:nvSpPr>
        <p:spPr>
          <a:xfrm>
            <a:off x="7059168" y="2386584"/>
            <a:ext cx="146304" cy="146304"/>
          </a:xfrm>
          <a:prstGeom prst="roundRect">
            <a:avLst>
              <a:gd name="adj" fmla="val 250000"/>
            </a:avLst>
          </a:prstGeom>
          <a:solidFill>
            <a:srgbClr val="F85149"/>
          </a:solidFill>
          <a:ln w="12700">
            <a:solidFill>
              <a:srgbClr val="F85149"/>
            </a:solidFill>
            <a:prstDash val="solid"/>
          </a:ln>
        </p:spPr>
      </p:sp>
      <p:sp>
        <p:nvSpPr>
          <p:cNvPr id="10" name="Text 8"/>
          <p:cNvSpPr txBox="1"/>
          <p:nvPr/>
        </p:nvSpPr>
        <p:spPr>
          <a:xfrm>
            <a:off x="7315200" y="2331720"/>
            <a:ext cx="393192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E6EDF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Pipecat</a:t>
            </a:r>
            <a:endParaRPr lang="en-US" sz="1300" dirty="0"/>
          </a:p>
        </p:txBody>
      </p:sp>
      <p:sp>
        <p:nvSpPr>
          <p:cNvPr id="11" name="Text 9"/>
          <p:cNvSpPr txBox="1"/>
          <p:nvPr/>
        </p:nvSpPr>
        <p:spPr>
          <a:xfrm>
            <a:off x="7315200" y="2587752"/>
            <a:ext cx="39319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i="1" dirty="0">
                <a:solidFill>
                  <a:srgbClr val="8B949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cancels any pending tasks in LLM and TTS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7059168" y="3163824"/>
            <a:ext cx="146304" cy="146304"/>
          </a:xfrm>
          <a:prstGeom prst="roundRect">
            <a:avLst>
              <a:gd name="adj" fmla="val 250000"/>
            </a:avLst>
          </a:prstGeom>
          <a:solidFill>
            <a:srgbClr val="F85149"/>
          </a:solidFill>
          <a:ln w="12700">
            <a:solidFill>
              <a:srgbClr val="F85149"/>
            </a:solidFill>
            <a:prstDash val="solid"/>
          </a:ln>
        </p:spPr>
      </p:sp>
      <p:sp>
        <p:nvSpPr>
          <p:cNvPr id="13" name="Text 11"/>
          <p:cNvSpPr txBox="1"/>
          <p:nvPr/>
        </p:nvSpPr>
        <p:spPr>
          <a:xfrm>
            <a:off x="7315200" y="3108960"/>
            <a:ext cx="393192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E6EDF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LiveKit Agents</a:t>
            </a:r>
            <a:endParaRPr lang="en-US" sz="1300" dirty="0"/>
          </a:p>
        </p:txBody>
      </p:sp>
      <p:sp>
        <p:nvSpPr>
          <p:cNvPr id="14" name="Text 12"/>
          <p:cNvSpPr txBox="1"/>
          <p:nvPr/>
        </p:nvSpPr>
        <p:spPr>
          <a:xfrm>
            <a:off x="7315200" y="3364992"/>
            <a:ext cx="39319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i="1" dirty="0">
                <a:solidFill>
                  <a:srgbClr val="8B949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stops the TTS stream and clears the output buffer</a:t>
            </a:r>
            <a:endParaRPr lang="en-US" sz="1200" dirty="0"/>
          </a:p>
        </p:txBody>
      </p:sp>
      <p:sp>
        <p:nvSpPr>
          <p:cNvPr id="15" name="Shape 13"/>
          <p:cNvSpPr/>
          <p:nvPr/>
        </p:nvSpPr>
        <p:spPr>
          <a:xfrm>
            <a:off x="7059168" y="3941064"/>
            <a:ext cx="146304" cy="146304"/>
          </a:xfrm>
          <a:prstGeom prst="roundRect">
            <a:avLst>
              <a:gd name="adj" fmla="val 250000"/>
            </a:avLst>
          </a:prstGeom>
          <a:solidFill>
            <a:srgbClr val="F85149"/>
          </a:solidFill>
          <a:ln w="12700">
            <a:solidFill>
              <a:srgbClr val="F85149"/>
            </a:solidFill>
            <a:prstDash val="solid"/>
          </a:ln>
        </p:spPr>
      </p:sp>
      <p:sp>
        <p:nvSpPr>
          <p:cNvPr id="16" name="Text 14"/>
          <p:cNvSpPr txBox="1"/>
          <p:nvPr/>
        </p:nvSpPr>
        <p:spPr>
          <a:xfrm>
            <a:off x="7315200" y="3886200"/>
            <a:ext cx="393192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E6EDF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TASTE2</a:t>
            </a:r>
            <a:endParaRPr lang="en-US" sz="1300" dirty="0"/>
          </a:p>
        </p:txBody>
      </p:sp>
      <p:sp>
        <p:nvSpPr>
          <p:cNvPr id="17" name="Text 15"/>
          <p:cNvSpPr txBox="1"/>
          <p:nvPr/>
        </p:nvSpPr>
        <p:spPr>
          <a:xfrm>
            <a:off x="7315200" y="4142232"/>
            <a:ext cx="39319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i="1" dirty="0">
                <a:solidFill>
                  <a:srgbClr val="8B949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runs a fixed four-step teardown on barge-in</a:t>
            </a:r>
            <a:endParaRPr lang="en-US" sz="1200" dirty="0"/>
          </a:p>
        </p:txBody>
      </p:sp>
      <p:sp>
        <p:nvSpPr>
          <p:cNvPr id="18" name="Text 16"/>
          <p:cNvSpPr txBox="1"/>
          <p:nvPr/>
        </p:nvSpPr>
        <p:spPr>
          <a:xfrm>
            <a:off x="7040880" y="4754880"/>
            <a:ext cx="429768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900"/>
              </a:lnSpc>
              <a:buNone/>
            </a:pPr>
            <a:r>
              <a:rPr lang="en-US" sz="1300" b="1" dirty="0">
                <a:solidFill>
                  <a:srgbClr val="D299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All three conflate STOP SPEAKING with STOP WORKING.</a:t>
            </a:r>
            <a:endParaRPr lang="en-US" sz="1300" dirty="0"/>
          </a:p>
          <a:p>
            <a:pPr indent="0" marL="0">
              <a:lnSpc>
                <a:spcPts val="1900"/>
              </a:lnSpc>
              <a:buNone/>
            </a:pPr>
            <a:r>
              <a:rPr lang="en-US" sz="1300" b="1" dirty="0">
                <a:solidFill>
                  <a:srgbClr val="D299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That conflation is the bug.</a:t>
            </a:r>
            <a:endParaRPr lang="en-US" sz="13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0E1116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384048"/>
            <a:ext cx="110642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200" kern="0" dirty="0">
                <a:solidFill>
                  <a:srgbClr val="58A6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INSIGHT</a:t>
            </a:r>
            <a:endParaRPr lang="en-US" sz="12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676656"/>
            <a:ext cx="1106424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400" b="1" dirty="0">
                <a:solidFill>
                  <a:srgbClr val="E6EDF3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Exactly one thing changed. Kill exactly what read it.</a:t>
            </a:r>
            <a:endParaRPr lang="en-US" sz="3400" dirty="0"/>
          </a:p>
        </p:txBody>
      </p:sp>
      <p:sp>
        <p:nvSpPr>
          <p:cNvPr id="4" name="Text 2"/>
          <p:cNvSpPr txBox="1"/>
          <p:nvPr/>
        </p:nvSpPr>
        <p:spPr>
          <a:xfrm>
            <a:off x="548640" y="1645920"/>
            <a:ext cx="1106424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2200"/>
              </a:lnSpc>
              <a:buNone/>
            </a:pPr>
            <a:r>
              <a:rPr lang="en-US" sz="1600" dirty="0">
                <a:solidFill>
                  <a:srgbClr val="8B949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“…to Delhi — no, Mumbai.” One slot changed value. The right response is not to re-plan; it is to work out which in-flight computations read that slot, cancel precisely those, and leave everything else running.</a:t>
            </a:r>
            <a:endParaRPr lang="en-US" sz="1600" dirty="0"/>
          </a:p>
        </p:txBody>
      </p:sp>
      <p:sp>
        <p:nvSpPr>
          <p:cNvPr id="5" name="Shape 3"/>
          <p:cNvSpPr/>
          <p:nvPr/>
        </p:nvSpPr>
        <p:spPr>
          <a:xfrm>
            <a:off x="548640" y="2697480"/>
            <a:ext cx="11064240" cy="2331720"/>
          </a:xfrm>
          <a:prstGeom prst="roundRect">
            <a:avLst>
              <a:gd name="adj" fmla="val 2353"/>
            </a:avLst>
          </a:prstGeom>
          <a:solidFill>
            <a:srgbClr val="161B22"/>
          </a:solidFill>
          <a:ln w="12700">
            <a:solidFill>
              <a:srgbClr val="2B323C"/>
            </a:solidFill>
            <a:prstDash val="solid"/>
          </a:ln>
          <a:effectLst>
            <a:outerShdw sx="100000" sy="100000" kx="0" ky="0" algn="bl" rotWithShape="0" blurRad="127000" dist="25400" dir="5400000">
              <a:srgbClr val="000000">
                <a:alpha val="35000"/>
              </a:srgbClr>
            </a:outerShdw>
          </a:effectLst>
        </p:spPr>
      </p:sp>
      <p:sp>
        <p:nvSpPr>
          <p:cNvPr id="6" name="Shape 4"/>
          <p:cNvSpPr/>
          <p:nvPr/>
        </p:nvSpPr>
        <p:spPr>
          <a:xfrm>
            <a:off x="5532120" y="3154680"/>
            <a:ext cx="22860" cy="1600200"/>
          </a:xfrm>
          <a:prstGeom prst="rect">
            <a:avLst/>
          </a:prstGeom>
          <a:solidFill>
            <a:srgbClr val="58A6FF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4846320" y="2852928"/>
            <a:ext cx="1371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58A6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“no, Mumbai”</a:t>
            </a:r>
            <a:endParaRPr lang="en-US" sz="1200" dirty="0"/>
          </a:p>
        </p:txBody>
      </p:sp>
      <p:sp>
        <p:nvSpPr>
          <p:cNvPr id="8" name="Text 6"/>
          <p:cNvSpPr txBox="1"/>
          <p:nvPr/>
        </p:nvSpPr>
        <p:spPr>
          <a:xfrm>
            <a:off x="777240" y="3255264"/>
            <a:ext cx="146304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8B949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search_flights</a:t>
            </a:r>
            <a:endParaRPr lang="en-US" sz="1050" dirty="0"/>
          </a:p>
        </p:txBody>
      </p:sp>
      <p:sp>
        <p:nvSpPr>
          <p:cNvPr id="9" name="Shape 7"/>
          <p:cNvSpPr/>
          <p:nvPr/>
        </p:nvSpPr>
        <p:spPr>
          <a:xfrm>
            <a:off x="2651760" y="3273552"/>
            <a:ext cx="2880360" cy="219456"/>
          </a:xfrm>
          <a:prstGeom prst="roundRect">
            <a:avLst>
              <a:gd name="adj" fmla="val 208333"/>
            </a:avLst>
          </a:prstGeom>
          <a:solidFill>
            <a:srgbClr val="F8514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0" name="Text 8"/>
          <p:cNvSpPr txBox="1"/>
          <p:nvPr/>
        </p:nvSpPr>
        <p:spPr>
          <a:xfrm>
            <a:off x="5641848" y="3255264"/>
            <a:ext cx="26517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F8514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read destination  →  cancelled</a:t>
            </a:r>
            <a:endParaRPr lang="en-US" sz="1100" dirty="0"/>
          </a:p>
        </p:txBody>
      </p:sp>
      <p:sp>
        <p:nvSpPr>
          <p:cNvPr id="11" name="Text 9"/>
          <p:cNvSpPr txBox="1"/>
          <p:nvPr/>
        </p:nvSpPr>
        <p:spPr>
          <a:xfrm>
            <a:off x="777240" y="3767328"/>
            <a:ext cx="146304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8B949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search_hotels</a:t>
            </a:r>
            <a:endParaRPr lang="en-US" sz="1050" dirty="0"/>
          </a:p>
        </p:txBody>
      </p:sp>
      <p:sp>
        <p:nvSpPr>
          <p:cNvPr id="12" name="Shape 10"/>
          <p:cNvSpPr/>
          <p:nvPr/>
        </p:nvSpPr>
        <p:spPr>
          <a:xfrm>
            <a:off x="3063240" y="3785616"/>
            <a:ext cx="4663440" cy="219456"/>
          </a:xfrm>
          <a:prstGeom prst="roundRect">
            <a:avLst>
              <a:gd name="adj" fmla="val 208333"/>
            </a:avLst>
          </a:prstGeom>
          <a:solidFill>
            <a:srgbClr val="3FB95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3" name="Text 11"/>
          <p:cNvSpPr txBox="1"/>
          <p:nvPr/>
        </p:nvSpPr>
        <p:spPr>
          <a:xfrm>
            <a:off x="7836408" y="3767328"/>
            <a:ext cx="26517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3FB95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never read it  →  survives</a:t>
            </a:r>
            <a:endParaRPr lang="en-US" sz="1100" dirty="0"/>
          </a:p>
        </p:txBody>
      </p:sp>
      <p:sp>
        <p:nvSpPr>
          <p:cNvPr id="14" name="Text 12"/>
          <p:cNvSpPr txBox="1"/>
          <p:nvPr/>
        </p:nvSpPr>
        <p:spPr>
          <a:xfrm>
            <a:off x="777240" y="4279392"/>
            <a:ext cx="146304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8B949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search_flights</a:t>
            </a:r>
            <a:endParaRPr lang="en-US" sz="1050" dirty="0"/>
          </a:p>
        </p:txBody>
      </p:sp>
      <p:sp>
        <p:nvSpPr>
          <p:cNvPr id="15" name="Shape 13"/>
          <p:cNvSpPr/>
          <p:nvPr/>
        </p:nvSpPr>
        <p:spPr>
          <a:xfrm>
            <a:off x="5669280" y="4297680"/>
            <a:ext cx="3017520" cy="219456"/>
          </a:xfrm>
          <a:prstGeom prst="roundRect">
            <a:avLst>
              <a:gd name="adj" fmla="val 208333"/>
            </a:avLst>
          </a:prstGeom>
          <a:solidFill>
            <a:srgbClr val="A371F7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6" name="Text 14"/>
          <p:cNvSpPr txBox="1"/>
          <p:nvPr/>
        </p:nvSpPr>
        <p:spPr>
          <a:xfrm>
            <a:off x="8796528" y="4279392"/>
            <a:ext cx="26517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A371F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re-planned on the new value</a:t>
            </a:r>
            <a:endParaRPr lang="en-US" sz="1100" dirty="0"/>
          </a:p>
        </p:txBody>
      </p:sp>
      <p:sp>
        <p:nvSpPr>
          <p:cNvPr id="17" name="Text 15"/>
          <p:cNvSpPr txBox="1"/>
          <p:nvPr/>
        </p:nvSpPr>
        <p:spPr>
          <a:xfrm>
            <a:off x="777240" y="4590288"/>
            <a:ext cx="106070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i="1" dirty="0">
                <a:solidFill>
                  <a:srgbClr val="6E768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pipeline flush kills the hotel search too — and gains nothing for it.</a:t>
            </a:r>
            <a:endParaRPr lang="en-US" sz="1200" dirty="0"/>
          </a:p>
        </p:txBody>
      </p:sp>
      <p:sp>
        <p:nvSpPr>
          <p:cNvPr id="18" name="Text 16"/>
          <p:cNvSpPr txBox="1"/>
          <p:nvPr/>
        </p:nvSpPr>
        <p:spPr>
          <a:xfrm>
            <a:off x="548640" y="5257800"/>
            <a:ext cx="110642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2200"/>
              </a:lnSpc>
              <a:buNone/>
            </a:pPr>
            <a:r>
              <a:rPr lang="en-US" sz="1400" dirty="0">
                <a:solidFill>
                  <a:srgbClr val="E6EDF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Over-cancelling scores as badly as under-cancelling: task completion (40%) falls while nothing is gained on interruption recovery (35%).</a:t>
            </a:r>
            <a:endParaRPr lang="en-US" sz="14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0E1116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384048"/>
            <a:ext cx="110642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200" kern="0" dirty="0">
                <a:solidFill>
                  <a:srgbClr val="58A6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WHY THE TAXONOMY IS A MATRIX</a:t>
            </a:r>
            <a:endParaRPr lang="en-US" sz="12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676656"/>
            <a:ext cx="1106424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400" b="1" dirty="0">
                <a:solidFill>
                  <a:srgbClr val="E6EDF3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An interruption forces two decisions, not one</a:t>
            </a:r>
            <a:endParaRPr lang="en-US" sz="3400" dirty="0"/>
          </a:p>
        </p:txBody>
      </p:sp>
      <p:sp>
        <p:nvSpPr>
          <p:cNvPr id="4" name="Text 2"/>
          <p:cNvSpPr txBox="1"/>
          <p:nvPr/>
        </p:nvSpPr>
        <p:spPr>
          <a:xfrm>
            <a:off x="548640" y="1572768"/>
            <a:ext cx="110642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2200"/>
              </a:lnSpc>
              <a:buNone/>
            </a:pPr>
            <a:r>
              <a:rPr lang="en-US" sz="1500" dirty="0">
                <a:solidFill>
                  <a:srgbClr val="8B949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Floor policy is what happens to our voice. Work policy is what happens to our in-flight tool calls. They are independent. The naive system is the diagonal — yield implies cancel everything — and the score lives off it.</a:t>
            </a:r>
            <a:endParaRPr lang="en-US" sz="1500" dirty="0"/>
          </a:p>
        </p:txBody>
      </p:sp>
      <p:sp>
        <p:nvSpPr>
          <p:cNvPr id="5" name="Text 3"/>
          <p:cNvSpPr txBox="1"/>
          <p:nvPr/>
        </p:nvSpPr>
        <p:spPr>
          <a:xfrm>
            <a:off x="2788920" y="2606040"/>
            <a:ext cx="28346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50" b="1" spc="100" kern="0" dirty="0">
                <a:solidFill>
                  <a:srgbClr val="58A6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KEEP ALL WORK</a:t>
            </a:r>
            <a:endParaRPr lang="en-US" sz="1150" dirty="0"/>
          </a:p>
        </p:txBody>
      </p:sp>
      <p:sp>
        <p:nvSpPr>
          <p:cNvPr id="6" name="Text 4"/>
          <p:cNvSpPr txBox="1"/>
          <p:nvPr/>
        </p:nvSpPr>
        <p:spPr>
          <a:xfrm>
            <a:off x="5760720" y="2606040"/>
            <a:ext cx="28346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50" b="1" spc="100" kern="0" dirty="0">
                <a:solidFill>
                  <a:srgbClr val="58A6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SELECTIVE CANCEL</a:t>
            </a:r>
            <a:endParaRPr lang="en-US" sz="1150" dirty="0"/>
          </a:p>
        </p:txBody>
      </p:sp>
      <p:sp>
        <p:nvSpPr>
          <p:cNvPr id="7" name="Text 5"/>
          <p:cNvSpPr txBox="1"/>
          <p:nvPr/>
        </p:nvSpPr>
        <p:spPr>
          <a:xfrm>
            <a:off x="8732520" y="2606040"/>
            <a:ext cx="28346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50" b="1" spc="100" kern="0" dirty="0">
                <a:solidFill>
                  <a:srgbClr val="58A6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CANCEL ALL WORK</a:t>
            </a:r>
            <a:endParaRPr lang="en-US" sz="1150" dirty="0"/>
          </a:p>
        </p:txBody>
      </p:sp>
      <p:sp>
        <p:nvSpPr>
          <p:cNvPr id="8" name="Text 6"/>
          <p:cNvSpPr txBox="1"/>
          <p:nvPr/>
        </p:nvSpPr>
        <p:spPr>
          <a:xfrm>
            <a:off x="548640" y="3063240"/>
            <a:ext cx="20574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lnSpc>
                <a:spcPts val="1600"/>
              </a:lnSpc>
              <a:buNone/>
            </a:pPr>
            <a:r>
              <a:rPr lang="en-US" sz="1200" b="1" dirty="0">
                <a:solidFill>
                  <a:srgbClr val="58A6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CONTINUE</a:t>
            </a:r>
            <a:endParaRPr lang="en-US" sz="1200" dirty="0"/>
          </a:p>
          <a:p>
            <a:pPr algn="r" indent="0" marL="0">
              <a:lnSpc>
                <a:spcPts val="1600"/>
              </a:lnSpc>
              <a:buNone/>
            </a:pPr>
            <a:r>
              <a:rPr lang="en-US" sz="1200" b="1" dirty="0">
                <a:solidFill>
                  <a:srgbClr val="58A6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speaking</a:t>
            </a:r>
            <a:endParaRPr lang="en-US" sz="1200" dirty="0"/>
          </a:p>
        </p:txBody>
      </p:sp>
      <p:sp>
        <p:nvSpPr>
          <p:cNvPr id="9" name="Text 7"/>
          <p:cNvSpPr txBox="1"/>
          <p:nvPr/>
        </p:nvSpPr>
        <p:spPr>
          <a:xfrm>
            <a:off x="548640" y="3977640"/>
            <a:ext cx="20574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lnSpc>
                <a:spcPts val="1600"/>
              </a:lnSpc>
              <a:buNone/>
            </a:pPr>
            <a:r>
              <a:rPr lang="en-US" sz="1200" b="1" dirty="0">
                <a:solidFill>
                  <a:srgbClr val="58A6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ADAPT</a:t>
            </a:r>
            <a:endParaRPr lang="en-US" sz="1200" dirty="0"/>
          </a:p>
          <a:p>
            <a:pPr algn="r" indent="0" marL="0">
              <a:lnSpc>
                <a:spcPts val="1600"/>
              </a:lnSpc>
              <a:buNone/>
            </a:pPr>
            <a:r>
              <a:rPr lang="en-US" sz="1200" b="1" dirty="0">
                <a:solidFill>
                  <a:srgbClr val="58A6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utterance</a:t>
            </a:r>
            <a:endParaRPr lang="en-US" sz="1200" dirty="0"/>
          </a:p>
        </p:txBody>
      </p:sp>
      <p:sp>
        <p:nvSpPr>
          <p:cNvPr id="10" name="Text 8"/>
          <p:cNvSpPr txBox="1"/>
          <p:nvPr/>
        </p:nvSpPr>
        <p:spPr>
          <a:xfrm>
            <a:off x="548640" y="4892040"/>
            <a:ext cx="20574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lnSpc>
                <a:spcPts val="1600"/>
              </a:lnSpc>
              <a:buNone/>
            </a:pPr>
            <a:r>
              <a:rPr lang="en-US" sz="1200" b="1" dirty="0">
                <a:solidFill>
                  <a:srgbClr val="58A6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YIELD</a:t>
            </a:r>
            <a:endParaRPr lang="en-US" sz="1200" dirty="0"/>
          </a:p>
          <a:p>
            <a:pPr algn="r" indent="0" marL="0">
              <a:lnSpc>
                <a:spcPts val="1600"/>
              </a:lnSpc>
              <a:buNone/>
            </a:pPr>
            <a:r>
              <a:rPr lang="en-US" sz="1200" b="1" dirty="0">
                <a:solidFill>
                  <a:srgbClr val="58A6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floor</a:t>
            </a:r>
            <a:endParaRPr lang="en-US" sz="1200" dirty="0"/>
          </a:p>
        </p:txBody>
      </p:sp>
      <p:sp>
        <p:nvSpPr>
          <p:cNvPr id="11" name="Shape 9"/>
          <p:cNvSpPr/>
          <p:nvPr/>
        </p:nvSpPr>
        <p:spPr>
          <a:xfrm>
            <a:off x="2788920" y="3063240"/>
            <a:ext cx="2834640" cy="804672"/>
          </a:xfrm>
          <a:prstGeom prst="roundRect">
            <a:avLst>
              <a:gd name="adj" fmla="val 6818"/>
            </a:avLst>
          </a:prstGeom>
          <a:solidFill>
            <a:srgbClr val="161B22"/>
          </a:solidFill>
          <a:ln w="12700">
            <a:solidFill>
              <a:srgbClr val="2B323C"/>
            </a:solidFill>
            <a:prstDash val="solid"/>
          </a:ln>
          <a:effectLst>
            <a:outerShdw sx="100000" sy="100000" kx="0" ky="0" algn="bl" rotWithShape="0" blurRad="127000" dist="25400" dir="5400000">
              <a:srgbClr val="000000">
                <a:alpha val="35000"/>
              </a:srgbClr>
            </a:outerShdw>
          </a:effectLst>
        </p:spPr>
      </p:sp>
      <p:sp>
        <p:nvSpPr>
          <p:cNvPr id="12" name="Shape 10"/>
          <p:cNvSpPr/>
          <p:nvPr/>
        </p:nvSpPr>
        <p:spPr>
          <a:xfrm>
            <a:off x="2944368" y="3236976"/>
            <a:ext cx="118872" cy="118872"/>
          </a:xfrm>
          <a:prstGeom prst="roundRect">
            <a:avLst>
              <a:gd name="adj" fmla="val 307692"/>
            </a:avLst>
          </a:prstGeom>
          <a:solidFill>
            <a:srgbClr val="3FB950"/>
          </a:solidFill>
          <a:ln w="12700">
            <a:solidFill>
              <a:srgbClr val="3FB950"/>
            </a:solidFill>
            <a:prstDash val="solid"/>
          </a:ln>
        </p:spPr>
      </p:sp>
      <p:sp>
        <p:nvSpPr>
          <p:cNvPr id="13" name="Text 11"/>
          <p:cNvSpPr txBox="1"/>
          <p:nvPr/>
        </p:nvSpPr>
        <p:spPr>
          <a:xfrm>
            <a:off x="3136392" y="3172968"/>
            <a:ext cx="23317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E6EDF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SELF_REPAIR</a:t>
            </a:r>
            <a:endParaRPr lang="en-US" sz="1100" dirty="0"/>
          </a:p>
        </p:txBody>
      </p:sp>
      <p:sp>
        <p:nvSpPr>
          <p:cNvPr id="14" name="Text 12"/>
          <p:cNvSpPr txBox="1"/>
          <p:nvPr/>
        </p:nvSpPr>
        <p:spPr>
          <a:xfrm>
            <a:off x="2944368" y="3465576"/>
            <a:ext cx="2523744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i="1" dirty="0">
                <a:solidFill>
                  <a:srgbClr val="8B949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“book the… uh… the Tuesday one”</a:t>
            </a:r>
            <a:endParaRPr lang="en-US" sz="1050" dirty="0"/>
          </a:p>
        </p:txBody>
      </p:sp>
      <p:sp>
        <p:nvSpPr>
          <p:cNvPr id="15" name="Shape 13"/>
          <p:cNvSpPr/>
          <p:nvPr/>
        </p:nvSpPr>
        <p:spPr>
          <a:xfrm>
            <a:off x="2788920" y="3977640"/>
            <a:ext cx="2834640" cy="804672"/>
          </a:xfrm>
          <a:prstGeom prst="roundRect">
            <a:avLst>
              <a:gd name="adj" fmla="val 6818"/>
            </a:avLst>
          </a:prstGeom>
          <a:solidFill>
            <a:srgbClr val="161B22"/>
          </a:solidFill>
          <a:ln w="12700">
            <a:solidFill>
              <a:srgbClr val="2B323C"/>
            </a:solidFill>
            <a:prstDash val="solid"/>
          </a:ln>
          <a:effectLst>
            <a:outerShdw sx="100000" sy="100000" kx="0" ky="0" algn="bl" rotWithShape="0" blurRad="127000" dist="25400" dir="5400000">
              <a:srgbClr val="000000">
                <a:alpha val="35000"/>
              </a:srgbClr>
            </a:outerShdw>
          </a:effectLst>
        </p:spPr>
      </p:sp>
      <p:sp>
        <p:nvSpPr>
          <p:cNvPr id="16" name="Shape 14"/>
          <p:cNvSpPr/>
          <p:nvPr/>
        </p:nvSpPr>
        <p:spPr>
          <a:xfrm>
            <a:off x="2944368" y="4151376"/>
            <a:ext cx="118872" cy="118872"/>
          </a:xfrm>
          <a:prstGeom prst="roundRect">
            <a:avLst>
              <a:gd name="adj" fmla="val 307692"/>
            </a:avLst>
          </a:prstGeom>
          <a:solidFill>
            <a:srgbClr val="3FB950"/>
          </a:solidFill>
          <a:ln w="12700">
            <a:solidFill>
              <a:srgbClr val="3FB950"/>
            </a:solidFill>
            <a:prstDash val="solid"/>
          </a:ln>
        </p:spPr>
      </p:sp>
      <p:sp>
        <p:nvSpPr>
          <p:cNvPr id="17" name="Text 15"/>
          <p:cNvSpPr txBox="1"/>
          <p:nvPr/>
        </p:nvSpPr>
        <p:spPr>
          <a:xfrm>
            <a:off x="3136392" y="4087368"/>
            <a:ext cx="23317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E6EDF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REFINEMENT</a:t>
            </a:r>
            <a:endParaRPr lang="en-US" sz="1100" dirty="0"/>
          </a:p>
        </p:txBody>
      </p:sp>
      <p:sp>
        <p:nvSpPr>
          <p:cNvPr id="18" name="Text 16"/>
          <p:cNvSpPr txBox="1"/>
          <p:nvPr/>
        </p:nvSpPr>
        <p:spPr>
          <a:xfrm>
            <a:off x="2944368" y="4379976"/>
            <a:ext cx="2523744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i="1" dirty="0">
                <a:solidFill>
                  <a:srgbClr val="8B949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“make it morning flights only”</a:t>
            </a:r>
            <a:endParaRPr lang="en-US" sz="1050" dirty="0"/>
          </a:p>
        </p:txBody>
      </p:sp>
      <p:sp>
        <p:nvSpPr>
          <p:cNvPr id="19" name="Shape 17"/>
          <p:cNvSpPr/>
          <p:nvPr/>
        </p:nvSpPr>
        <p:spPr>
          <a:xfrm>
            <a:off x="2788920" y="4892040"/>
            <a:ext cx="2834640" cy="804672"/>
          </a:xfrm>
          <a:prstGeom prst="roundRect">
            <a:avLst>
              <a:gd name="adj" fmla="val 6818"/>
            </a:avLst>
          </a:prstGeom>
          <a:solidFill>
            <a:srgbClr val="161B22"/>
          </a:solidFill>
          <a:ln w="12700">
            <a:solidFill>
              <a:srgbClr val="2B323C"/>
            </a:solidFill>
            <a:prstDash val="solid"/>
          </a:ln>
          <a:effectLst>
            <a:outerShdw sx="100000" sy="100000" kx="0" ky="0" algn="bl" rotWithShape="0" blurRad="127000" dist="25400" dir="5400000">
              <a:srgbClr val="000000">
                <a:alpha val="35000"/>
              </a:srgbClr>
            </a:outerShdw>
          </a:effectLst>
        </p:spPr>
      </p:sp>
      <p:sp>
        <p:nvSpPr>
          <p:cNvPr id="20" name="Shape 18"/>
          <p:cNvSpPr/>
          <p:nvPr/>
        </p:nvSpPr>
        <p:spPr>
          <a:xfrm>
            <a:off x="2944368" y="5065776"/>
            <a:ext cx="118872" cy="118872"/>
          </a:xfrm>
          <a:prstGeom prst="roundRect">
            <a:avLst>
              <a:gd name="adj" fmla="val 307692"/>
            </a:avLst>
          </a:prstGeom>
          <a:solidFill>
            <a:srgbClr val="D29922"/>
          </a:solidFill>
          <a:ln w="12700">
            <a:solidFill>
              <a:srgbClr val="D29922"/>
            </a:solidFill>
            <a:prstDash val="solid"/>
          </a:ln>
        </p:spPr>
      </p:sp>
      <p:sp>
        <p:nvSpPr>
          <p:cNvPr id="21" name="Text 19"/>
          <p:cNvSpPr txBox="1"/>
          <p:nvPr/>
        </p:nvSpPr>
        <p:spPr>
          <a:xfrm>
            <a:off x="3136392" y="5001768"/>
            <a:ext cx="23317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E6EDF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BARGE_IN · REPEAT · BACKCHANNEL</a:t>
            </a:r>
            <a:endParaRPr lang="en-US" sz="1100" dirty="0"/>
          </a:p>
        </p:txBody>
      </p:sp>
      <p:sp>
        <p:nvSpPr>
          <p:cNvPr id="22" name="Text 20"/>
          <p:cNvSpPr txBox="1"/>
          <p:nvPr/>
        </p:nvSpPr>
        <p:spPr>
          <a:xfrm>
            <a:off x="2944368" y="5294376"/>
            <a:ext cx="2523744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i="1" dirty="0">
                <a:solidFill>
                  <a:srgbClr val="8B949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“hold on” · “say that again” · “mhm”</a:t>
            </a:r>
            <a:endParaRPr lang="en-US" sz="1050" dirty="0"/>
          </a:p>
        </p:txBody>
      </p:sp>
      <p:sp>
        <p:nvSpPr>
          <p:cNvPr id="23" name="Shape 21"/>
          <p:cNvSpPr/>
          <p:nvPr/>
        </p:nvSpPr>
        <p:spPr>
          <a:xfrm>
            <a:off x="5760720" y="4892040"/>
            <a:ext cx="2834640" cy="804672"/>
          </a:xfrm>
          <a:prstGeom prst="roundRect">
            <a:avLst>
              <a:gd name="adj" fmla="val 6818"/>
            </a:avLst>
          </a:prstGeom>
          <a:solidFill>
            <a:srgbClr val="161B22"/>
          </a:solidFill>
          <a:ln w="12700">
            <a:solidFill>
              <a:srgbClr val="2B323C"/>
            </a:solidFill>
            <a:prstDash val="solid"/>
          </a:ln>
          <a:effectLst>
            <a:outerShdw sx="100000" sy="100000" kx="0" ky="0" algn="bl" rotWithShape="0" blurRad="127000" dist="25400" dir="5400000">
              <a:srgbClr val="000000">
                <a:alpha val="35000"/>
              </a:srgbClr>
            </a:outerShdw>
          </a:effectLst>
        </p:spPr>
      </p:sp>
      <p:sp>
        <p:nvSpPr>
          <p:cNvPr id="24" name="Shape 22"/>
          <p:cNvSpPr/>
          <p:nvPr/>
        </p:nvSpPr>
        <p:spPr>
          <a:xfrm>
            <a:off x="5916168" y="5065776"/>
            <a:ext cx="118872" cy="118872"/>
          </a:xfrm>
          <a:prstGeom prst="roundRect">
            <a:avLst>
              <a:gd name="adj" fmla="val 307692"/>
            </a:avLst>
          </a:prstGeom>
          <a:solidFill>
            <a:srgbClr val="A371F7"/>
          </a:solidFill>
          <a:ln w="12700">
            <a:solidFill>
              <a:srgbClr val="A371F7"/>
            </a:solidFill>
            <a:prstDash val="solid"/>
          </a:ln>
        </p:spPr>
      </p:sp>
      <p:sp>
        <p:nvSpPr>
          <p:cNvPr id="25" name="Text 23"/>
          <p:cNvSpPr txBox="1"/>
          <p:nvPr/>
        </p:nvSpPr>
        <p:spPr>
          <a:xfrm>
            <a:off x="6108192" y="5001768"/>
            <a:ext cx="23317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E6EDF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SLOT_CORRECTION</a:t>
            </a:r>
            <a:endParaRPr lang="en-US" sz="1100" dirty="0"/>
          </a:p>
        </p:txBody>
      </p:sp>
      <p:sp>
        <p:nvSpPr>
          <p:cNvPr id="26" name="Text 24"/>
          <p:cNvSpPr txBox="1"/>
          <p:nvPr/>
        </p:nvSpPr>
        <p:spPr>
          <a:xfrm>
            <a:off x="5916168" y="5294376"/>
            <a:ext cx="2523744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i="1" dirty="0">
                <a:solidFill>
                  <a:srgbClr val="8B949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“…to Delhi — no, Mumbai”</a:t>
            </a:r>
            <a:endParaRPr lang="en-US" sz="1050" dirty="0"/>
          </a:p>
        </p:txBody>
      </p:sp>
      <p:sp>
        <p:nvSpPr>
          <p:cNvPr id="27" name="Shape 25"/>
          <p:cNvSpPr/>
          <p:nvPr/>
        </p:nvSpPr>
        <p:spPr>
          <a:xfrm>
            <a:off x="8732520" y="4892040"/>
            <a:ext cx="2834640" cy="804672"/>
          </a:xfrm>
          <a:prstGeom prst="roundRect">
            <a:avLst>
              <a:gd name="adj" fmla="val 6818"/>
            </a:avLst>
          </a:prstGeom>
          <a:solidFill>
            <a:srgbClr val="161B22"/>
          </a:solidFill>
          <a:ln w="12700">
            <a:solidFill>
              <a:srgbClr val="2B323C"/>
            </a:solidFill>
            <a:prstDash val="solid"/>
          </a:ln>
          <a:effectLst>
            <a:outerShdw sx="100000" sy="100000" kx="0" ky="0" algn="bl" rotWithShape="0" blurRad="127000" dist="25400" dir="5400000">
              <a:srgbClr val="000000">
                <a:alpha val="35000"/>
              </a:srgbClr>
            </a:outerShdw>
          </a:effectLst>
        </p:spPr>
      </p:sp>
      <p:sp>
        <p:nvSpPr>
          <p:cNvPr id="28" name="Shape 26"/>
          <p:cNvSpPr/>
          <p:nvPr/>
        </p:nvSpPr>
        <p:spPr>
          <a:xfrm>
            <a:off x="8887968" y="5065776"/>
            <a:ext cx="118872" cy="118872"/>
          </a:xfrm>
          <a:prstGeom prst="roundRect">
            <a:avLst>
              <a:gd name="adj" fmla="val 307692"/>
            </a:avLst>
          </a:prstGeom>
          <a:solidFill>
            <a:srgbClr val="F85149"/>
          </a:solidFill>
          <a:ln w="12700">
            <a:solidFill>
              <a:srgbClr val="F85149"/>
            </a:solidFill>
            <a:prstDash val="solid"/>
          </a:ln>
        </p:spPr>
      </p:sp>
      <p:sp>
        <p:nvSpPr>
          <p:cNvPr id="29" name="Text 27"/>
          <p:cNvSpPr txBox="1"/>
          <p:nvPr/>
        </p:nvSpPr>
        <p:spPr>
          <a:xfrm>
            <a:off x="9079992" y="5001768"/>
            <a:ext cx="23317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E6EDF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GOAL_SWITCH</a:t>
            </a:r>
            <a:endParaRPr lang="en-US" sz="1100" dirty="0"/>
          </a:p>
        </p:txBody>
      </p:sp>
      <p:sp>
        <p:nvSpPr>
          <p:cNvPr id="30" name="Text 28"/>
          <p:cNvSpPr txBox="1"/>
          <p:nvPr/>
        </p:nvSpPr>
        <p:spPr>
          <a:xfrm>
            <a:off x="8887968" y="5294376"/>
            <a:ext cx="2523744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i="1" dirty="0">
                <a:solidFill>
                  <a:srgbClr val="8B949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“forget flights, find a hotel”</a:t>
            </a:r>
            <a:endParaRPr lang="en-US" sz="1050" dirty="0"/>
          </a:p>
        </p:txBody>
      </p:sp>
      <p:sp>
        <p:nvSpPr>
          <p:cNvPr id="31" name="Text 29"/>
          <p:cNvSpPr txBox="1"/>
          <p:nvPr/>
        </p:nvSpPr>
        <p:spPr>
          <a:xfrm>
            <a:off x="548640" y="5870448"/>
            <a:ext cx="110642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700"/>
              </a:lnSpc>
              <a:buNone/>
            </a:pPr>
            <a:r>
              <a:rPr lang="en-US" sz="1250" dirty="0">
                <a:solidFill>
                  <a:srgbClr val="D299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amber cell is where every framework we surveyed is wrong: yield the floor, keep every call. Cancelling there throws away valid work — and re-running it afterwards is the “stale re-run” the 35% block penalises.</a:t>
            </a:r>
            <a:endParaRPr lang="en-US" sz="125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0E1116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384048"/>
            <a:ext cx="110642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200" kern="0" dirty="0">
                <a:solidFill>
                  <a:srgbClr val="58A6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FAST PATH, SLOW PATH, ONE TRACE</a:t>
            </a:r>
            <a:endParaRPr lang="en-US" sz="12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676656"/>
            <a:ext cx="1106424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400" b="1" dirty="0">
                <a:solidFill>
                  <a:srgbClr val="E6EDF3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Architecture</a:t>
            </a:r>
            <a:endParaRPr lang="en-US" sz="3400" dirty="0"/>
          </a:p>
        </p:txBody>
      </p:sp>
      <p:sp>
        <p:nvSpPr>
          <p:cNvPr id="4" name="Shape 2"/>
          <p:cNvSpPr/>
          <p:nvPr/>
        </p:nvSpPr>
        <p:spPr>
          <a:xfrm>
            <a:off x="548640" y="1572768"/>
            <a:ext cx="8686800" cy="475488"/>
          </a:xfrm>
          <a:prstGeom prst="roundRect">
            <a:avLst>
              <a:gd name="adj" fmla="val 11538"/>
            </a:avLst>
          </a:prstGeom>
          <a:solidFill>
            <a:srgbClr val="161B22"/>
          </a:solidFill>
          <a:ln w="12700">
            <a:solidFill>
              <a:srgbClr val="2B323C"/>
            </a:solidFill>
            <a:prstDash val="solid"/>
          </a:ln>
          <a:effectLst>
            <a:outerShdw sx="100000" sy="100000" kx="0" ky="0" algn="bl" rotWithShape="0" blurRad="127000" dist="25400" dir="5400000">
              <a:srgbClr val="000000">
                <a:alpha val="35000"/>
              </a:srgbClr>
            </a:outerShdw>
          </a:effectLst>
        </p:spPr>
      </p:sp>
      <p:sp>
        <p:nvSpPr>
          <p:cNvPr id="5" name="Shape 3"/>
          <p:cNvSpPr/>
          <p:nvPr/>
        </p:nvSpPr>
        <p:spPr>
          <a:xfrm>
            <a:off x="749808" y="1719072"/>
            <a:ext cx="118872" cy="118872"/>
          </a:xfrm>
          <a:prstGeom prst="roundRect">
            <a:avLst>
              <a:gd name="adj" fmla="val 307692"/>
            </a:avLst>
          </a:prstGeom>
          <a:solidFill>
            <a:srgbClr val="58A6FF"/>
          </a:solidFill>
          <a:ln w="12700">
            <a:solidFill>
              <a:srgbClr val="58A6FF"/>
            </a:solidFill>
            <a:prstDash val="solid"/>
          </a:ln>
        </p:spPr>
      </p:sp>
      <p:sp>
        <p:nvSpPr>
          <p:cNvPr id="6" name="Text 4"/>
          <p:cNvSpPr txBox="1"/>
          <p:nvPr/>
        </p:nvSpPr>
        <p:spPr>
          <a:xfrm>
            <a:off x="941832" y="1655064"/>
            <a:ext cx="81381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spc="60" kern="0" dirty="0">
                <a:solidFill>
                  <a:srgbClr val="58A6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EVENTS IN</a:t>
            </a:r>
            <a:endParaRPr lang="en-US" sz="1150" dirty="0"/>
          </a:p>
        </p:txBody>
      </p:sp>
      <p:sp>
        <p:nvSpPr>
          <p:cNvPr id="7" name="Text 5"/>
          <p:cNvSpPr txBox="1"/>
          <p:nvPr/>
        </p:nvSpPr>
        <p:spPr>
          <a:xfrm>
            <a:off x="941832" y="1901952"/>
            <a:ext cx="8138160" cy="914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500"/>
              </a:lnSpc>
              <a:buNone/>
            </a:pPr>
            <a:r>
              <a:rPr lang="en-US" sz="1100" dirty="0">
                <a:solidFill>
                  <a:srgbClr val="8B949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transcript chunks   ·   WAV clips   ·   PNG frames   ·   interrupt signals   ·   tool results   ·   tool manifest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548640" y="2304288"/>
            <a:ext cx="8686800" cy="932688"/>
          </a:xfrm>
          <a:prstGeom prst="roundRect">
            <a:avLst>
              <a:gd name="adj" fmla="val 5882"/>
            </a:avLst>
          </a:prstGeom>
          <a:solidFill>
            <a:srgbClr val="161B22"/>
          </a:solidFill>
          <a:ln w="12700">
            <a:solidFill>
              <a:srgbClr val="2B323C"/>
            </a:solidFill>
            <a:prstDash val="solid"/>
          </a:ln>
          <a:effectLst>
            <a:outerShdw sx="100000" sy="100000" kx="0" ky="0" algn="bl" rotWithShape="0" blurRad="127000" dist="25400" dir="5400000">
              <a:srgbClr val="000000">
                <a:alpha val="35000"/>
              </a:srgbClr>
            </a:outerShdw>
          </a:effectLst>
        </p:spPr>
      </p:sp>
      <p:sp>
        <p:nvSpPr>
          <p:cNvPr id="9" name="Shape 7"/>
          <p:cNvSpPr/>
          <p:nvPr/>
        </p:nvSpPr>
        <p:spPr>
          <a:xfrm>
            <a:off x="749808" y="2450592"/>
            <a:ext cx="118872" cy="118872"/>
          </a:xfrm>
          <a:prstGeom prst="roundRect">
            <a:avLst>
              <a:gd name="adj" fmla="val 307692"/>
            </a:avLst>
          </a:prstGeom>
          <a:solidFill>
            <a:srgbClr val="3FB950"/>
          </a:solidFill>
          <a:ln w="12700">
            <a:solidFill>
              <a:srgbClr val="3FB950"/>
            </a:solidFill>
            <a:prstDash val="solid"/>
          </a:ln>
        </p:spPr>
      </p:sp>
      <p:sp>
        <p:nvSpPr>
          <p:cNvPr id="10" name="Text 8"/>
          <p:cNvSpPr txBox="1"/>
          <p:nvPr/>
        </p:nvSpPr>
        <p:spPr>
          <a:xfrm>
            <a:off x="941832" y="2386584"/>
            <a:ext cx="81381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spc="60" kern="0" dirty="0">
                <a:solidFill>
                  <a:srgbClr val="3FB95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FAST PATH — pure Python, zero inference</a:t>
            </a:r>
            <a:endParaRPr lang="en-US" sz="1150" dirty="0"/>
          </a:p>
        </p:txBody>
      </p:sp>
      <p:sp>
        <p:nvSpPr>
          <p:cNvPr id="11" name="Text 9"/>
          <p:cNvSpPr txBox="1"/>
          <p:nvPr/>
        </p:nvSpPr>
        <p:spPr>
          <a:xfrm>
            <a:off x="941832" y="2633472"/>
            <a:ext cx="81381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500"/>
              </a:lnSpc>
              <a:buNone/>
            </a:pPr>
            <a:r>
              <a:rPr lang="en-US" sz="1050" dirty="0">
                <a:solidFill>
                  <a:srgbClr val="8B949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Interpreter  rules + learned classifier over one feature vector</a:t>
            </a:r>
            <a:endParaRPr lang="en-US" sz="1050" dirty="0"/>
          </a:p>
          <a:p>
            <a:pPr indent="0" marL="0">
              <a:lnSpc>
                <a:spcPts val="1500"/>
              </a:lnSpc>
              <a:buNone/>
            </a:pPr>
            <a:r>
              <a:rPr lang="en-US" sz="1050" dirty="0">
                <a:solidFill>
                  <a:srgbClr val="8B949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FloorManager  provable-speech gate · filler rationing</a:t>
            </a:r>
            <a:endParaRPr lang="en-US" sz="1050" dirty="0"/>
          </a:p>
        </p:txBody>
      </p:sp>
      <p:sp>
        <p:nvSpPr>
          <p:cNvPr id="12" name="Shape 10"/>
          <p:cNvSpPr/>
          <p:nvPr/>
        </p:nvSpPr>
        <p:spPr>
          <a:xfrm>
            <a:off x="548640" y="3493008"/>
            <a:ext cx="8686800" cy="1115568"/>
          </a:xfrm>
          <a:prstGeom prst="roundRect">
            <a:avLst>
              <a:gd name="adj" fmla="val 4918"/>
            </a:avLst>
          </a:prstGeom>
          <a:solidFill>
            <a:srgbClr val="161B22"/>
          </a:solidFill>
          <a:ln w="12700">
            <a:solidFill>
              <a:srgbClr val="2B323C"/>
            </a:solidFill>
            <a:prstDash val="solid"/>
          </a:ln>
          <a:effectLst>
            <a:outerShdw sx="100000" sy="100000" kx="0" ky="0" algn="bl" rotWithShape="0" blurRad="127000" dist="25400" dir="5400000">
              <a:srgbClr val="000000">
                <a:alpha val="35000"/>
              </a:srgbClr>
            </a:outerShdw>
          </a:effectLst>
        </p:spPr>
      </p:sp>
      <p:sp>
        <p:nvSpPr>
          <p:cNvPr id="13" name="Shape 11"/>
          <p:cNvSpPr/>
          <p:nvPr/>
        </p:nvSpPr>
        <p:spPr>
          <a:xfrm>
            <a:off x="749808" y="3639312"/>
            <a:ext cx="118872" cy="118872"/>
          </a:xfrm>
          <a:prstGeom prst="roundRect">
            <a:avLst>
              <a:gd name="adj" fmla="val 307692"/>
            </a:avLst>
          </a:prstGeom>
          <a:solidFill>
            <a:srgbClr val="A371F7"/>
          </a:solidFill>
          <a:ln w="12700">
            <a:solidFill>
              <a:srgbClr val="A371F7"/>
            </a:solidFill>
            <a:prstDash val="solid"/>
          </a:ln>
        </p:spPr>
      </p:sp>
      <p:sp>
        <p:nvSpPr>
          <p:cNvPr id="14" name="Text 12"/>
          <p:cNvSpPr txBox="1"/>
          <p:nvPr/>
        </p:nvSpPr>
        <p:spPr>
          <a:xfrm>
            <a:off x="941832" y="3575304"/>
            <a:ext cx="81381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spc="60" kern="0" dirty="0">
                <a:solidFill>
                  <a:srgbClr val="A371F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COORDINATION KERNEL — 75% of the score is decided here</a:t>
            </a:r>
            <a:endParaRPr lang="en-US" sz="1150" dirty="0"/>
          </a:p>
        </p:txBody>
      </p:sp>
      <p:sp>
        <p:nvSpPr>
          <p:cNvPr id="15" name="Text 13"/>
          <p:cNvSpPr txBox="1"/>
          <p:nvPr/>
        </p:nvSpPr>
        <p:spPr>
          <a:xfrm>
            <a:off x="941832" y="3822192"/>
            <a:ext cx="813816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500"/>
              </a:lnSpc>
              <a:buNone/>
            </a:pPr>
            <a:r>
              <a:rPr lang="en-US" sz="1050" dirty="0">
                <a:solidFill>
                  <a:srgbClr val="8B949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CallRegistry  slot → in-flight readers index</a:t>
            </a:r>
            <a:endParaRPr lang="en-US" sz="1050" dirty="0"/>
          </a:p>
          <a:p>
            <a:pPr indent="0" marL="0">
              <a:lnSpc>
                <a:spcPts val="1500"/>
              </a:lnSpc>
              <a:buNone/>
            </a:pPr>
            <a:r>
              <a:rPr lang="en-US" sz="1050" dirty="0">
                <a:solidFill>
                  <a:srgbClr val="8B949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Dispatcher  cancellation-safe dispatch · join · supersede</a:t>
            </a:r>
            <a:endParaRPr lang="en-US" sz="1050" dirty="0"/>
          </a:p>
          <a:p>
            <a:pPr indent="0" marL="0">
              <a:lnSpc>
                <a:spcPts val="1500"/>
              </a:lnSpc>
              <a:buNone/>
            </a:pPr>
            <a:r>
              <a:rPr lang="en-US" sz="1050" dirty="0">
                <a:solidFill>
                  <a:srgbClr val="8B949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IdempotencyLedger  claimed BEFORE dispatch · verify → compensate → or disclose</a:t>
            </a:r>
            <a:endParaRPr lang="en-US" sz="1050" dirty="0"/>
          </a:p>
        </p:txBody>
      </p:sp>
      <p:sp>
        <p:nvSpPr>
          <p:cNvPr id="16" name="Shape 14"/>
          <p:cNvSpPr/>
          <p:nvPr/>
        </p:nvSpPr>
        <p:spPr>
          <a:xfrm>
            <a:off x="548640" y="4864608"/>
            <a:ext cx="8686800" cy="749808"/>
          </a:xfrm>
          <a:prstGeom prst="roundRect">
            <a:avLst>
              <a:gd name="adj" fmla="val 7317"/>
            </a:avLst>
          </a:prstGeom>
          <a:solidFill>
            <a:srgbClr val="161B22"/>
          </a:solidFill>
          <a:ln w="12700">
            <a:solidFill>
              <a:srgbClr val="2B323C"/>
            </a:solidFill>
            <a:prstDash val="solid"/>
          </a:ln>
          <a:effectLst>
            <a:outerShdw sx="100000" sy="100000" kx="0" ky="0" algn="bl" rotWithShape="0" blurRad="127000" dist="25400" dir="5400000">
              <a:srgbClr val="000000">
                <a:alpha val="35000"/>
              </a:srgbClr>
            </a:outerShdw>
          </a:effectLst>
        </p:spPr>
      </p:sp>
      <p:sp>
        <p:nvSpPr>
          <p:cNvPr id="17" name="Shape 15"/>
          <p:cNvSpPr/>
          <p:nvPr/>
        </p:nvSpPr>
        <p:spPr>
          <a:xfrm>
            <a:off x="749808" y="5010912"/>
            <a:ext cx="118872" cy="118872"/>
          </a:xfrm>
          <a:prstGeom prst="roundRect">
            <a:avLst>
              <a:gd name="adj" fmla="val 307692"/>
            </a:avLst>
          </a:prstGeom>
          <a:solidFill>
            <a:srgbClr val="D29922"/>
          </a:solidFill>
          <a:ln w="12700">
            <a:solidFill>
              <a:srgbClr val="D29922"/>
            </a:solidFill>
            <a:prstDash val="solid"/>
          </a:ln>
        </p:spPr>
      </p:sp>
      <p:sp>
        <p:nvSpPr>
          <p:cNvPr id="18" name="Text 16"/>
          <p:cNvSpPr txBox="1"/>
          <p:nvPr/>
        </p:nvSpPr>
        <p:spPr>
          <a:xfrm>
            <a:off x="941832" y="4946904"/>
            <a:ext cx="81381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spc="60" kern="0" dirty="0">
                <a:solidFill>
                  <a:srgbClr val="D299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SLOW PATH — never blocks the fast path</a:t>
            </a:r>
            <a:endParaRPr lang="en-US" sz="1150" dirty="0"/>
          </a:p>
        </p:txBody>
      </p:sp>
      <p:sp>
        <p:nvSpPr>
          <p:cNvPr id="19" name="Text 17"/>
          <p:cNvSpPr txBox="1"/>
          <p:nvPr/>
        </p:nvSpPr>
        <p:spPr>
          <a:xfrm>
            <a:off x="941832" y="5193792"/>
            <a:ext cx="81381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500"/>
              </a:lnSpc>
              <a:buNone/>
            </a:pPr>
            <a:r>
              <a:rPr lang="en-US" sz="1050" dirty="0">
                <a:solidFill>
                  <a:srgbClr val="8B949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Planner  manifest-driven · speculative before end-of-turn</a:t>
            </a:r>
            <a:endParaRPr lang="en-US" sz="1050" dirty="0"/>
          </a:p>
          <a:p>
            <a:pPr indent="0" marL="0">
              <a:lnSpc>
                <a:spcPts val="1500"/>
              </a:lnSpc>
              <a:buNone/>
            </a:pPr>
            <a:r>
              <a:rPr lang="en-US" sz="1050" dirty="0">
                <a:solidFill>
                  <a:srgbClr val="8B949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Perception  PNG/WAV → features → calibrated softmax + abstention</a:t>
            </a:r>
            <a:endParaRPr lang="en-US" sz="1050" dirty="0"/>
          </a:p>
        </p:txBody>
      </p:sp>
      <p:sp>
        <p:nvSpPr>
          <p:cNvPr id="20" name="Shape 18"/>
          <p:cNvSpPr/>
          <p:nvPr/>
        </p:nvSpPr>
        <p:spPr>
          <a:xfrm>
            <a:off x="548640" y="5870448"/>
            <a:ext cx="8686800" cy="475488"/>
          </a:xfrm>
          <a:prstGeom prst="roundRect">
            <a:avLst>
              <a:gd name="adj" fmla="val 11538"/>
            </a:avLst>
          </a:prstGeom>
          <a:solidFill>
            <a:srgbClr val="161B22"/>
          </a:solidFill>
          <a:ln w="12700">
            <a:solidFill>
              <a:srgbClr val="2B323C"/>
            </a:solidFill>
            <a:prstDash val="solid"/>
          </a:ln>
          <a:effectLst>
            <a:outerShdw sx="100000" sy="100000" kx="0" ky="0" algn="bl" rotWithShape="0" blurRad="127000" dist="25400" dir="5400000">
              <a:srgbClr val="000000">
                <a:alpha val="35000"/>
              </a:srgbClr>
            </a:outerShdw>
          </a:effectLst>
        </p:spPr>
      </p:sp>
      <p:sp>
        <p:nvSpPr>
          <p:cNvPr id="21" name="Shape 19"/>
          <p:cNvSpPr/>
          <p:nvPr/>
        </p:nvSpPr>
        <p:spPr>
          <a:xfrm>
            <a:off x="749808" y="6016752"/>
            <a:ext cx="118872" cy="118872"/>
          </a:xfrm>
          <a:prstGeom prst="roundRect">
            <a:avLst>
              <a:gd name="adj" fmla="val 307692"/>
            </a:avLst>
          </a:prstGeom>
          <a:solidFill>
            <a:srgbClr val="58A6FF"/>
          </a:solidFill>
          <a:ln w="12700">
            <a:solidFill>
              <a:srgbClr val="58A6FF"/>
            </a:solidFill>
            <a:prstDash val="solid"/>
          </a:ln>
        </p:spPr>
      </p:sp>
      <p:sp>
        <p:nvSpPr>
          <p:cNvPr id="22" name="Text 20"/>
          <p:cNvSpPr txBox="1"/>
          <p:nvPr/>
        </p:nvSpPr>
        <p:spPr>
          <a:xfrm>
            <a:off x="941832" y="5952744"/>
            <a:ext cx="81381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spc="60" kern="0" dirty="0">
                <a:solidFill>
                  <a:srgbClr val="58A6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ACTIONS OUT</a:t>
            </a:r>
            <a:endParaRPr lang="en-US" sz="1150" dirty="0"/>
          </a:p>
        </p:txBody>
      </p:sp>
      <p:sp>
        <p:nvSpPr>
          <p:cNvPr id="23" name="Text 21"/>
          <p:cNvSpPr txBox="1"/>
          <p:nvPr/>
        </p:nvSpPr>
        <p:spPr>
          <a:xfrm>
            <a:off x="941832" y="6199632"/>
            <a:ext cx="8138160" cy="914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500"/>
              </a:lnSpc>
              <a:buNone/>
            </a:pPr>
            <a:r>
              <a:rPr lang="en-US" sz="1100" dirty="0">
                <a:solidFill>
                  <a:srgbClr val="8B949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speak   ·   tool_call   ·   cancel   ·   clarify   ·   final response + state snapshot</a:t>
            </a:r>
            <a:endParaRPr lang="en-US" sz="1100" dirty="0"/>
          </a:p>
        </p:txBody>
      </p:sp>
      <p:sp>
        <p:nvSpPr>
          <p:cNvPr id="24" name="Shape 22"/>
          <p:cNvSpPr/>
          <p:nvPr/>
        </p:nvSpPr>
        <p:spPr>
          <a:xfrm>
            <a:off x="4864608" y="2103120"/>
            <a:ext cx="18288" cy="164592"/>
          </a:xfrm>
          <a:prstGeom prst="rect">
            <a:avLst/>
          </a:prstGeom>
          <a:solidFill>
            <a:srgbClr val="6E7681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5" name="Shape 23"/>
          <p:cNvSpPr/>
          <p:nvPr/>
        </p:nvSpPr>
        <p:spPr>
          <a:xfrm>
            <a:off x="4864608" y="3291840"/>
            <a:ext cx="18288" cy="164592"/>
          </a:xfrm>
          <a:prstGeom prst="rect">
            <a:avLst/>
          </a:prstGeom>
          <a:solidFill>
            <a:srgbClr val="6E7681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6" name="Shape 24"/>
          <p:cNvSpPr/>
          <p:nvPr/>
        </p:nvSpPr>
        <p:spPr>
          <a:xfrm>
            <a:off x="4864608" y="4663440"/>
            <a:ext cx="18288" cy="164592"/>
          </a:xfrm>
          <a:prstGeom prst="rect">
            <a:avLst/>
          </a:prstGeom>
          <a:solidFill>
            <a:srgbClr val="6E7681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7" name="Shape 25"/>
          <p:cNvSpPr/>
          <p:nvPr/>
        </p:nvSpPr>
        <p:spPr>
          <a:xfrm>
            <a:off x="4864608" y="5669280"/>
            <a:ext cx="18288" cy="164592"/>
          </a:xfrm>
          <a:prstGeom prst="rect">
            <a:avLst/>
          </a:prstGeom>
          <a:solidFill>
            <a:srgbClr val="6E7681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8" name="Shape 26"/>
          <p:cNvSpPr/>
          <p:nvPr/>
        </p:nvSpPr>
        <p:spPr>
          <a:xfrm>
            <a:off x="9464040" y="1572768"/>
            <a:ext cx="2148840" cy="4773168"/>
          </a:xfrm>
          <a:prstGeom prst="roundRect">
            <a:avLst>
              <a:gd name="adj" fmla="val 2553"/>
            </a:avLst>
          </a:prstGeom>
          <a:solidFill>
            <a:srgbClr val="12181F"/>
          </a:solidFill>
          <a:ln w="12700">
            <a:solidFill>
              <a:srgbClr val="2B323C"/>
            </a:solidFill>
            <a:prstDash val="solid"/>
          </a:ln>
          <a:effectLst>
            <a:outerShdw sx="100000" sy="100000" kx="0" ky="0" algn="bl" rotWithShape="0" blurRad="127000" dist="25400" dir="5400000">
              <a:srgbClr val="000000">
                <a:alpha val="35000"/>
              </a:srgbClr>
            </a:outerShdw>
          </a:effectLst>
        </p:spPr>
      </p:sp>
      <p:sp>
        <p:nvSpPr>
          <p:cNvPr id="29" name="Text 27"/>
          <p:cNvSpPr txBox="1"/>
          <p:nvPr/>
        </p:nvSpPr>
        <p:spPr>
          <a:xfrm>
            <a:off x="9646920" y="1783080"/>
            <a:ext cx="17830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50" b="1" spc="100" kern="0" dirty="0">
                <a:solidFill>
                  <a:srgbClr val="E6EDF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ONE TRACE</a:t>
            </a:r>
            <a:endParaRPr lang="en-US" sz="1150" dirty="0"/>
          </a:p>
        </p:txBody>
      </p:sp>
      <p:sp>
        <p:nvSpPr>
          <p:cNvPr id="30" name="Text 28"/>
          <p:cNvSpPr txBox="1"/>
          <p:nvPr/>
        </p:nvSpPr>
        <p:spPr>
          <a:xfrm>
            <a:off x="9646920" y="2240280"/>
            <a:ext cx="1783080" cy="3108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500"/>
              </a:lnSpc>
              <a:buNone/>
            </a:pPr>
            <a:r>
              <a:rPr lang="en-US" sz="1050" dirty="0">
                <a:solidFill>
                  <a:srgbClr val="8B949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Every event, action and kernel decision, append-only, on one virtual clock.</a:t>
            </a:r>
            <a:endParaRPr lang="en-US" sz="1050" dirty="0"/>
          </a:p>
          <a:p>
            <a:pPr indent="0" marL="0">
              <a:lnSpc>
                <a:spcPts val="1500"/>
              </a:lnSpc>
              <a:buNone/>
            </a:pPr>
            <a:endParaRPr lang="en-US" sz="1050" dirty="0"/>
          </a:p>
          <a:p>
            <a:pPr indent="0" marL="0">
              <a:lnSpc>
                <a:spcPts val="1500"/>
              </a:lnSpc>
              <a:buNone/>
            </a:pPr>
            <a:r>
              <a:rPr lang="en-US" sz="1050" dirty="0">
                <a:solidFill>
                  <a:srgbClr val="8B949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Scoring reads trace logs — so the trace is not telemetry. It is the scoring surface.</a:t>
            </a:r>
            <a:endParaRPr lang="en-US" sz="1050" dirty="0"/>
          </a:p>
          <a:p>
            <a:pPr indent="0" marL="0">
              <a:lnSpc>
                <a:spcPts val="1500"/>
              </a:lnSpc>
              <a:buNone/>
            </a:pPr>
            <a:endParaRPr lang="en-US" sz="1050" dirty="0"/>
          </a:p>
          <a:p>
            <a:pPr indent="0" marL="0">
              <a:lnSpc>
                <a:spcPts val="1500"/>
              </a:lnSpc>
              <a:buNone/>
            </a:pPr>
            <a:r>
              <a:rPr lang="en-US" sz="1050" dirty="0">
                <a:solidFill>
                  <a:srgbClr val="8B949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An action that is not logged did not happen.</a:t>
            </a:r>
            <a:endParaRPr lang="en-US" sz="1050" dirty="0"/>
          </a:p>
        </p:txBody>
      </p:sp>
      <p:sp>
        <p:nvSpPr>
          <p:cNvPr id="31" name="Text 29"/>
          <p:cNvSpPr txBox="1"/>
          <p:nvPr/>
        </p:nvSpPr>
        <p:spPr>
          <a:xfrm>
            <a:off x="9646920" y="5806440"/>
            <a:ext cx="17830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i="1" dirty="0">
                <a:solidFill>
                  <a:srgbClr val="6E768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viz/timeline.html replays it</a:t>
            </a:r>
            <a:endParaRPr lang="en-US" sz="10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0E1116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384048"/>
            <a:ext cx="110642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200" kern="0" dirty="0">
                <a:solidFill>
                  <a:srgbClr val="58A6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WHERE 75% OF EVERY SCENARIO IS DECIDED</a:t>
            </a:r>
            <a:endParaRPr lang="en-US" sz="12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676656"/>
            <a:ext cx="1106424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400" b="1" dirty="0">
                <a:solidFill>
                  <a:srgbClr val="E6EDF3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Four guarantees in the kernel</a:t>
            </a:r>
            <a:endParaRPr lang="en-US" sz="3400" dirty="0"/>
          </a:p>
        </p:txBody>
      </p:sp>
      <p:sp>
        <p:nvSpPr>
          <p:cNvPr id="4" name="Shape 2"/>
          <p:cNvSpPr/>
          <p:nvPr/>
        </p:nvSpPr>
        <p:spPr>
          <a:xfrm>
            <a:off x="548640" y="1691640"/>
            <a:ext cx="5349240" cy="1965960"/>
          </a:xfrm>
          <a:prstGeom prst="roundRect">
            <a:avLst>
              <a:gd name="adj" fmla="val 2791"/>
            </a:avLst>
          </a:prstGeom>
          <a:solidFill>
            <a:srgbClr val="161B22"/>
          </a:solidFill>
          <a:ln w="12700">
            <a:solidFill>
              <a:srgbClr val="2B323C"/>
            </a:solidFill>
            <a:prstDash val="solid"/>
          </a:ln>
          <a:effectLst>
            <a:outerShdw sx="100000" sy="100000" kx="0" ky="0" algn="bl" rotWithShape="0" blurRad="127000" dist="25400" dir="5400000">
              <a:srgbClr val="000000">
                <a:alpha val="35000"/>
              </a:srgbClr>
            </a:outerShdw>
          </a:effectLst>
        </p:spPr>
      </p:sp>
      <p:sp>
        <p:nvSpPr>
          <p:cNvPr id="5" name="Shape 3"/>
          <p:cNvSpPr/>
          <p:nvPr/>
        </p:nvSpPr>
        <p:spPr>
          <a:xfrm>
            <a:off x="804672" y="1947672"/>
            <a:ext cx="384048" cy="384048"/>
          </a:xfrm>
          <a:prstGeom prst="ellipse">
            <a:avLst/>
          </a:prstGeom>
          <a:solidFill>
            <a:srgbClr val="3FB95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6" name="Text 4"/>
          <p:cNvSpPr txBox="1"/>
          <p:nvPr/>
        </p:nvSpPr>
        <p:spPr>
          <a:xfrm>
            <a:off x="804672" y="1965960"/>
            <a:ext cx="384048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0E111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</a:t>
            </a:r>
            <a:endParaRPr lang="en-US" sz="1500" dirty="0"/>
          </a:p>
        </p:txBody>
      </p:sp>
      <p:sp>
        <p:nvSpPr>
          <p:cNvPr id="7" name="Text 5"/>
          <p:cNvSpPr txBox="1"/>
          <p:nvPr/>
        </p:nvSpPr>
        <p:spPr>
          <a:xfrm>
            <a:off x="1325880" y="1947672"/>
            <a:ext cx="434340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E6EDF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Nothing leaves the trace unaccounted for</a:t>
            </a:r>
            <a:endParaRPr lang="en-US" sz="1450" dirty="0"/>
          </a:p>
        </p:txBody>
      </p:sp>
      <p:sp>
        <p:nvSpPr>
          <p:cNvPr id="8" name="Text 6"/>
          <p:cNvSpPr txBox="1"/>
          <p:nvPr/>
        </p:nvSpPr>
        <p:spPr>
          <a:xfrm>
            <a:off x="822960" y="2496312"/>
            <a:ext cx="4828032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600"/>
              </a:lnSpc>
              <a:buNone/>
            </a:pPr>
            <a:r>
              <a:rPr lang="en-US" sz="1150" dirty="0">
                <a:solidFill>
                  <a:srgbClr val="8B949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Dispatch is wrapped so the cancellation path writes its outcome on the way out — plus a done-callback, because a task cancelled before its first step never runs its body at all.</a:t>
            </a:r>
            <a:endParaRPr lang="en-US" sz="1150" dirty="0"/>
          </a:p>
        </p:txBody>
      </p:sp>
      <p:sp>
        <p:nvSpPr>
          <p:cNvPr id="9" name="Shape 7"/>
          <p:cNvSpPr/>
          <p:nvPr/>
        </p:nvSpPr>
        <p:spPr>
          <a:xfrm>
            <a:off x="6263640" y="1691640"/>
            <a:ext cx="5349240" cy="1965960"/>
          </a:xfrm>
          <a:prstGeom prst="roundRect">
            <a:avLst>
              <a:gd name="adj" fmla="val 2791"/>
            </a:avLst>
          </a:prstGeom>
          <a:solidFill>
            <a:srgbClr val="161B22"/>
          </a:solidFill>
          <a:ln w="12700">
            <a:solidFill>
              <a:srgbClr val="2B323C"/>
            </a:solidFill>
            <a:prstDash val="solid"/>
          </a:ln>
          <a:effectLst>
            <a:outerShdw sx="100000" sy="100000" kx="0" ky="0" algn="bl" rotWithShape="0" blurRad="127000" dist="25400" dir="5400000">
              <a:srgbClr val="000000">
                <a:alpha val="35000"/>
              </a:srgbClr>
            </a:outerShdw>
          </a:effectLst>
        </p:spPr>
      </p:sp>
      <p:sp>
        <p:nvSpPr>
          <p:cNvPr id="10" name="Shape 8"/>
          <p:cNvSpPr/>
          <p:nvPr/>
        </p:nvSpPr>
        <p:spPr>
          <a:xfrm>
            <a:off x="6519672" y="1947672"/>
            <a:ext cx="384048" cy="384048"/>
          </a:xfrm>
          <a:prstGeom prst="ellipse">
            <a:avLst/>
          </a:prstGeom>
          <a:solidFill>
            <a:srgbClr val="A371F7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6519672" y="1965960"/>
            <a:ext cx="384048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0E111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</a:t>
            </a:r>
            <a:endParaRPr lang="en-US" sz="1500" dirty="0"/>
          </a:p>
        </p:txBody>
      </p:sp>
      <p:sp>
        <p:nvSpPr>
          <p:cNvPr id="12" name="Text 10"/>
          <p:cNvSpPr txBox="1"/>
          <p:nvPr/>
        </p:nvSpPr>
        <p:spPr>
          <a:xfrm>
            <a:off x="7040880" y="1947672"/>
            <a:ext cx="434340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E6EDF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State changes are claimed before dispatch</a:t>
            </a:r>
            <a:endParaRPr lang="en-US" sz="1450" dirty="0"/>
          </a:p>
        </p:txBody>
      </p:sp>
      <p:sp>
        <p:nvSpPr>
          <p:cNvPr id="13" name="Text 11"/>
          <p:cNvSpPr txBox="1"/>
          <p:nvPr/>
        </p:nvSpPr>
        <p:spPr>
          <a:xfrm>
            <a:off x="6537960" y="2496312"/>
            <a:ext cx="4828032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600"/>
              </a:lnSpc>
              <a:buNone/>
            </a:pPr>
            <a:r>
              <a:rPr lang="en-US" sz="1150" dirty="0">
                <a:solidFill>
                  <a:srgbClr val="8B949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Claiming after is a race that two re-plans five milliseconds apart will lose. Failed and compensated are retryable; succeeded and in-flight are not.</a:t>
            </a:r>
            <a:endParaRPr lang="en-US" sz="1150" dirty="0"/>
          </a:p>
        </p:txBody>
      </p:sp>
      <p:sp>
        <p:nvSpPr>
          <p:cNvPr id="14" name="Shape 12"/>
          <p:cNvSpPr/>
          <p:nvPr/>
        </p:nvSpPr>
        <p:spPr>
          <a:xfrm>
            <a:off x="548640" y="3886200"/>
            <a:ext cx="5349240" cy="1965960"/>
          </a:xfrm>
          <a:prstGeom prst="roundRect">
            <a:avLst>
              <a:gd name="adj" fmla="val 2791"/>
            </a:avLst>
          </a:prstGeom>
          <a:solidFill>
            <a:srgbClr val="161B22"/>
          </a:solidFill>
          <a:ln w="12700">
            <a:solidFill>
              <a:srgbClr val="2B323C"/>
            </a:solidFill>
            <a:prstDash val="solid"/>
          </a:ln>
          <a:effectLst>
            <a:outerShdw sx="100000" sy="100000" kx="0" ky="0" algn="bl" rotWithShape="0" blurRad="127000" dist="25400" dir="5400000">
              <a:srgbClr val="000000">
                <a:alpha val="35000"/>
              </a:srgbClr>
            </a:outerShdw>
          </a:effectLst>
        </p:spPr>
      </p:sp>
      <p:sp>
        <p:nvSpPr>
          <p:cNvPr id="15" name="Shape 13"/>
          <p:cNvSpPr/>
          <p:nvPr/>
        </p:nvSpPr>
        <p:spPr>
          <a:xfrm>
            <a:off x="804672" y="4142232"/>
            <a:ext cx="384048" cy="384048"/>
          </a:xfrm>
          <a:prstGeom prst="ellipse">
            <a:avLst/>
          </a:prstGeom>
          <a:solidFill>
            <a:srgbClr val="58A6FF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6" name="Text 14"/>
          <p:cNvSpPr txBox="1"/>
          <p:nvPr/>
        </p:nvSpPr>
        <p:spPr>
          <a:xfrm>
            <a:off x="804672" y="4160520"/>
            <a:ext cx="384048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0E111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</a:t>
            </a:r>
            <a:endParaRPr lang="en-US" sz="1500" dirty="0"/>
          </a:p>
        </p:txBody>
      </p:sp>
      <p:sp>
        <p:nvSpPr>
          <p:cNvPr id="17" name="Text 15"/>
          <p:cNvSpPr txBox="1"/>
          <p:nvPr/>
        </p:nvSpPr>
        <p:spPr>
          <a:xfrm>
            <a:off x="1325880" y="4142232"/>
            <a:ext cx="434340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E6EDF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Confirming an in-flight call joins it</a:t>
            </a:r>
            <a:endParaRPr lang="en-US" sz="1450" dirty="0"/>
          </a:p>
        </p:txBody>
      </p:sp>
      <p:sp>
        <p:nvSpPr>
          <p:cNvPr id="18" name="Text 16"/>
          <p:cNvSpPr txBox="1"/>
          <p:nvPr/>
        </p:nvSpPr>
        <p:spPr>
          <a:xfrm>
            <a:off x="822960" y="4690872"/>
            <a:ext cx="4828032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600"/>
              </a:lnSpc>
              <a:buNone/>
            </a:pPr>
            <a:r>
              <a:rPr lang="en-US" sz="1150" dirty="0">
                <a:solidFill>
                  <a:srgbClr val="8B949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Rather than issuing a second one. Without join, speculation manufactures exactly the duplicate state changes the safety block penalises.</a:t>
            </a:r>
            <a:endParaRPr lang="en-US" sz="1150" dirty="0"/>
          </a:p>
        </p:txBody>
      </p:sp>
      <p:sp>
        <p:nvSpPr>
          <p:cNvPr id="19" name="Shape 17"/>
          <p:cNvSpPr/>
          <p:nvPr/>
        </p:nvSpPr>
        <p:spPr>
          <a:xfrm>
            <a:off x="6263640" y="3886200"/>
            <a:ext cx="5349240" cy="1965960"/>
          </a:xfrm>
          <a:prstGeom prst="roundRect">
            <a:avLst>
              <a:gd name="adj" fmla="val 2791"/>
            </a:avLst>
          </a:prstGeom>
          <a:solidFill>
            <a:srgbClr val="161B22"/>
          </a:solidFill>
          <a:ln w="12700">
            <a:solidFill>
              <a:srgbClr val="2B323C"/>
            </a:solidFill>
            <a:prstDash val="solid"/>
          </a:ln>
          <a:effectLst>
            <a:outerShdw sx="100000" sy="100000" kx="0" ky="0" algn="bl" rotWithShape="0" blurRad="127000" dist="25400" dir="5400000">
              <a:srgbClr val="000000">
                <a:alpha val="35000"/>
              </a:srgbClr>
            </a:outerShdw>
          </a:effectLst>
        </p:spPr>
      </p:sp>
      <p:sp>
        <p:nvSpPr>
          <p:cNvPr id="20" name="Shape 18"/>
          <p:cNvSpPr/>
          <p:nvPr/>
        </p:nvSpPr>
        <p:spPr>
          <a:xfrm>
            <a:off x="6519672" y="4142232"/>
            <a:ext cx="384048" cy="384048"/>
          </a:xfrm>
          <a:prstGeom prst="ellipse">
            <a:avLst/>
          </a:prstGeom>
          <a:solidFill>
            <a:srgbClr val="D29922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1" name="Text 19"/>
          <p:cNvSpPr txBox="1"/>
          <p:nvPr/>
        </p:nvSpPr>
        <p:spPr>
          <a:xfrm>
            <a:off x="6519672" y="4160520"/>
            <a:ext cx="384048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0E111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</a:t>
            </a:r>
            <a:endParaRPr lang="en-US" sz="1500" dirty="0"/>
          </a:p>
        </p:txBody>
      </p:sp>
      <p:sp>
        <p:nvSpPr>
          <p:cNvPr id="22" name="Text 20"/>
          <p:cNvSpPr txBox="1"/>
          <p:nvPr/>
        </p:nvSpPr>
        <p:spPr>
          <a:xfrm>
            <a:off x="7040880" y="4142232"/>
            <a:ext cx="434340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E6EDF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cancel is a request, not a fact</a:t>
            </a:r>
            <a:endParaRPr lang="en-US" sz="1450" dirty="0"/>
          </a:p>
        </p:txBody>
      </p:sp>
      <p:sp>
        <p:nvSpPr>
          <p:cNvPr id="23" name="Text 21"/>
          <p:cNvSpPr txBox="1"/>
          <p:nvPr/>
        </p:nvSpPr>
        <p:spPr>
          <a:xfrm>
            <a:off x="6537960" y="4690872"/>
            <a:ext cx="4828032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600"/>
              </a:lnSpc>
              <a:buNone/>
            </a:pPr>
            <a:r>
              <a:rPr lang="en-US" sz="1150" dirty="0">
                <a:solidFill>
                  <a:srgbClr val="8B949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Cancelling a state-modifying call yields CANCELLED_UNCERTAIN — the cancel may have landed after the effect committed. Resolved by probing a declared verifier, compensating via a declared inverse, or saying out loud that we cannot tell.</a:t>
            </a:r>
            <a:endParaRPr lang="en-US" sz="1150" dirty="0"/>
          </a:p>
        </p:txBody>
      </p:sp>
      <p:sp>
        <p:nvSpPr>
          <p:cNvPr id="24" name="Text 22"/>
          <p:cNvSpPr txBox="1"/>
          <p:nvPr/>
        </p:nvSpPr>
        <p:spPr>
          <a:xfrm>
            <a:off x="548640" y="6035040"/>
            <a:ext cx="110642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i="1" dirty="0">
                <a:solidFill>
                  <a:srgbClr val="D299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fourth is the one most designs collapse to a boolean — and it is how a state snapshot silently stops matching the world.</a:t>
            </a:r>
            <a:endParaRPr lang="en-US" sz="125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0E1116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384048"/>
            <a:ext cx="110642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200" kern="0" dirty="0">
                <a:solidFill>
                  <a:srgbClr val="58A6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MULTIMODAL — THE LARGEST SINGLE LEVER</a:t>
            </a:r>
            <a:endParaRPr lang="en-US" sz="12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676656"/>
            <a:ext cx="1106424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400" b="1" dirty="0">
                <a:solidFill>
                  <a:srgbClr val="E6EDF3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Perception that knows when it doesn’t know</a:t>
            </a:r>
            <a:endParaRPr lang="en-US" sz="3400" dirty="0"/>
          </a:p>
        </p:txBody>
      </p:sp>
      <p:sp>
        <p:nvSpPr>
          <p:cNvPr id="4" name="Text 2"/>
          <p:cNvSpPr txBox="1"/>
          <p:nvPr/>
        </p:nvSpPr>
        <p:spPr>
          <a:xfrm>
            <a:off x="548640" y="1600200"/>
            <a:ext cx="566928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2200"/>
              </a:lnSpc>
              <a:buNone/>
            </a:pPr>
            <a:r>
              <a:rPr lang="en-US" sz="1500" dirty="0">
                <a:solidFill>
                  <a:srgbClr val="8B949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Half the hidden set is audio or visual, at a 1.5× multiplier. Frames and clips are acknowledged immediately and decoded as background tasks — “behind conversational acknowledgments” is a concurrency requirement, not a tone.</a:t>
            </a:r>
            <a:endParaRPr lang="en-US" sz="1500" dirty="0"/>
          </a:p>
        </p:txBody>
      </p:sp>
      <p:sp>
        <p:nvSpPr>
          <p:cNvPr id="5" name="Text 3"/>
          <p:cNvSpPr txBox="1"/>
          <p:nvPr/>
        </p:nvSpPr>
        <p:spPr>
          <a:xfrm>
            <a:off x="548640" y="2788920"/>
            <a:ext cx="566928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D299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problem nobody mentions</a:t>
            </a:r>
            <a:endParaRPr lang="en-US" sz="1500" dirty="0"/>
          </a:p>
        </p:txBody>
      </p:sp>
      <p:sp>
        <p:nvSpPr>
          <p:cNvPr id="6" name="Text 4"/>
          <p:cNvSpPr txBox="1"/>
          <p:nvPr/>
        </p:nvSpPr>
        <p:spPr>
          <a:xfrm>
            <a:off x="548640" y="3182112"/>
            <a:ext cx="566928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2200"/>
              </a:lnSpc>
              <a:buNone/>
            </a:pPr>
            <a:r>
              <a:rPr lang="en-US" sz="1350" dirty="0">
                <a:solidFill>
                  <a:srgbClr val="8B949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logistic regression is badly overconfident off-distribution. Ours labelled blown-out photographs and frames with two LEDs lit at ~0.9 confidence — exactly the confidently-wrong perception objective 5 penalises twice.</a:t>
            </a:r>
            <a:endParaRPr lang="en-US" sz="1350" dirty="0"/>
          </a:p>
        </p:txBody>
      </p:sp>
      <p:sp>
        <p:nvSpPr>
          <p:cNvPr id="7" name="Shape 5"/>
          <p:cNvSpPr/>
          <p:nvPr/>
        </p:nvSpPr>
        <p:spPr>
          <a:xfrm>
            <a:off x="566928" y="4361688"/>
            <a:ext cx="118872" cy="118872"/>
          </a:xfrm>
          <a:prstGeom prst="roundRect">
            <a:avLst>
              <a:gd name="adj" fmla="val 307692"/>
            </a:avLst>
          </a:prstGeom>
          <a:solidFill>
            <a:srgbClr val="3FB950"/>
          </a:solidFill>
          <a:ln w="12700">
            <a:solidFill>
              <a:srgbClr val="3FB950"/>
            </a:solidFill>
            <a:prstDash val="solid"/>
          </a:ln>
        </p:spPr>
      </p:sp>
      <p:sp>
        <p:nvSpPr>
          <p:cNvPr id="8" name="Text 6"/>
          <p:cNvSpPr txBox="1"/>
          <p:nvPr/>
        </p:nvSpPr>
        <p:spPr>
          <a:xfrm>
            <a:off x="777240" y="4315968"/>
            <a:ext cx="54406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E6EDF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Temperature calibration, constrained to T ≥ 1</a:t>
            </a:r>
            <a:endParaRPr lang="en-US" sz="1250" dirty="0"/>
          </a:p>
        </p:txBody>
      </p:sp>
      <p:sp>
        <p:nvSpPr>
          <p:cNvPr id="9" name="Text 7"/>
          <p:cNvSpPr txBox="1"/>
          <p:nvPr/>
        </p:nvSpPr>
        <p:spPr>
          <a:xfrm>
            <a:off x="777240" y="4590288"/>
            <a:ext cx="544068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500"/>
              </a:lnSpc>
              <a:buNone/>
            </a:pPr>
            <a:r>
              <a:rPr lang="en-US" sz="1100" dirty="0">
                <a:solidFill>
                  <a:srgbClr val="8B949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Unconstrained it fitted to 0.50 — a perfectly separated validation set drives the NLL optimum to zero. Calibration may soften; never sharpen.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566928" y="5349240"/>
            <a:ext cx="118872" cy="118872"/>
          </a:xfrm>
          <a:prstGeom prst="roundRect">
            <a:avLst>
              <a:gd name="adj" fmla="val 307692"/>
            </a:avLst>
          </a:prstGeom>
          <a:solidFill>
            <a:srgbClr val="3FB950"/>
          </a:solidFill>
          <a:ln w="12700">
            <a:solidFill>
              <a:srgbClr val="3FB950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777240" y="5303520"/>
            <a:ext cx="54406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E6EDF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Mahalanobis abstention</a:t>
            </a:r>
            <a:endParaRPr lang="en-US" sz="1250" dirty="0"/>
          </a:p>
        </p:txBody>
      </p:sp>
      <p:sp>
        <p:nvSpPr>
          <p:cNvPr id="12" name="Text 10"/>
          <p:cNvSpPr txBox="1"/>
          <p:nvPr/>
        </p:nvSpPr>
        <p:spPr>
          <a:xfrm>
            <a:off x="777240" y="5577840"/>
            <a:ext cx="544068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500"/>
              </a:lnSpc>
              <a:buNone/>
            </a:pPr>
            <a:r>
              <a:rPr lang="en-US" sz="1100" dirty="0">
                <a:solidFill>
                  <a:srgbClr val="8B949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Thresholded by how far genuine in-distribution data actually reaches. A false abstention costs one question; a false confident answer costs task completion and truthfulness.</a:t>
            </a:r>
            <a:endParaRPr lang="en-US" sz="1100" dirty="0"/>
          </a:p>
        </p:txBody>
      </p:sp>
      <p:sp>
        <p:nvSpPr>
          <p:cNvPr id="13" name="Shape 11"/>
          <p:cNvSpPr/>
          <p:nvPr/>
        </p:nvSpPr>
        <p:spPr>
          <a:xfrm>
            <a:off x="6583680" y="1600200"/>
            <a:ext cx="5029200" cy="4572000"/>
          </a:xfrm>
          <a:prstGeom prst="roundRect">
            <a:avLst>
              <a:gd name="adj" fmla="val 1200"/>
            </a:avLst>
          </a:prstGeom>
          <a:solidFill>
            <a:srgbClr val="161B22"/>
          </a:solidFill>
          <a:ln w="12700">
            <a:solidFill>
              <a:srgbClr val="2B323C"/>
            </a:solidFill>
            <a:prstDash val="solid"/>
          </a:ln>
          <a:effectLst>
            <a:outerShdw sx="100000" sy="100000" kx="0" ky="0" algn="bl" rotWithShape="0" blurRad="127000" dist="25400" dir="5400000">
              <a:srgbClr val="000000">
                <a:alpha val="35000"/>
              </a:srgbClr>
            </a:outerShdw>
          </a:effectLst>
        </p:spPr>
      </p:sp>
      <p:sp>
        <p:nvSpPr>
          <p:cNvPr id="14" name="Text 12"/>
          <p:cNvSpPr txBox="1"/>
          <p:nvPr/>
        </p:nvSpPr>
        <p:spPr>
          <a:xfrm>
            <a:off x="6858000" y="1828800"/>
            <a:ext cx="448056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E6EDF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Three outcomes, not two</a:t>
            </a:r>
            <a:endParaRPr lang="en-US" sz="1500" dirty="0"/>
          </a:p>
        </p:txBody>
      </p:sp>
      <p:sp>
        <p:nvSpPr>
          <p:cNvPr id="15" name="Shape 13"/>
          <p:cNvSpPr/>
          <p:nvPr/>
        </p:nvSpPr>
        <p:spPr>
          <a:xfrm>
            <a:off x="6858000" y="2377440"/>
            <a:ext cx="128016" cy="128016"/>
          </a:xfrm>
          <a:prstGeom prst="roundRect">
            <a:avLst>
              <a:gd name="adj" fmla="val 285714"/>
            </a:avLst>
          </a:prstGeom>
          <a:solidFill>
            <a:srgbClr val="3FB950"/>
          </a:solidFill>
          <a:ln w="12700">
            <a:solidFill>
              <a:srgbClr val="3FB950"/>
            </a:solidFill>
            <a:prstDash val="solid"/>
          </a:ln>
        </p:spPr>
      </p:sp>
      <p:sp>
        <p:nvSpPr>
          <p:cNvPr id="16" name="Text 14"/>
          <p:cNvSpPr txBox="1"/>
          <p:nvPr/>
        </p:nvSpPr>
        <p:spPr>
          <a:xfrm>
            <a:off x="7086600" y="2331720"/>
            <a:ext cx="12801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3FB95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ANSWER</a:t>
            </a:r>
            <a:endParaRPr lang="en-US" sz="1300" dirty="0"/>
          </a:p>
        </p:txBody>
      </p:sp>
      <p:sp>
        <p:nvSpPr>
          <p:cNvPr id="17" name="Text 15"/>
          <p:cNvSpPr txBox="1"/>
          <p:nvPr/>
        </p:nvSpPr>
        <p:spPr>
          <a:xfrm>
            <a:off x="8229600" y="2350008"/>
            <a:ext cx="31089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i="1" dirty="0">
                <a:solidFill>
                  <a:srgbClr val="6E768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clear winner</a:t>
            </a:r>
            <a:endParaRPr lang="en-US" sz="1050" dirty="0"/>
          </a:p>
        </p:txBody>
      </p:sp>
      <p:sp>
        <p:nvSpPr>
          <p:cNvPr id="18" name="Text 16"/>
          <p:cNvSpPr txBox="1"/>
          <p:nvPr/>
        </p:nvSpPr>
        <p:spPr>
          <a:xfrm>
            <a:off x="7086600" y="2642616"/>
            <a:ext cx="425196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600"/>
              </a:lnSpc>
              <a:buNone/>
            </a:pPr>
            <a:r>
              <a:rPr lang="en-US" sz="1150" dirty="0">
                <a:solidFill>
                  <a:srgbClr val="8B949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“That’s the power LED — here’s what solid red means.”</a:t>
            </a:r>
            <a:endParaRPr lang="en-US" sz="1150" dirty="0"/>
          </a:p>
        </p:txBody>
      </p:sp>
      <p:sp>
        <p:nvSpPr>
          <p:cNvPr id="19" name="Shape 17"/>
          <p:cNvSpPr/>
          <p:nvPr/>
        </p:nvSpPr>
        <p:spPr>
          <a:xfrm>
            <a:off x="6858000" y="3547872"/>
            <a:ext cx="128016" cy="128016"/>
          </a:xfrm>
          <a:prstGeom prst="roundRect">
            <a:avLst>
              <a:gd name="adj" fmla="val 285714"/>
            </a:avLst>
          </a:prstGeom>
          <a:solidFill>
            <a:srgbClr val="D29922"/>
          </a:solidFill>
          <a:ln w="12700">
            <a:solidFill>
              <a:srgbClr val="D29922"/>
            </a:solidFill>
            <a:prstDash val="solid"/>
          </a:ln>
        </p:spPr>
      </p:sp>
      <p:sp>
        <p:nvSpPr>
          <p:cNvPr id="20" name="Text 18"/>
          <p:cNvSpPr txBox="1"/>
          <p:nvPr/>
        </p:nvSpPr>
        <p:spPr>
          <a:xfrm>
            <a:off x="7086600" y="3502152"/>
            <a:ext cx="12801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D299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ASK</a:t>
            </a:r>
            <a:endParaRPr lang="en-US" sz="1300" dirty="0"/>
          </a:p>
        </p:txBody>
      </p:sp>
      <p:sp>
        <p:nvSpPr>
          <p:cNvPr id="21" name="Text 19"/>
          <p:cNvSpPr txBox="1"/>
          <p:nvPr/>
        </p:nvSpPr>
        <p:spPr>
          <a:xfrm>
            <a:off x="8229600" y="3520440"/>
            <a:ext cx="31089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i="1" dirty="0">
                <a:solidFill>
                  <a:srgbClr val="6E768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two labels too close to separate</a:t>
            </a:r>
            <a:endParaRPr lang="en-US" sz="1050" dirty="0"/>
          </a:p>
        </p:txBody>
      </p:sp>
      <p:sp>
        <p:nvSpPr>
          <p:cNvPr id="22" name="Text 20"/>
          <p:cNvSpPr txBox="1"/>
          <p:nvPr/>
        </p:nvSpPr>
        <p:spPr>
          <a:xfrm>
            <a:off x="7086600" y="3813048"/>
            <a:ext cx="425196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600"/>
              </a:lnSpc>
              <a:buNone/>
            </a:pPr>
            <a:r>
              <a:rPr lang="en-US" sz="1150" dirty="0">
                <a:solidFill>
                  <a:srgbClr val="8B949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“I can’t tell from the picture — is it the power LED or the WAN LED?”</a:t>
            </a:r>
            <a:endParaRPr lang="en-US" sz="1150" dirty="0"/>
          </a:p>
        </p:txBody>
      </p:sp>
      <p:sp>
        <p:nvSpPr>
          <p:cNvPr id="23" name="Shape 21"/>
          <p:cNvSpPr/>
          <p:nvPr/>
        </p:nvSpPr>
        <p:spPr>
          <a:xfrm>
            <a:off x="6858000" y="4718304"/>
            <a:ext cx="128016" cy="128016"/>
          </a:xfrm>
          <a:prstGeom prst="roundRect">
            <a:avLst>
              <a:gd name="adj" fmla="val 285714"/>
            </a:avLst>
          </a:prstGeom>
          <a:solidFill>
            <a:srgbClr val="F85149"/>
          </a:solidFill>
          <a:ln w="12700">
            <a:solidFill>
              <a:srgbClr val="F85149"/>
            </a:solidFill>
            <a:prstDash val="solid"/>
          </a:ln>
        </p:spPr>
      </p:sp>
      <p:sp>
        <p:nvSpPr>
          <p:cNvPr id="24" name="Text 22"/>
          <p:cNvSpPr txBox="1"/>
          <p:nvPr/>
        </p:nvSpPr>
        <p:spPr>
          <a:xfrm>
            <a:off x="7086600" y="4672584"/>
            <a:ext cx="12801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F8514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DECLINE</a:t>
            </a:r>
            <a:endParaRPr lang="en-US" sz="1300" dirty="0"/>
          </a:p>
        </p:txBody>
      </p:sp>
      <p:sp>
        <p:nvSpPr>
          <p:cNvPr id="25" name="Text 23"/>
          <p:cNvSpPr txBox="1"/>
          <p:nvPr/>
        </p:nvSpPr>
        <p:spPr>
          <a:xfrm>
            <a:off x="8229600" y="4690872"/>
            <a:ext cx="31089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i="1" dirty="0">
                <a:solidFill>
                  <a:srgbClr val="6E768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nothing resembling the training distribution</a:t>
            </a:r>
            <a:endParaRPr lang="en-US" sz="1050" dirty="0"/>
          </a:p>
        </p:txBody>
      </p:sp>
      <p:sp>
        <p:nvSpPr>
          <p:cNvPr id="26" name="Text 24"/>
          <p:cNvSpPr txBox="1"/>
          <p:nvPr/>
        </p:nvSpPr>
        <p:spPr>
          <a:xfrm>
            <a:off x="7086600" y="4983480"/>
            <a:ext cx="425196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600"/>
              </a:lnSpc>
              <a:buNone/>
            </a:pPr>
            <a:r>
              <a:rPr lang="en-US" sz="1150" dirty="0">
                <a:solidFill>
                  <a:srgbClr val="8B949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“I couldn’t make that out — could you describe it?”</a:t>
            </a:r>
            <a:endParaRPr lang="en-US" sz="1150" dirty="0"/>
          </a:p>
        </p:txBody>
      </p:sp>
      <p:sp>
        <p:nvSpPr>
          <p:cNvPr id="27" name="Text 25"/>
          <p:cNvSpPr txBox="1"/>
          <p:nvPr/>
        </p:nvSpPr>
        <p:spPr>
          <a:xfrm>
            <a:off x="6858000" y="5715000"/>
            <a:ext cx="44805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500"/>
              </a:lnSpc>
              <a:buNone/>
            </a:pPr>
            <a:r>
              <a:rPr lang="en-US" sz="1150" b="1" dirty="0">
                <a:solidFill>
                  <a:srgbClr val="3FB95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100% of undecidable frames and 11/12 undecidable clips are refused rather than guessed.</a:t>
            </a:r>
            <a:endParaRPr lang="en-US" sz="115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0E1116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384048"/>
            <a:ext cx="110642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200" kern="0" dirty="0">
                <a:solidFill>
                  <a:srgbClr val="58A6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SCORED STRICTLY FROM TRACE LOGS</a:t>
            </a:r>
            <a:endParaRPr lang="en-US" sz="12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676656"/>
            <a:ext cx="1106424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400" b="1" dirty="0">
                <a:solidFill>
                  <a:srgbClr val="E6EDF3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Results</a:t>
            </a:r>
            <a:endParaRPr lang="en-US" sz="3400" dirty="0"/>
          </a:p>
        </p:txBody>
      </p:sp>
      <p:sp>
        <p:nvSpPr>
          <p:cNvPr id="4" name="Shape 2"/>
          <p:cNvSpPr/>
          <p:nvPr/>
        </p:nvSpPr>
        <p:spPr>
          <a:xfrm>
            <a:off x="548640" y="1645920"/>
            <a:ext cx="11064240" cy="1600200"/>
          </a:xfrm>
          <a:prstGeom prst="roundRect">
            <a:avLst>
              <a:gd name="adj" fmla="val 3429"/>
            </a:avLst>
          </a:prstGeom>
          <a:solidFill>
            <a:srgbClr val="161B22"/>
          </a:solidFill>
          <a:ln w="12700">
            <a:solidFill>
              <a:srgbClr val="2B323C"/>
            </a:solidFill>
            <a:prstDash val="solid"/>
          </a:ln>
          <a:effectLst>
            <a:outerShdw sx="100000" sy="100000" kx="0" ky="0" algn="bl" rotWithShape="0" blurRad="127000" dist="25400" dir="5400000">
              <a:srgbClr val="000000">
                <a:alpha val="35000"/>
              </a:srgbClr>
            </a:outerShdw>
          </a:effectLst>
        </p:spPr>
      </p:sp>
      <p:sp>
        <p:nvSpPr>
          <p:cNvPr id="5" name="Text 3"/>
          <p:cNvSpPr txBox="1"/>
          <p:nvPr/>
        </p:nvSpPr>
        <p:spPr>
          <a:xfrm>
            <a:off x="822960" y="1874520"/>
            <a:ext cx="23774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4600" b="1" dirty="0">
                <a:solidFill>
                  <a:srgbClr val="3FB950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30/30</a:t>
            </a:r>
            <a:endParaRPr lang="en-US" sz="4600" dirty="0"/>
          </a:p>
        </p:txBody>
      </p:sp>
      <p:sp>
        <p:nvSpPr>
          <p:cNvPr id="6" name="Text 4"/>
          <p:cNvSpPr txBox="1"/>
          <p:nvPr/>
        </p:nvSpPr>
        <p:spPr>
          <a:xfrm>
            <a:off x="822960" y="2651760"/>
            <a:ext cx="237744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8B949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public scenarios pass</a:t>
            </a:r>
            <a:endParaRPr lang="en-US" sz="1200" dirty="0"/>
          </a:p>
          <a:p>
            <a:pPr algn="ctr" indent="0" marL="0">
              <a:buNone/>
            </a:pPr>
            <a:r>
              <a:rPr lang="en-US" sz="1200" dirty="0">
                <a:solidFill>
                  <a:srgbClr val="8B949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every declared check</a:t>
            </a:r>
            <a:endParaRPr lang="en-US" sz="1200" dirty="0"/>
          </a:p>
        </p:txBody>
      </p:sp>
      <p:sp>
        <p:nvSpPr>
          <p:cNvPr id="7" name="Text 5"/>
          <p:cNvSpPr txBox="1"/>
          <p:nvPr/>
        </p:nvSpPr>
        <p:spPr>
          <a:xfrm>
            <a:off x="3383280" y="1874520"/>
            <a:ext cx="23774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4600" b="1" dirty="0">
                <a:solidFill>
                  <a:srgbClr val="E6EDF3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109.2</a:t>
            </a:r>
            <a:endParaRPr lang="en-US" sz="4600" dirty="0"/>
          </a:p>
        </p:txBody>
      </p:sp>
      <p:sp>
        <p:nvSpPr>
          <p:cNvPr id="8" name="Text 6"/>
          <p:cNvSpPr txBox="1"/>
          <p:nvPr/>
        </p:nvSpPr>
        <p:spPr>
          <a:xfrm>
            <a:off x="3383280" y="2651760"/>
            <a:ext cx="237744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8B949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mean score</a:t>
            </a:r>
            <a:endParaRPr lang="en-US" sz="1200" dirty="0"/>
          </a:p>
          <a:p>
            <a:pPr algn="ctr" indent="0" marL="0">
              <a:buNone/>
            </a:pPr>
            <a:r>
              <a:rPr lang="en-US" sz="1200" dirty="0">
                <a:solidFill>
                  <a:srgbClr val="8B949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(quality multiplier on 100)</a:t>
            </a:r>
            <a:endParaRPr lang="en-US" sz="1200" dirty="0"/>
          </a:p>
        </p:txBody>
      </p:sp>
      <p:sp>
        <p:nvSpPr>
          <p:cNvPr id="9" name="Text 7"/>
          <p:cNvSpPr txBox="1"/>
          <p:nvPr/>
        </p:nvSpPr>
        <p:spPr>
          <a:xfrm>
            <a:off x="5943600" y="1874520"/>
            <a:ext cx="23774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4600" b="1" dirty="0">
                <a:solidFill>
                  <a:srgbClr val="58A6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1980</a:t>
            </a:r>
            <a:endParaRPr lang="en-US" sz="4600" dirty="0"/>
          </a:p>
        </p:txBody>
      </p:sp>
      <p:sp>
        <p:nvSpPr>
          <p:cNvPr id="10" name="Text 8"/>
          <p:cNvSpPr txBox="1"/>
          <p:nvPr/>
        </p:nvSpPr>
        <p:spPr>
          <a:xfrm>
            <a:off x="5943600" y="2651760"/>
            <a:ext cx="237744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8B949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perturbed runs holding</a:t>
            </a:r>
            <a:endParaRPr lang="en-US" sz="1200" dirty="0"/>
          </a:p>
          <a:p>
            <a:pPr algn="ctr" indent="0" marL="0">
              <a:buNone/>
            </a:pPr>
            <a:r>
              <a:rPr lang="en-US" sz="1200" dirty="0">
                <a:solidFill>
                  <a:srgbClr val="8B949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every invariant</a:t>
            </a:r>
            <a:endParaRPr lang="en-US" sz="1200" dirty="0"/>
          </a:p>
        </p:txBody>
      </p:sp>
      <p:sp>
        <p:nvSpPr>
          <p:cNvPr id="11" name="Text 9"/>
          <p:cNvSpPr txBox="1"/>
          <p:nvPr/>
        </p:nvSpPr>
        <p:spPr>
          <a:xfrm>
            <a:off x="8503920" y="1874520"/>
            <a:ext cx="28346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4600" b="1" dirty="0">
                <a:solidFill>
                  <a:srgbClr val="A371F7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348</a:t>
            </a:r>
            <a:endParaRPr lang="en-US" sz="4600" dirty="0"/>
          </a:p>
        </p:txBody>
      </p:sp>
      <p:sp>
        <p:nvSpPr>
          <p:cNvPr id="12" name="Text 10"/>
          <p:cNvSpPr txBox="1"/>
          <p:nvPr/>
        </p:nvSpPr>
        <p:spPr>
          <a:xfrm>
            <a:off x="8503920" y="2651760"/>
            <a:ext cx="283464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8B949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tests, including every</a:t>
            </a:r>
            <a:endParaRPr lang="en-US" sz="1200" dirty="0"/>
          </a:p>
          <a:p>
            <a:pPr algn="ctr" indent="0" marL="0">
              <a:buNone/>
            </a:pPr>
            <a:r>
              <a:rPr lang="en-US" sz="1200" dirty="0">
                <a:solidFill>
                  <a:srgbClr val="8B949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scenario end-to-end</a:t>
            </a:r>
            <a:endParaRPr lang="en-US" sz="1200" dirty="0"/>
          </a:p>
        </p:txBody>
      </p:sp>
      <p:sp>
        <p:nvSpPr>
          <p:cNvPr id="13" name="Text 11"/>
          <p:cNvSpPr txBox="1"/>
          <p:nvPr/>
        </p:nvSpPr>
        <p:spPr>
          <a:xfrm>
            <a:off x="548640" y="3474720"/>
            <a:ext cx="54864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E6EDF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Per component, averaged across the suite</a:t>
            </a:r>
            <a:endParaRPr lang="en-US" sz="1400" dirty="0"/>
          </a:p>
        </p:txBody>
      </p:sp>
      <p:sp>
        <p:nvSpPr>
          <p:cNvPr id="14" name="Text 12"/>
          <p:cNvSpPr txBox="1"/>
          <p:nvPr/>
        </p:nvSpPr>
        <p:spPr>
          <a:xfrm>
            <a:off x="548640" y="3931920"/>
            <a:ext cx="2286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E6EDF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Task completion</a:t>
            </a:r>
            <a:endParaRPr lang="en-US" sz="1250" dirty="0"/>
          </a:p>
        </p:txBody>
      </p:sp>
      <p:sp>
        <p:nvSpPr>
          <p:cNvPr id="15" name="Text 13"/>
          <p:cNvSpPr txBox="1"/>
          <p:nvPr/>
        </p:nvSpPr>
        <p:spPr>
          <a:xfrm>
            <a:off x="2880360" y="3931920"/>
            <a:ext cx="5029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6E768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40%</a:t>
            </a:r>
            <a:endParaRPr lang="en-US" sz="1150" dirty="0"/>
          </a:p>
        </p:txBody>
      </p:sp>
      <p:sp>
        <p:nvSpPr>
          <p:cNvPr id="16" name="Shape 14"/>
          <p:cNvSpPr/>
          <p:nvPr/>
        </p:nvSpPr>
        <p:spPr>
          <a:xfrm>
            <a:off x="3520440" y="3977640"/>
            <a:ext cx="1828800" cy="164592"/>
          </a:xfrm>
          <a:prstGeom prst="roundRect">
            <a:avLst>
              <a:gd name="adj" fmla="val 277778"/>
            </a:avLst>
          </a:prstGeom>
          <a:solidFill>
            <a:srgbClr val="161B22"/>
          </a:solidFill>
          <a:ln w="12700">
            <a:solidFill>
              <a:srgbClr val="2B323C"/>
            </a:solidFill>
            <a:prstDash val="solid"/>
          </a:ln>
        </p:spPr>
      </p:sp>
      <p:sp>
        <p:nvSpPr>
          <p:cNvPr id="17" name="Shape 15"/>
          <p:cNvSpPr/>
          <p:nvPr/>
        </p:nvSpPr>
        <p:spPr>
          <a:xfrm>
            <a:off x="3520440" y="3977640"/>
            <a:ext cx="1828800" cy="164592"/>
          </a:xfrm>
          <a:prstGeom prst="roundRect">
            <a:avLst>
              <a:gd name="adj" fmla="val 277778"/>
            </a:avLst>
          </a:prstGeom>
          <a:solidFill>
            <a:srgbClr val="3FB95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8" name="Text 16"/>
          <p:cNvSpPr txBox="1"/>
          <p:nvPr/>
        </p:nvSpPr>
        <p:spPr>
          <a:xfrm>
            <a:off x="5440680" y="3931920"/>
            <a:ext cx="548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3FB95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1.00</a:t>
            </a:r>
            <a:endParaRPr lang="en-US" sz="1150" dirty="0"/>
          </a:p>
        </p:txBody>
      </p:sp>
      <p:sp>
        <p:nvSpPr>
          <p:cNvPr id="19" name="Text 17"/>
          <p:cNvSpPr txBox="1"/>
          <p:nvPr/>
        </p:nvSpPr>
        <p:spPr>
          <a:xfrm>
            <a:off x="548640" y="4462272"/>
            <a:ext cx="2286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E6EDF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Interruption recovery</a:t>
            </a:r>
            <a:endParaRPr lang="en-US" sz="1250" dirty="0"/>
          </a:p>
        </p:txBody>
      </p:sp>
      <p:sp>
        <p:nvSpPr>
          <p:cNvPr id="20" name="Text 18"/>
          <p:cNvSpPr txBox="1"/>
          <p:nvPr/>
        </p:nvSpPr>
        <p:spPr>
          <a:xfrm>
            <a:off x="2880360" y="4462272"/>
            <a:ext cx="5029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6E768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35%</a:t>
            </a:r>
            <a:endParaRPr lang="en-US" sz="1150" dirty="0"/>
          </a:p>
        </p:txBody>
      </p:sp>
      <p:sp>
        <p:nvSpPr>
          <p:cNvPr id="21" name="Shape 19"/>
          <p:cNvSpPr/>
          <p:nvPr/>
        </p:nvSpPr>
        <p:spPr>
          <a:xfrm>
            <a:off x="3520440" y="4507992"/>
            <a:ext cx="1828800" cy="164592"/>
          </a:xfrm>
          <a:prstGeom prst="roundRect">
            <a:avLst>
              <a:gd name="adj" fmla="val 277778"/>
            </a:avLst>
          </a:prstGeom>
          <a:solidFill>
            <a:srgbClr val="161B22"/>
          </a:solidFill>
          <a:ln w="12700">
            <a:solidFill>
              <a:srgbClr val="2B323C"/>
            </a:solidFill>
            <a:prstDash val="solid"/>
          </a:ln>
        </p:spPr>
      </p:sp>
      <p:sp>
        <p:nvSpPr>
          <p:cNvPr id="22" name="Shape 20"/>
          <p:cNvSpPr/>
          <p:nvPr/>
        </p:nvSpPr>
        <p:spPr>
          <a:xfrm>
            <a:off x="3520440" y="4507992"/>
            <a:ext cx="1828800" cy="164592"/>
          </a:xfrm>
          <a:prstGeom prst="roundRect">
            <a:avLst>
              <a:gd name="adj" fmla="val 277778"/>
            </a:avLst>
          </a:prstGeom>
          <a:solidFill>
            <a:srgbClr val="3FB95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3" name="Text 21"/>
          <p:cNvSpPr txBox="1"/>
          <p:nvPr/>
        </p:nvSpPr>
        <p:spPr>
          <a:xfrm>
            <a:off x="5440680" y="4462272"/>
            <a:ext cx="548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3FB95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1.00</a:t>
            </a:r>
            <a:endParaRPr lang="en-US" sz="1150" dirty="0"/>
          </a:p>
        </p:txBody>
      </p:sp>
      <p:sp>
        <p:nvSpPr>
          <p:cNvPr id="24" name="Text 22"/>
          <p:cNvSpPr txBox="1"/>
          <p:nvPr/>
        </p:nvSpPr>
        <p:spPr>
          <a:xfrm>
            <a:off x="548640" y="4992624"/>
            <a:ext cx="2286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E6EDF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Response latency</a:t>
            </a:r>
            <a:endParaRPr lang="en-US" sz="1250" dirty="0"/>
          </a:p>
        </p:txBody>
      </p:sp>
      <p:sp>
        <p:nvSpPr>
          <p:cNvPr id="25" name="Text 23"/>
          <p:cNvSpPr txBox="1"/>
          <p:nvPr/>
        </p:nvSpPr>
        <p:spPr>
          <a:xfrm>
            <a:off x="2880360" y="4992624"/>
            <a:ext cx="5029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6E768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15%</a:t>
            </a:r>
            <a:endParaRPr lang="en-US" sz="1150" dirty="0"/>
          </a:p>
        </p:txBody>
      </p:sp>
      <p:sp>
        <p:nvSpPr>
          <p:cNvPr id="26" name="Shape 24"/>
          <p:cNvSpPr/>
          <p:nvPr/>
        </p:nvSpPr>
        <p:spPr>
          <a:xfrm>
            <a:off x="3520440" y="5038344"/>
            <a:ext cx="1828800" cy="164592"/>
          </a:xfrm>
          <a:prstGeom prst="roundRect">
            <a:avLst>
              <a:gd name="adj" fmla="val 277778"/>
            </a:avLst>
          </a:prstGeom>
          <a:solidFill>
            <a:srgbClr val="161B22"/>
          </a:solidFill>
          <a:ln w="12700">
            <a:solidFill>
              <a:srgbClr val="2B323C"/>
            </a:solidFill>
            <a:prstDash val="solid"/>
          </a:ln>
        </p:spPr>
      </p:sp>
      <p:sp>
        <p:nvSpPr>
          <p:cNvPr id="27" name="Shape 25"/>
          <p:cNvSpPr/>
          <p:nvPr/>
        </p:nvSpPr>
        <p:spPr>
          <a:xfrm>
            <a:off x="3520440" y="5038344"/>
            <a:ext cx="1828800" cy="164592"/>
          </a:xfrm>
          <a:prstGeom prst="roundRect">
            <a:avLst>
              <a:gd name="adj" fmla="val 277778"/>
            </a:avLst>
          </a:prstGeom>
          <a:solidFill>
            <a:srgbClr val="3FB95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8" name="Text 26"/>
          <p:cNvSpPr txBox="1"/>
          <p:nvPr/>
        </p:nvSpPr>
        <p:spPr>
          <a:xfrm>
            <a:off x="5440680" y="4992624"/>
            <a:ext cx="548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3FB95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1.00</a:t>
            </a:r>
            <a:endParaRPr lang="en-US" sz="1150" dirty="0"/>
          </a:p>
        </p:txBody>
      </p:sp>
      <p:sp>
        <p:nvSpPr>
          <p:cNvPr id="29" name="Text 27"/>
          <p:cNvSpPr txBox="1"/>
          <p:nvPr/>
        </p:nvSpPr>
        <p:spPr>
          <a:xfrm>
            <a:off x="548640" y="5522976"/>
            <a:ext cx="2286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E6EDF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Safety &amp; protocol</a:t>
            </a:r>
            <a:endParaRPr lang="en-US" sz="1250" dirty="0"/>
          </a:p>
        </p:txBody>
      </p:sp>
      <p:sp>
        <p:nvSpPr>
          <p:cNvPr id="30" name="Text 28"/>
          <p:cNvSpPr txBox="1"/>
          <p:nvPr/>
        </p:nvSpPr>
        <p:spPr>
          <a:xfrm>
            <a:off x="2880360" y="5522976"/>
            <a:ext cx="5029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6E768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10%</a:t>
            </a:r>
            <a:endParaRPr lang="en-US" sz="1150" dirty="0"/>
          </a:p>
        </p:txBody>
      </p:sp>
      <p:sp>
        <p:nvSpPr>
          <p:cNvPr id="31" name="Shape 29"/>
          <p:cNvSpPr/>
          <p:nvPr/>
        </p:nvSpPr>
        <p:spPr>
          <a:xfrm>
            <a:off x="3520440" y="5568696"/>
            <a:ext cx="1828800" cy="164592"/>
          </a:xfrm>
          <a:prstGeom prst="roundRect">
            <a:avLst>
              <a:gd name="adj" fmla="val 277778"/>
            </a:avLst>
          </a:prstGeom>
          <a:solidFill>
            <a:srgbClr val="161B22"/>
          </a:solidFill>
          <a:ln w="12700">
            <a:solidFill>
              <a:srgbClr val="2B323C"/>
            </a:solidFill>
            <a:prstDash val="solid"/>
          </a:ln>
        </p:spPr>
      </p:sp>
      <p:sp>
        <p:nvSpPr>
          <p:cNvPr id="32" name="Shape 30"/>
          <p:cNvSpPr/>
          <p:nvPr/>
        </p:nvSpPr>
        <p:spPr>
          <a:xfrm>
            <a:off x="3520440" y="5568696"/>
            <a:ext cx="1828800" cy="164592"/>
          </a:xfrm>
          <a:prstGeom prst="roundRect">
            <a:avLst>
              <a:gd name="adj" fmla="val 277778"/>
            </a:avLst>
          </a:prstGeom>
          <a:solidFill>
            <a:srgbClr val="3FB95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33" name="Text 31"/>
          <p:cNvSpPr txBox="1"/>
          <p:nvPr/>
        </p:nvSpPr>
        <p:spPr>
          <a:xfrm>
            <a:off x="5440680" y="5522976"/>
            <a:ext cx="548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3FB95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1.00</a:t>
            </a:r>
            <a:endParaRPr lang="en-US" sz="1150" dirty="0"/>
          </a:p>
        </p:txBody>
      </p:sp>
      <p:sp>
        <p:nvSpPr>
          <p:cNvPr id="34" name="Shape 32"/>
          <p:cNvSpPr/>
          <p:nvPr/>
        </p:nvSpPr>
        <p:spPr>
          <a:xfrm>
            <a:off x="6355080" y="3429000"/>
            <a:ext cx="5257800" cy="2743200"/>
          </a:xfrm>
          <a:prstGeom prst="roundRect">
            <a:avLst>
              <a:gd name="adj" fmla="val 2000"/>
            </a:avLst>
          </a:prstGeom>
          <a:solidFill>
            <a:srgbClr val="161B22"/>
          </a:solidFill>
          <a:ln w="12700">
            <a:solidFill>
              <a:srgbClr val="2B323C"/>
            </a:solidFill>
            <a:prstDash val="solid"/>
          </a:ln>
          <a:effectLst>
            <a:outerShdw sx="100000" sy="100000" kx="0" ky="0" algn="bl" rotWithShape="0" blurRad="127000" dist="25400" dir="5400000">
              <a:srgbClr val="000000">
                <a:alpha val="35000"/>
              </a:srgbClr>
            </a:outerShdw>
          </a:effectLst>
        </p:spPr>
      </p:sp>
      <p:sp>
        <p:nvSpPr>
          <p:cNvPr id="35" name="Text 33"/>
          <p:cNvSpPr txBox="1"/>
          <p:nvPr/>
        </p:nvSpPr>
        <p:spPr>
          <a:xfrm>
            <a:off x="6629400" y="3639312"/>
            <a:ext cx="4709160" cy="3017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E6EDF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By modality</a:t>
            </a:r>
            <a:endParaRPr lang="en-US" sz="1400" dirty="0"/>
          </a:p>
        </p:txBody>
      </p:sp>
      <p:sp>
        <p:nvSpPr>
          <p:cNvPr id="36" name="Text 34"/>
          <p:cNvSpPr txBox="1"/>
          <p:nvPr/>
        </p:nvSpPr>
        <p:spPr>
          <a:xfrm>
            <a:off x="6629400" y="3968496"/>
            <a:ext cx="47091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500"/>
              </a:lnSpc>
              <a:buNone/>
            </a:pPr>
            <a:r>
              <a:rPr lang="en-US" sz="1100" dirty="0">
                <a:solidFill>
                  <a:srgbClr val="8B949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hidden set applies 1.5× to multimodal scenarios, and half of it is multimodal.</a:t>
            </a:r>
            <a:endParaRPr lang="en-US" sz="1100" dirty="0"/>
          </a:p>
        </p:txBody>
      </p:sp>
      <p:sp>
        <p:nvSpPr>
          <p:cNvPr id="37" name="Shape 35"/>
          <p:cNvSpPr/>
          <p:nvPr/>
        </p:nvSpPr>
        <p:spPr>
          <a:xfrm>
            <a:off x="6647688" y="4626864"/>
            <a:ext cx="118872" cy="118872"/>
          </a:xfrm>
          <a:prstGeom prst="roundRect">
            <a:avLst>
              <a:gd name="adj" fmla="val 307692"/>
            </a:avLst>
          </a:prstGeom>
          <a:solidFill>
            <a:srgbClr val="58A6FF"/>
          </a:solidFill>
          <a:ln w="12700">
            <a:solidFill>
              <a:srgbClr val="58A6FF"/>
            </a:solidFill>
            <a:prstDash val="solid"/>
          </a:ln>
        </p:spPr>
      </p:sp>
      <p:sp>
        <p:nvSpPr>
          <p:cNvPr id="38" name="Text 36"/>
          <p:cNvSpPr txBox="1"/>
          <p:nvPr/>
        </p:nvSpPr>
        <p:spPr>
          <a:xfrm>
            <a:off x="6876288" y="4572000"/>
            <a:ext cx="11887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E6EDF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text</a:t>
            </a:r>
            <a:endParaRPr lang="en-US" sz="1250" dirty="0"/>
          </a:p>
        </p:txBody>
      </p:sp>
      <p:sp>
        <p:nvSpPr>
          <p:cNvPr id="39" name="Text 37"/>
          <p:cNvSpPr txBox="1"/>
          <p:nvPr/>
        </p:nvSpPr>
        <p:spPr>
          <a:xfrm>
            <a:off x="8046720" y="4590288"/>
            <a:ext cx="14630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6E768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16 scenarios</a:t>
            </a:r>
            <a:endParaRPr lang="en-US" sz="1100" dirty="0"/>
          </a:p>
        </p:txBody>
      </p:sp>
      <p:sp>
        <p:nvSpPr>
          <p:cNvPr id="40" name="Text 38"/>
          <p:cNvSpPr txBox="1"/>
          <p:nvPr/>
        </p:nvSpPr>
        <p:spPr>
          <a:xfrm>
            <a:off x="9601200" y="4572000"/>
            <a:ext cx="914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b="1" dirty="0">
                <a:solidFill>
                  <a:srgbClr val="58A6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110.1</a:t>
            </a:r>
            <a:endParaRPr lang="en-US" sz="1300" dirty="0"/>
          </a:p>
        </p:txBody>
      </p:sp>
      <p:sp>
        <p:nvSpPr>
          <p:cNvPr id="41" name="Shape 39"/>
          <p:cNvSpPr/>
          <p:nvPr/>
        </p:nvSpPr>
        <p:spPr>
          <a:xfrm>
            <a:off x="6647688" y="5138928"/>
            <a:ext cx="118872" cy="118872"/>
          </a:xfrm>
          <a:prstGeom prst="roundRect">
            <a:avLst>
              <a:gd name="adj" fmla="val 307692"/>
            </a:avLst>
          </a:prstGeom>
          <a:solidFill>
            <a:srgbClr val="A371F7"/>
          </a:solidFill>
          <a:ln w="12700">
            <a:solidFill>
              <a:srgbClr val="A371F7"/>
            </a:solidFill>
            <a:prstDash val="solid"/>
          </a:ln>
        </p:spPr>
      </p:sp>
      <p:sp>
        <p:nvSpPr>
          <p:cNvPr id="42" name="Text 40"/>
          <p:cNvSpPr txBox="1"/>
          <p:nvPr/>
        </p:nvSpPr>
        <p:spPr>
          <a:xfrm>
            <a:off x="6876288" y="5084064"/>
            <a:ext cx="11887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E6EDF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audio</a:t>
            </a:r>
            <a:endParaRPr lang="en-US" sz="1250" dirty="0"/>
          </a:p>
        </p:txBody>
      </p:sp>
      <p:sp>
        <p:nvSpPr>
          <p:cNvPr id="43" name="Text 41"/>
          <p:cNvSpPr txBox="1"/>
          <p:nvPr/>
        </p:nvSpPr>
        <p:spPr>
          <a:xfrm>
            <a:off x="8046720" y="5102352"/>
            <a:ext cx="14630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6E768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7 scenarios</a:t>
            </a:r>
            <a:endParaRPr lang="en-US" sz="1100" dirty="0"/>
          </a:p>
        </p:txBody>
      </p:sp>
      <p:sp>
        <p:nvSpPr>
          <p:cNvPr id="44" name="Text 42"/>
          <p:cNvSpPr txBox="1"/>
          <p:nvPr/>
        </p:nvSpPr>
        <p:spPr>
          <a:xfrm>
            <a:off x="9601200" y="5084064"/>
            <a:ext cx="914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b="1" dirty="0">
                <a:solidFill>
                  <a:srgbClr val="A371F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107.1</a:t>
            </a:r>
            <a:endParaRPr lang="en-US" sz="1300" dirty="0"/>
          </a:p>
        </p:txBody>
      </p:sp>
      <p:sp>
        <p:nvSpPr>
          <p:cNvPr id="45" name="Shape 43"/>
          <p:cNvSpPr/>
          <p:nvPr/>
        </p:nvSpPr>
        <p:spPr>
          <a:xfrm>
            <a:off x="6647688" y="5650992"/>
            <a:ext cx="118872" cy="118872"/>
          </a:xfrm>
          <a:prstGeom prst="roundRect">
            <a:avLst>
              <a:gd name="adj" fmla="val 307692"/>
            </a:avLst>
          </a:prstGeom>
          <a:solidFill>
            <a:srgbClr val="3FB950"/>
          </a:solidFill>
          <a:ln w="12700">
            <a:solidFill>
              <a:srgbClr val="3FB950"/>
            </a:solidFill>
            <a:prstDash val="solid"/>
          </a:ln>
        </p:spPr>
      </p:sp>
      <p:sp>
        <p:nvSpPr>
          <p:cNvPr id="46" name="Text 44"/>
          <p:cNvSpPr txBox="1"/>
          <p:nvPr/>
        </p:nvSpPr>
        <p:spPr>
          <a:xfrm>
            <a:off x="6876288" y="5596128"/>
            <a:ext cx="11887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E6EDF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visual</a:t>
            </a:r>
            <a:endParaRPr lang="en-US" sz="1250" dirty="0"/>
          </a:p>
        </p:txBody>
      </p:sp>
      <p:sp>
        <p:nvSpPr>
          <p:cNvPr id="47" name="Text 45"/>
          <p:cNvSpPr txBox="1"/>
          <p:nvPr/>
        </p:nvSpPr>
        <p:spPr>
          <a:xfrm>
            <a:off x="8046720" y="5614416"/>
            <a:ext cx="14630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6E768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6 scenarios</a:t>
            </a:r>
            <a:endParaRPr lang="en-US" sz="1100" dirty="0"/>
          </a:p>
        </p:txBody>
      </p:sp>
      <p:sp>
        <p:nvSpPr>
          <p:cNvPr id="48" name="Text 46"/>
          <p:cNvSpPr txBox="1"/>
          <p:nvPr/>
        </p:nvSpPr>
        <p:spPr>
          <a:xfrm>
            <a:off x="9601200" y="5596128"/>
            <a:ext cx="914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b="1" dirty="0">
                <a:solidFill>
                  <a:srgbClr val="3FB95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109.2</a:t>
            </a:r>
            <a:endParaRPr lang="en-US" sz="1300" dirty="0"/>
          </a:p>
        </p:txBody>
      </p:sp>
      <p:sp>
        <p:nvSpPr>
          <p:cNvPr id="49" name="Text 47"/>
          <p:cNvSpPr txBox="1"/>
          <p:nvPr/>
        </p:nvSpPr>
        <p:spPr>
          <a:xfrm>
            <a:off x="6629400" y="5779008"/>
            <a:ext cx="47091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i="1" dirty="0">
                <a:solidFill>
                  <a:srgbClr val="6E768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30 scenarios: 53% text / 23% audio / 23% visual.</a:t>
            </a:r>
            <a:endParaRPr lang="en-US" sz="105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0E1116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384048"/>
            <a:ext cx="110642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200" kern="0" dirty="0">
                <a:solidFill>
                  <a:srgbClr val="58A6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ADVERSARIAL TIMING</a:t>
            </a:r>
            <a:endParaRPr lang="en-US" sz="12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676656"/>
            <a:ext cx="1106424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400" b="1" dirty="0">
                <a:solidFill>
                  <a:srgbClr val="E6EDF3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You cannot test your way out of a hidden set</a:t>
            </a:r>
            <a:endParaRPr lang="en-US" sz="3400" dirty="0"/>
          </a:p>
        </p:txBody>
      </p:sp>
      <p:sp>
        <p:nvSpPr>
          <p:cNvPr id="4" name="Text 2"/>
          <p:cNvSpPr txBox="1"/>
          <p:nvPr/>
        </p:nvSpPr>
        <p:spPr>
          <a:xfrm>
            <a:off x="548640" y="1600200"/>
            <a:ext cx="11064240" cy="1143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2200"/>
              </a:lnSpc>
              <a:buNone/>
            </a:pPr>
            <a:r>
              <a:rPr lang="en-US" sz="1500" dirty="0">
                <a:solidFill>
                  <a:srgbClr val="8B949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hidden set is ~60 scenarios of “edge cases and adversarial timing”. Passing the thirty we wrote proves little — they are the cases we thought of. So the fuzzer jitters timestamps, scales tool latency, moves commit points, collapses events onto identical timestamps, injects faults and truncates sessions — then asserts only invariants, never expectations.</a:t>
            </a:r>
            <a:endParaRPr lang="en-US" sz="1500" dirty="0"/>
          </a:p>
        </p:txBody>
      </p:sp>
      <p:sp>
        <p:nvSpPr>
          <p:cNvPr id="5" name="Shape 3"/>
          <p:cNvSpPr/>
          <p:nvPr/>
        </p:nvSpPr>
        <p:spPr>
          <a:xfrm>
            <a:off x="548640" y="2834640"/>
            <a:ext cx="5349240" cy="3017520"/>
          </a:xfrm>
          <a:prstGeom prst="roundRect">
            <a:avLst>
              <a:gd name="adj" fmla="val 1818"/>
            </a:avLst>
          </a:prstGeom>
          <a:solidFill>
            <a:srgbClr val="161B22"/>
          </a:solidFill>
          <a:ln w="12700">
            <a:solidFill>
              <a:srgbClr val="2B323C"/>
            </a:solidFill>
            <a:prstDash val="solid"/>
          </a:ln>
          <a:effectLst>
            <a:outerShdw sx="100000" sy="100000" kx="0" ky="0" algn="bl" rotWithShape="0" blurRad="127000" dist="25400" dir="5400000">
              <a:srgbClr val="000000">
                <a:alpha val="35000"/>
              </a:srgbClr>
            </a:outerShdw>
          </a:effectLst>
        </p:spPr>
      </p:sp>
      <p:sp>
        <p:nvSpPr>
          <p:cNvPr id="6" name="Text 4"/>
          <p:cNvSpPr txBox="1"/>
          <p:nvPr/>
        </p:nvSpPr>
        <p:spPr>
          <a:xfrm>
            <a:off x="804672" y="3063240"/>
            <a:ext cx="48463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E6EDF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It found two bugs no hand-written test could reach</a:t>
            </a:r>
            <a:endParaRPr lang="en-US" sz="1400" dirty="0"/>
          </a:p>
        </p:txBody>
      </p:sp>
      <p:sp>
        <p:nvSpPr>
          <p:cNvPr id="7" name="Shape 5"/>
          <p:cNvSpPr/>
          <p:nvPr/>
        </p:nvSpPr>
        <p:spPr>
          <a:xfrm>
            <a:off x="822960" y="3703320"/>
            <a:ext cx="118872" cy="118872"/>
          </a:xfrm>
          <a:prstGeom prst="roundRect">
            <a:avLst>
              <a:gd name="adj" fmla="val 307692"/>
            </a:avLst>
          </a:prstGeom>
          <a:solidFill>
            <a:srgbClr val="F85149"/>
          </a:solidFill>
          <a:ln w="12700">
            <a:solidFill>
              <a:srgbClr val="F85149"/>
            </a:solidFill>
            <a:prstDash val="solid"/>
          </a:ln>
        </p:spPr>
      </p:sp>
      <p:sp>
        <p:nvSpPr>
          <p:cNvPr id="8" name="Text 6"/>
          <p:cNvSpPr txBox="1"/>
          <p:nvPr/>
        </p:nvSpPr>
        <p:spPr>
          <a:xfrm>
            <a:off x="1033272" y="3657600"/>
            <a:ext cx="461772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E6EDF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call vanished from the trace</a:t>
            </a:r>
            <a:endParaRPr lang="en-US" sz="1250" dirty="0"/>
          </a:p>
        </p:txBody>
      </p:sp>
      <p:sp>
        <p:nvSpPr>
          <p:cNvPr id="9" name="Text 7"/>
          <p:cNvSpPr txBox="1"/>
          <p:nvPr/>
        </p:nvSpPr>
        <p:spPr>
          <a:xfrm>
            <a:off x="1033272" y="3931920"/>
            <a:ext cx="461772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400"/>
              </a:lnSpc>
              <a:buNone/>
            </a:pPr>
            <a:r>
              <a:rPr lang="en-US" sz="1050" dirty="0">
                <a:solidFill>
                  <a:srgbClr val="8B949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Two chunks landed on one timestamp, so a speculative call was superseded in the instant it was created. create_task schedules rather than runs — the body never executed, and the “every exit writes an outcome” guarantee lives inside that body.</a:t>
            </a:r>
            <a:endParaRPr lang="en-US" sz="1050" dirty="0"/>
          </a:p>
        </p:txBody>
      </p:sp>
      <p:sp>
        <p:nvSpPr>
          <p:cNvPr id="10" name="Shape 8"/>
          <p:cNvSpPr/>
          <p:nvPr/>
        </p:nvSpPr>
        <p:spPr>
          <a:xfrm>
            <a:off x="822960" y="4818888"/>
            <a:ext cx="118872" cy="118872"/>
          </a:xfrm>
          <a:prstGeom prst="roundRect">
            <a:avLst>
              <a:gd name="adj" fmla="val 307692"/>
            </a:avLst>
          </a:prstGeom>
          <a:solidFill>
            <a:srgbClr val="F85149"/>
          </a:solidFill>
          <a:ln w="12700">
            <a:solidFill>
              <a:srgbClr val="F85149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1033272" y="4773168"/>
            <a:ext cx="461772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E6EDF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genuine double-booking</a:t>
            </a:r>
            <a:endParaRPr lang="en-US" sz="1250" dirty="0"/>
          </a:p>
        </p:txBody>
      </p:sp>
      <p:sp>
        <p:nvSpPr>
          <p:cNvPr id="12" name="Text 10"/>
          <p:cNvSpPr txBox="1"/>
          <p:nvPr/>
        </p:nvSpPr>
        <p:spPr>
          <a:xfrm>
            <a:off x="1033272" y="5047488"/>
            <a:ext cx="461772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400"/>
              </a:lnSpc>
              <a:buNone/>
            </a:pPr>
            <a:r>
              <a:rPr lang="en-US" sz="1050" dirty="0">
                <a:solidFill>
                  <a:srgbClr val="8B949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idempotency key included intent. Booking before the intent resolved and again afterwards gave two keys for one action — two reservations for one seat.</a:t>
            </a:r>
            <a:endParaRPr lang="en-US" sz="1050" dirty="0"/>
          </a:p>
        </p:txBody>
      </p:sp>
      <p:sp>
        <p:nvSpPr>
          <p:cNvPr id="13" name="Shape 11"/>
          <p:cNvSpPr/>
          <p:nvPr/>
        </p:nvSpPr>
        <p:spPr>
          <a:xfrm>
            <a:off x="6263640" y="2834640"/>
            <a:ext cx="5349240" cy="3017520"/>
          </a:xfrm>
          <a:prstGeom prst="roundRect">
            <a:avLst>
              <a:gd name="adj" fmla="val 1818"/>
            </a:avLst>
          </a:prstGeom>
          <a:solidFill>
            <a:srgbClr val="161B22"/>
          </a:solidFill>
          <a:ln w="12700">
            <a:solidFill>
              <a:srgbClr val="2B323C"/>
            </a:solidFill>
            <a:prstDash val="solid"/>
          </a:ln>
          <a:effectLst>
            <a:outerShdw sx="100000" sy="100000" kx="0" ky="0" algn="bl" rotWithShape="0" blurRad="127000" dist="25400" dir="5400000">
              <a:srgbClr val="000000">
                <a:alpha val="35000"/>
              </a:srgbClr>
            </a:outerShdw>
          </a:effectLst>
        </p:spPr>
      </p:sp>
      <p:sp>
        <p:nvSpPr>
          <p:cNvPr id="14" name="Text 12"/>
          <p:cNvSpPr txBox="1"/>
          <p:nvPr/>
        </p:nvSpPr>
        <p:spPr>
          <a:xfrm>
            <a:off x="6519672" y="3063240"/>
            <a:ext cx="484632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E6EDF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invariants</a:t>
            </a:r>
            <a:endParaRPr lang="en-US" sz="1400" dirty="0"/>
          </a:p>
        </p:txBody>
      </p:sp>
      <p:sp>
        <p:nvSpPr>
          <p:cNvPr id="15" name="Shape 13"/>
          <p:cNvSpPr/>
          <p:nvPr/>
        </p:nvSpPr>
        <p:spPr>
          <a:xfrm>
            <a:off x="6537960" y="3593592"/>
            <a:ext cx="100584" cy="100584"/>
          </a:xfrm>
          <a:prstGeom prst="roundRect">
            <a:avLst>
              <a:gd name="adj" fmla="val 363636"/>
            </a:avLst>
          </a:prstGeom>
          <a:solidFill>
            <a:srgbClr val="3FB950"/>
          </a:solidFill>
          <a:ln w="12700">
            <a:solidFill>
              <a:srgbClr val="3FB950"/>
            </a:solidFill>
            <a:prstDash val="solid"/>
          </a:ln>
        </p:spPr>
      </p:sp>
      <p:sp>
        <p:nvSpPr>
          <p:cNvPr id="16" name="Text 14"/>
          <p:cNvSpPr txBox="1"/>
          <p:nvPr/>
        </p:nvSpPr>
        <p:spPr>
          <a:xfrm>
            <a:off x="6748272" y="3547872"/>
            <a:ext cx="46634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8B949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 duplicate state-changing effect, ever</a:t>
            </a:r>
            <a:endParaRPr lang="en-US" sz="1150" dirty="0"/>
          </a:p>
        </p:txBody>
      </p:sp>
      <p:sp>
        <p:nvSpPr>
          <p:cNvPr id="17" name="Shape 15"/>
          <p:cNvSpPr/>
          <p:nvPr/>
        </p:nvSpPr>
        <p:spPr>
          <a:xfrm>
            <a:off x="6537960" y="3922776"/>
            <a:ext cx="100584" cy="100584"/>
          </a:xfrm>
          <a:prstGeom prst="roundRect">
            <a:avLst>
              <a:gd name="adj" fmla="val 363636"/>
            </a:avLst>
          </a:prstGeom>
          <a:solidFill>
            <a:srgbClr val="3FB950"/>
          </a:solidFill>
          <a:ln w="12700">
            <a:solidFill>
              <a:srgbClr val="3FB950"/>
            </a:solidFill>
            <a:prstDash val="solid"/>
          </a:ln>
        </p:spPr>
      </p:sp>
      <p:sp>
        <p:nvSpPr>
          <p:cNvPr id="18" name="Text 16"/>
          <p:cNvSpPr txBox="1"/>
          <p:nvPr/>
        </p:nvSpPr>
        <p:spPr>
          <a:xfrm>
            <a:off x="6748272" y="3877056"/>
            <a:ext cx="46634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8B949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 call left pending or missing from the trace</a:t>
            </a:r>
            <a:endParaRPr lang="en-US" sz="1150" dirty="0"/>
          </a:p>
        </p:txBody>
      </p:sp>
      <p:sp>
        <p:nvSpPr>
          <p:cNvPr id="19" name="Shape 17"/>
          <p:cNvSpPr/>
          <p:nvPr/>
        </p:nvSpPr>
        <p:spPr>
          <a:xfrm>
            <a:off x="6537960" y="4251960"/>
            <a:ext cx="100584" cy="100584"/>
          </a:xfrm>
          <a:prstGeom prst="roundRect">
            <a:avLst>
              <a:gd name="adj" fmla="val 363636"/>
            </a:avLst>
          </a:prstGeom>
          <a:solidFill>
            <a:srgbClr val="3FB950"/>
          </a:solidFill>
          <a:ln w="12700">
            <a:solidFill>
              <a:srgbClr val="3FB950"/>
            </a:solidFill>
            <a:prstDash val="solid"/>
          </a:ln>
        </p:spPr>
      </p:sp>
      <p:sp>
        <p:nvSpPr>
          <p:cNvPr id="20" name="Text 18"/>
          <p:cNvSpPr txBox="1"/>
          <p:nvPr/>
        </p:nvSpPr>
        <p:spPr>
          <a:xfrm>
            <a:off x="6748272" y="4206240"/>
            <a:ext cx="46634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8B949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 effect left unresolved and unmentioned</a:t>
            </a:r>
            <a:endParaRPr lang="en-US" sz="1150" dirty="0"/>
          </a:p>
        </p:txBody>
      </p:sp>
      <p:sp>
        <p:nvSpPr>
          <p:cNvPr id="21" name="Shape 19"/>
          <p:cNvSpPr/>
          <p:nvPr/>
        </p:nvSpPr>
        <p:spPr>
          <a:xfrm>
            <a:off x="6537960" y="4581144"/>
            <a:ext cx="100584" cy="100584"/>
          </a:xfrm>
          <a:prstGeom prst="roundRect">
            <a:avLst>
              <a:gd name="adj" fmla="val 363636"/>
            </a:avLst>
          </a:prstGeom>
          <a:solidFill>
            <a:srgbClr val="3FB950"/>
          </a:solidFill>
          <a:ln w="12700">
            <a:solidFill>
              <a:srgbClr val="3FB950"/>
            </a:solidFill>
            <a:prstDash val="solid"/>
          </a:ln>
        </p:spPr>
      </p:sp>
      <p:sp>
        <p:nvSpPr>
          <p:cNvPr id="22" name="Text 20"/>
          <p:cNvSpPr txBox="1"/>
          <p:nvPr/>
        </p:nvSpPr>
        <p:spPr>
          <a:xfrm>
            <a:off x="6748272" y="4535424"/>
            <a:ext cx="46634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8B949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nothing claimed that cannot be warranted</a:t>
            </a:r>
            <a:endParaRPr lang="en-US" sz="1150" dirty="0"/>
          </a:p>
        </p:txBody>
      </p:sp>
      <p:sp>
        <p:nvSpPr>
          <p:cNvPr id="23" name="Shape 21"/>
          <p:cNvSpPr/>
          <p:nvPr/>
        </p:nvSpPr>
        <p:spPr>
          <a:xfrm>
            <a:off x="6537960" y="4910328"/>
            <a:ext cx="100584" cy="100584"/>
          </a:xfrm>
          <a:prstGeom prst="roundRect">
            <a:avLst>
              <a:gd name="adj" fmla="val 363636"/>
            </a:avLst>
          </a:prstGeom>
          <a:solidFill>
            <a:srgbClr val="3FB950"/>
          </a:solidFill>
          <a:ln w="12700">
            <a:solidFill>
              <a:srgbClr val="3FB950"/>
            </a:solidFill>
            <a:prstDash val="solid"/>
          </a:ln>
        </p:spPr>
      </p:sp>
      <p:sp>
        <p:nvSpPr>
          <p:cNvPr id="24" name="Text 22"/>
          <p:cNvSpPr txBox="1"/>
          <p:nvPr/>
        </p:nvSpPr>
        <p:spPr>
          <a:xfrm>
            <a:off x="6748272" y="4864608"/>
            <a:ext cx="46634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8B949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 speculation of a state-modifying tool</a:t>
            </a:r>
            <a:endParaRPr lang="en-US" sz="1150" dirty="0"/>
          </a:p>
        </p:txBody>
      </p:sp>
      <p:sp>
        <p:nvSpPr>
          <p:cNvPr id="25" name="Shape 23"/>
          <p:cNvSpPr/>
          <p:nvPr/>
        </p:nvSpPr>
        <p:spPr>
          <a:xfrm>
            <a:off x="6537960" y="5239512"/>
            <a:ext cx="100584" cy="100584"/>
          </a:xfrm>
          <a:prstGeom prst="roundRect">
            <a:avLst>
              <a:gd name="adj" fmla="val 363636"/>
            </a:avLst>
          </a:prstGeom>
          <a:solidFill>
            <a:srgbClr val="3FB950"/>
          </a:solidFill>
          <a:ln w="12700">
            <a:solidFill>
              <a:srgbClr val="3FB950"/>
            </a:solidFill>
            <a:prstDash val="solid"/>
          </a:ln>
        </p:spPr>
      </p:sp>
      <p:sp>
        <p:nvSpPr>
          <p:cNvPr id="26" name="Text 24"/>
          <p:cNvSpPr txBox="1"/>
          <p:nvPr/>
        </p:nvSpPr>
        <p:spPr>
          <a:xfrm>
            <a:off x="6748272" y="5193792"/>
            <a:ext cx="46634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8B949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 run past the 120 s cap</a:t>
            </a:r>
            <a:endParaRPr lang="en-US" sz="1150" dirty="0"/>
          </a:p>
        </p:txBody>
      </p:sp>
      <p:sp>
        <p:nvSpPr>
          <p:cNvPr id="27" name="Text 25"/>
          <p:cNvSpPr txBox="1"/>
          <p:nvPr/>
        </p:nvSpPr>
        <p:spPr>
          <a:xfrm>
            <a:off x="6519672" y="5504688"/>
            <a:ext cx="4846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3FB95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Every run held, across thousands of schedules.</a:t>
            </a:r>
            <a:endParaRPr lang="en-US" sz="13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0E1116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384048"/>
            <a:ext cx="110642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200" kern="0" dirty="0">
                <a:solidFill>
                  <a:srgbClr val="58A6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REPORTED AS MEASURED</a:t>
            </a:r>
            <a:endParaRPr lang="en-US" sz="12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676656"/>
            <a:ext cx="1106424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400" b="1" dirty="0">
                <a:solidFill>
                  <a:srgbClr val="E6EDF3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Where machine learning earns its place — and where it doesn’t</a:t>
            </a:r>
            <a:endParaRPr lang="en-US" sz="3400" dirty="0"/>
          </a:p>
        </p:txBody>
      </p:sp>
      <p:sp>
        <p:nvSpPr>
          <p:cNvPr id="4" name="Text 2"/>
          <p:cNvSpPr txBox="1"/>
          <p:nvPr/>
        </p:nvSpPr>
        <p:spPr>
          <a:xfrm>
            <a:off x="548640" y="1600200"/>
            <a:ext cx="1106424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2200"/>
              </a:lnSpc>
              <a:buNone/>
            </a:pPr>
            <a:r>
              <a:rPr lang="en-US" sz="1500" dirty="0">
                <a:solidFill>
                  <a:srgbClr val="8B949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Two learned components, both trained offline, both shipped as a few kilobytes of JSON, both inferring in numpy. scikit-learn is a development dependency and never runs at scenario time — the 120 s cap and the ban on runtime downloads decide that.</a:t>
            </a:r>
            <a:endParaRPr lang="en-US" sz="1500" dirty="0"/>
          </a:p>
        </p:txBody>
      </p:sp>
      <p:sp>
        <p:nvSpPr>
          <p:cNvPr id="5" name="Shape 3"/>
          <p:cNvSpPr/>
          <p:nvPr/>
        </p:nvSpPr>
        <p:spPr>
          <a:xfrm>
            <a:off x="548640" y="2606040"/>
            <a:ext cx="6035040" cy="2286000"/>
          </a:xfrm>
          <a:prstGeom prst="roundRect">
            <a:avLst>
              <a:gd name="adj" fmla="val 2400"/>
            </a:avLst>
          </a:prstGeom>
          <a:solidFill>
            <a:srgbClr val="161B22"/>
          </a:solidFill>
          <a:ln w="12700">
            <a:solidFill>
              <a:srgbClr val="2B323C"/>
            </a:solidFill>
            <a:prstDash val="solid"/>
          </a:ln>
          <a:effectLst>
            <a:outerShdw sx="100000" sy="100000" kx="0" ky="0" algn="bl" rotWithShape="0" blurRad="127000" dist="25400" dir="5400000">
              <a:srgbClr val="000000">
                <a:alpha val="35000"/>
              </a:srgbClr>
            </a:outerShdw>
          </a:effectLst>
        </p:spPr>
      </p:sp>
      <p:sp>
        <p:nvSpPr>
          <p:cNvPr id="6" name="Text 4"/>
          <p:cNvSpPr txBox="1"/>
          <p:nvPr/>
        </p:nvSpPr>
        <p:spPr>
          <a:xfrm>
            <a:off x="822960" y="2788920"/>
            <a:ext cx="54864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E6EDF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Interruption classifier: rules vs model</a:t>
            </a:r>
            <a:endParaRPr lang="en-US" sz="1350" dirty="0"/>
          </a:p>
        </p:txBody>
      </p:sp>
      <p:sp>
        <p:nvSpPr>
          <p:cNvPr id="7" name="Text 5"/>
          <p:cNvSpPr txBox="1"/>
          <p:nvPr/>
        </p:nvSpPr>
        <p:spPr>
          <a:xfrm>
            <a:off x="822960" y="3200400"/>
            <a:ext cx="31089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endParaRPr lang="en-US" sz="1150" dirty="0"/>
          </a:p>
        </p:txBody>
      </p:sp>
      <p:sp>
        <p:nvSpPr>
          <p:cNvPr id="8" name="Text 6"/>
          <p:cNvSpPr txBox="1"/>
          <p:nvPr/>
        </p:nvSpPr>
        <p:spPr>
          <a:xfrm>
            <a:off x="3977640" y="3200400"/>
            <a:ext cx="1143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50" b="1" dirty="0">
                <a:solidFill>
                  <a:srgbClr val="6E768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RULES</a:t>
            </a:r>
            <a:endParaRPr lang="en-US" sz="1150" dirty="0"/>
          </a:p>
        </p:txBody>
      </p:sp>
      <p:sp>
        <p:nvSpPr>
          <p:cNvPr id="9" name="Text 7"/>
          <p:cNvSpPr txBox="1"/>
          <p:nvPr/>
        </p:nvSpPr>
        <p:spPr>
          <a:xfrm>
            <a:off x="5212080" y="3200400"/>
            <a:ext cx="1143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50" b="1" dirty="0">
                <a:solidFill>
                  <a:srgbClr val="6E768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MODEL</a:t>
            </a:r>
            <a:endParaRPr lang="en-US" sz="1150" dirty="0"/>
          </a:p>
        </p:txBody>
      </p:sp>
      <p:sp>
        <p:nvSpPr>
          <p:cNvPr id="10" name="Text 8"/>
          <p:cNvSpPr txBox="1"/>
          <p:nvPr/>
        </p:nvSpPr>
        <p:spPr>
          <a:xfrm>
            <a:off x="822960" y="3602736"/>
            <a:ext cx="31089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8B949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held-out phrasings, clean</a:t>
            </a:r>
            <a:endParaRPr lang="en-US" sz="1150" dirty="0"/>
          </a:p>
        </p:txBody>
      </p:sp>
      <p:sp>
        <p:nvSpPr>
          <p:cNvPr id="11" name="Text 9"/>
          <p:cNvSpPr txBox="1"/>
          <p:nvPr/>
        </p:nvSpPr>
        <p:spPr>
          <a:xfrm>
            <a:off x="3977640" y="3602736"/>
            <a:ext cx="1143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50" b="1" dirty="0">
                <a:solidFill>
                  <a:srgbClr val="3FB95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1.000</a:t>
            </a:r>
            <a:endParaRPr lang="en-US" sz="1150" dirty="0"/>
          </a:p>
        </p:txBody>
      </p:sp>
      <p:sp>
        <p:nvSpPr>
          <p:cNvPr id="12" name="Text 10"/>
          <p:cNvSpPr txBox="1"/>
          <p:nvPr/>
        </p:nvSpPr>
        <p:spPr>
          <a:xfrm>
            <a:off x="5212080" y="3602736"/>
            <a:ext cx="1143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50" dirty="0">
                <a:solidFill>
                  <a:srgbClr val="8B949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0.945</a:t>
            </a:r>
            <a:endParaRPr lang="en-US" sz="1150" dirty="0"/>
          </a:p>
        </p:txBody>
      </p:sp>
      <p:sp>
        <p:nvSpPr>
          <p:cNvPr id="13" name="Text 11"/>
          <p:cNvSpPr txBox="1"/>
          <p:nvPr/>
        </p:nvSpPr>
        <p:spPr>
          <a:xfrm>
            <a:off x="822960" y="4005072"/>
            <a:ext cx="31089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8B949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held-out + ASR noise</a:t>
            </a:r>
            <a:endParaRPr lang="en-US" sz="1150" dirty="0"/>
          </a:p>
        </p:txBody>
      </p:sp>
      <p:sp>
        <p:nvSpPr>
          <p:cNvPr id="14" name="Text 12"/>
          <p:cNvSpPr txBox="1"/>
          <p:nvPr/>
        </p:nvSpPr>
        <p:spPr>
          <a:xfrm>
            <a:off x="3977640" y="4005072"/>
            <a:ext cx="1143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50" b="1" dirty="0">
                <a:solidFill>
                  <a:srgbClr val="3FB95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0.891</a:t>
            </a:r>
            <a:endParaRPr lang="en-US" sz="1150" dirty="0"/>
          </a:p>
        </p:txBody>
      </p:sp>
      <p:sp>
        <p:nvSpPr>
          <p:cNvPr id="15" name="Text 13"/>
          <p:cNvSpPr txBox="1"/>
          <p:nvPr/>
        </p:nvSpPr>
        <p:spPr>
          <a:xfrm>
            <a:off x="5212080" y="4005072"/>
            <a:ext cx="1143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50" dirty="0">
                <a:solidFill>
                  <a:srgbClr val="8B949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0.876</a:t>
            </a:r>
            <a:endParaRPr lang="en-US" sz="1150" dirty="0"/>
          </a:p>
        </p:txBody>
      </p:sp>
      <p:sp>
        <p:nvSpPr>
          <p:cNvPr id="16" name="Text 14"/>
          <p:cNvSpPr txBox="1"/>
          <p:nvPr/>
        </p:nvSpPr>
        <p:spPr>
          <a:xfrm>
            <a:off x="822960" y="4407408"/>
            <a:ext cx="31089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8B949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arbitrated ensemble (test)</a:t>
            </a:r>
            <a:endParaRPr lang="en-US" sz="1150" dirty="0"/>
          </a:p>
        </p:txBody>
      </p:sp>
      <p:sp>
        <p:nvSpPr>
          <p:cNvPr id="17" name="Text 15"/>
          <p:cNvSpPr txBox="1"/>
          <p:nvPr/>
        </p:nvSpPr>
        <p:spPr>
          <a:xfrm>
            <a:off x="3977640" y="4407408"/>
            <a:ext cx="1143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50" dirty="0">
                <a:solidFill>
                  <a:srgbClr val="8B949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0.907</a:t>
            </a:r>
            <a:endParaRPr lang="en-US" sz="1150" dirty="0"/>
          </a:p>
        </p:txBody>
      </p:sp>
      <p:sp>
        <p:nvSpPr>
          <p:cNvPr id="18" name="Text 16"/>
          <p:cNvSpPr txBox="1"/>
          <p:nvPr/>
        </p:nvSpPr>
        <p:spPr>
          <a:xfrm>
            <a:off x="5212080" y="4407408"/>
            <a:ext cx="1143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50" b="1" dirty="0">
                <a:solidFill>
                  <a:srgbClr val="3FB95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0.922</a:t>
            </a:r>
            <a:endParaRPr lang="en-US" sz="1150" dirty="0"/>
          </a:p>
        </p:txBody>
      </p:sp>
      <p:sp>
        <p:nvSpPr>
          <p:cNvPr id="19" name="Shape 17"/>
          <p:cNvSpPr/>
          <p:nvPr/>
        </p:nvSpPr>
        <p:spPr>
          <a:xfrm>
            <a:off x="6949440" y="2606040"/>
            <a:ext cx="4663440" cy="2286000"/>
          </a:xfrm>
          <a:prstGeom prst="roundRect">
            <a:avLst>
              <a:gd name="adj" fmla="val 2400"/>
            </a:avLst>
          </a:prstGeom>
          <a:solidFill>
            <a:srgbClr val="161B22"/>
          </a:solidFill>
          <a:ln w="12700">
            <a:solidFill>
              <a:srgbClr val="2B323C"/>
            </a:solidFill>
            <a:prstDash val="solid"/>
          </a:ln>
          <a:effectLst>
            <a:outerShdw sx="100000" sy="100000" kx="0" ky="0" algn="bl" rotWithShape="0" blurRad="127000" dist="25400" dir="5400000">
              <a:srgbClr val="000000">
                <a:alpha val="35000"/>
              </a:srgbClr>
            </a:outerShdw>
          </a:effectLst>
        </p:spPr>
      </p:sp>
      <p:sp>
        <p:nvSpPr>
          <p:cNvPr id="20" name="Text 18"/>
          <p:cNvSpPr txBox="1"/>
          <p:nvPr/>
        </p:nvSpPr>
        <p:spPr>
          <a:xfrm>
            <a:off x="7205472" y="2788920"/>
            <a:ext cx="41148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D299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honest conclusion</a:t>
            </a:r>
            <a:endParaRPr lang="en-US" sz="1350" dirty="0"/>
          </a:p>
        </p:txBody>
      </p:sp>
      <p:sp>
        <p:nvSpPr>
          <p:cNvPr id="21" name="Text 19"/>
          <p:cNvSpPr txBox="1"/>
          <p:nvPr/>
        </p:nvSpPr>
        <p:spPr>
          <a:xfrm>
            <a:off x="7205472" y="3200400"/>
            <a:ext cx="4114800" cy="1554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500"/>
              </a:lnSpc>
              <a:buNone/>
            </a:pPr>
            <a:r>
              <a:rPr lang="en-US" sz="1100" dirty="0">
                <a:solidFill>
                  <a:srgbClr val="8B949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model does not beat the rules. The feature vector was hand-designed to be discriminative, so a linear model over it fits a boundary the rules already encode.</a:t>
            </a:r>
            <a:endParaRPr lang="en-US" sz="1100" dirty="0"/>
          </a:p>
          <a:p>
            <a:pPr indent="0" marL="0">
              <a:lnSpc>
                <a:spcPts val="1500"/>
              </a:lnSpc>
              <a:buNone/>
            </a:pPr>
            <a:endParaRPr lang="en-US" sz="1100" dirty="0"/>
          </a:p>
          <a:p>
            <a:pPr indent="0" marL="0">
              <a:lnSpc>
                <a:spcPts val="1500"/>
              </a:lnSpc>
              <a:buNone/>
            </a:pPr>
            <a:r>
              <a:rPr lang="en-US" sz="1100" dirty="0">
                <a:solidFill>
                  <a:srgbClr val="8B949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It ships only because the arbitrated ensemble beats rules alone — on a split used neither for fitting nor for choosing the arbitration policy. A +1.5 point margin is small, and is reported as small.</a:t>
            </a:r>
            <a:endParaRPr lang="en-US" sz="1100" dirty="0"/>
          </a:p>
        </p:txBody>
      </p:sp>
      <p:sp>
        <p:nvSpPr>
          <p:cNvPr id="22" name="Shape 20"/>
          <p:cNvSpPr/>
          <p:nvPr/>
        </p:nvSpPr>
        <p:spPr>
          <a:xfrm>
            <a:off x="548640" y="5120640"/>
            <a:ext cx="11064240" cy="1188720"/>
          </a:xfrm>
          <a:prstGeom prst="roundRect">
            <a:avLst>
              <a:gd name="adj" fmla="val 4615"/>
            </a:avLst>
          </a:prstGeom>
          <a:solidFill>
            <a:srgbClr val="12181F"/>
          </a:solidFill>
          <a:ln w="12700">
            <a:solidFill>
              <a:srgbClr val="2B323C"/>
            </a:solidFill>
            <a:prstDash val="solid"/>
          </a:ln>
          <a:effectLst>
            <a:outerShdw sx="100000" sy="100000" kx="0" ky="0" algn="bl" rotWithShape="0" blurRad="127000" dist="25400" dir="5400000">
              <a:srgbClr val="000000">
                <a:alpha val="35000"/>
              </a:srgbClr>
            </a:outerShdw>
          </a:effectLst>
        </p:spPr>
      </p:sp>
      <p:sp>
        <p:nvSpPr>
          <p:cNvPr id="23" name="Text 21"/>
          <p:cNvSpPr txBox="1"/>
          <p:nvPr/>
        </p:nvSpPr>
        <p:spPr>
          <a:xfrm>
            <a:off x="822960" y="5285232"/>
            <a:ext cx="105156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3FB95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Chasing the gap was worth more than the model</a:t>
            </a:r>
            <a:endParaRPr lang="en-US" sz="1300" dirty="0"/>
          </a:p>
        </p:txBody>
      </p:sp>
      <p:sp>
        <p:nvSpPr>
          <p:cNvPr id="24" name="Text 22"/>
          <p:cNvSpPr txBox="1"/>
          <p:nvPr/>
        </p:nvSpPr>
        <p:spPr>
          <a:xfrm>
            <a:off x="822960" y="5614416"/>
            <a:ext cx="10515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500"/>
              </a:lnSpc>
              <a:buNone/>
            </a:pPr>
            <a:r>
              <a:rPr lang="en-US" sz="1100" dirty="0">
                <a:solidFill>
                  <a:srgbClr val="8B949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It surfaced a real extraction bug — “the Tuesday one” binding party_size = 1, a false slot in the scored snapshot — and the finding that an inserted “uh” derailed rule ordering entirely. Stripping hesitation before matching semantic cues lifted rule accuracy under noise from 0.809 to 0.891. With audio at 30% of the hidden set, that is the most valuable thing the detour produced.</a:t>
            </a:r>
            <a:endParaRPr lang="en-US" sz="1100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0E1116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384048"/>
            <a:ext cx="110642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200" kern="0" dirty="0">
                <a:solidFill>
                  <a:srgbClr val="58A6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DELIBERATELY THIN</a:t>
            </a:r>
            <a:endParaRPr lang="en-US" sz="12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676656"/>
            <a:ext cx="1106424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400" b="1" dirty="0">
                <a:solidFill>
                  <a:srgbClr val="E6EDF3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Tools and tech stack</a:t>
            </a:r>
            <a:endParaRPr lang="en-US" sz="3400" dirty="0"/>
          </a:p>
        </p:txBody>
      </p:sp>
      <p:sp>
        <p:nvSpPr>
          <p:cNvPr id="4" name="Shape 2"/>
          <p:cNvSpPr/>
          <p:nvPr/>
        </p:nvSpPr>
        <p:spPr>
          <a:xfrm>
            <a:off x="548640" y="1691640"/>
            <a:ext cx="3520440" cy="3200400"/>
          </a:xfrm>
          <a:prstGeom prst="roundRect">
            <a:avLst>
              <a:gd name="adj" fmla="val 1714"/>
            </a:avLst>
          </a:prstGeom>
          <a:solidFill>
            <a:srgbClr val="161B22"/>
          </a:solidFill>
          <a:ln w="12700">
            <a:solidFill>
              <a:srgbClr val="2B323C"/>
            </a:solidFill>
            <a:prstDash val="solid"/>
          </a:ln>
          <a:effectLst>
            <a:outerShdw sx="100000" sy="100000" kx="0" ky="0" algn="bl" rotWithShape="0" blurRad="127000" dist="25400" dir="5400000">
              <a:srgbClr val="000000">
                <a:alpha val="35000"/>
              </a:srgbClr>
            </a:outerShdw>
          </a:effectLst>
        </p:spPr>
      </p:sp>
      <p:sp>
        <p:nvSpPr>
          <p:cNvPr id="5" name="Shape 3"/>
          <p:cNvSpPr/>
          <p:nvPr/>
        </p:nvSpPr>
        <p:spPr>
          <a:xfrm>
            <a:off x="804672" y="1947672"/>
            <a:ext cx="137160" cy="137160"/>
          </a:xfrm>
          <a:prstGeom prst="roundRect">
            <a:avLst>
              <a:gd name="adj" fmla="val 266667"/>
            </a:avLst>
          </a:prstGeom>
          <a:solidFill>
            <a:srgbClr val="58A6FF"/>
          </a:solidFill>
          <a:ln w="12700">
            <a:solidFill>
              <a:srgbClr val="58A6FF"/>
            </a:solidFill>
            <a:prstDash val="solid"/>
          </a:ln>
        </p:spPr>
      </p:sp>
      <p:sp>
        <p:nvSpPr>
          <p:cNvPr id="6" name="Text 4"/>
          <p:cNvSpPr txBox="1"/>
          <p:nvPr/>
        </p:nvSpPr>
        <p:spPr>
          <a:xfrm>
            <a:off x="1024128" y="1874520"/>
            <a:ext cx="283464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E6EDF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Runtime</a:t>
            </a:r>
            <a:endParaRPr lang="en-US" sz="1400" dirty="0"/>
          </a:p>
        </p:txBody>
      </p:sp>
      <p:sp>
        <p:nvSpPr>
          <p:cNvPr id="7" name="Text 5"/>
          <p:cNvSpPr txBox="1"/>
          <p:nvPr/>
        </p:nvSpPr>
        <p:spPr>
          <a:xfrm>
            <a:off x="822960" y="2331720"/>
            <a:ext cx="3017520" cy="23774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342900" indent="-342900">
              <a:spcAft>
                <a:spcPts val="700"/>
              </a:spcAft>
              <a:buSzPct val="100000"/>
              <a:buChar char="•"/>
            </a:pPr>
            <a:r>
              <a:rPr lang="en-US" sz="1150" dirty="0">
                <a:solidFill>
                  <a:srgbClr val="8B949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Python 3.10–3.12 (pinned 3.12)</a:t>
            </a:r>
            <a:endParaRPr lang="en-US" sz="1150" dirty="0"/>
          </a:p>
          <a:p>
            <a:pPr marL="342900" indent="-342900">
              <a:spcAft>
                <a:spcPts val="700"/>
              </a:spcAft>
              <a:buSzPct val="100000"/>
              <a:buChar char="•"/>
            </a:pPr>
            <a:r>
              <a:rPr lang="en-US" sz="1150" dirty="0">
                <a:solidFill>
                  <a:srgbClr val="8B949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pydantic 2 — typed wire contracts</a:t>
            </a:r>
            <a:endParaRPr lang="en-US" sz="1150" dirty="0"/>
          </a:p>
          <a:p>
            <a:pPr marL="342900" indent="-342900">
              <a:spcAft>
                <a:spcPts val="700"/>
              </a:spcAft>
              <a:buSzPct val="100000"/>
              <a:buChar char="•"/>
            </a:pPr>
            <a:r>
              <a:rPr lang="en-US" sz="1150" dirty="0">
                <a:solidFill>
                  <a:srgbClr val="8B949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numpy — all model inference</a:t>
            </a:r>
            <a:endParaRPr lang="en-US" sz="1150" dirty="0"/>
          </a:p>
          <a:p>
            <a:pPr marL="342900" indent="-342900">
              <a:spcAft>
                <a:spcPts val="700"/>
              </a:spcAft>
              <a:buSzPct val="100000"/>
              <a:buChar char="•"/>
            </a:pPr>
            <a:r>
              <a:rPr lang="en-US" sz="1150" dirty="0">
                <a:solidFill>
                  <a:srgbClr val="8B949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Pillow — frame decoding</a:t>
            </a:r>
            <a:endParaRPr lang="en-US" sz="1150" dirty="0"/>
          </a:p>
          <a:p>
            <a:pPr marL="342900" indent="-342900">
              <a:spcAft>
                <a:spcPts val="700"/>
              </a:spcAft>
              <a:buSzPct val="100000"/>
              <a:buChar char="•"/>
            </a:pPr>
            <a:r>
              <a:rPr lang="en-US" sz="1150" dirty="0">
                <a:solidFill>
                  <a:srgbClr val="8B949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asyncio — subclassed event loop</a:t>
            </a:r>
            <a:endParaRPr lang="en-US" sz="1150" dirty="0"/>
          </a:p>
        </p:txBody>
      </p:sp>
      <p:sp>
        <p:nvSpPr>
          <p:cNvPr id="8" name="Shape 6"/>
          <p:cNvSpPr/>
          <p:nvPr/>
        </p:nvSpPr>
        <p:spPr>
          <a:xfrm>
            <a:off x="4343400" y="1691640"/>
            <a:ext cx="3520440" cy="3200400"/>
          </a:xfrm>
          <a:prstGeom prst="roundRect">
            <a:avLst>
              <a:gd name="adj" fmla="val 1714"/>
            </a:avLst>
          </a:prstGeom>
          <a:solidFill>
            <a:srgbClr val="161B22"/>
          </a:solidFill>
          <a:ln w="12700">
            <a:solidFill>
              <a:srgbClr val="2B323C"/>
            </a:solidFill>
            <a:prstDash val="solid"/>
          </a:ln>
          <a:effectLst>
            <a:outerShdw sx="100000" sy="100000" kx="0" ky="0" algn="bl" rotWithShape="0" blurRad="127000" dist="25400" dir="5400000">
              <a:srgbClr val="000000">
                <a:alpha val="35000"/>
              </a:srgbClr>
            </a:outerShdw>
          </a:effectLst>
        </p:spPr>
      </p:sp>
      <p:sp>
        <p:nvSpPr>
          <p:cNvPr id="9" name="Shape 7"/>
          <p:cNvSpPr/>
          <p:nvPr/>
        </p:nvSpPr>
        <p:spPr>
          <a:xfrm>
            <a:off x="4599432" y="1947672"/>
            <a:ext cx="137160" cy="137160"/>
          </a:xfrm>
          <a:prstGeom prst="roundRect">
            <a:avLst>
              <a:gd name="adj" fmla="val 266667"/>
            </a:avLst>
          </a:prstGeom>
          <a:solidFill>
            <a:srgbClr val="A371F7"/>
          </a:solidFill>
          <a:ln w="12700">
            <a:solidFill>
              <a:srgbClr val="A371F7"/>
            </a:solidFill>
            <a:prstDash val="solid"/>
          </a:ln>
        </p:spPr>
      </p:sp>
      <p:sp>
        <p:nvSpPr>
          <p:cNvPr id="10" name="Text 8"/>
          <p:cNvSpPr txBox="1"/>
          <p:nvPr/>
        </p:nvSpPr>
        <p:spPr>
          <a:xfrm>
            <a:off x="4818888" y="1874520"/>
            <a:ext cx="283464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E6EDF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Development only</a:t>
            </a:r>
            <a:endParaRPr lang="en-US" sz="1400" dirty="0"/>
          </a:p>
        </p:txBody>
      </p:sp>
      <p:sp>
        <p:nvSpPr>
          <p:cNvPr id="11" name="Text 9"/>
          <p:cNvSpPr txBox="1"/>
          <p:nvPr/>
        </p:nvSpPr>
        <p:spPr>
          <a:xfrm>
            <a:off x="4617720" y="2331720"/>
            <a:ext cx="3017520" cy="23774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342900" indent="-342900">
              <a:spcAft>
                <a:spcPts val="700"/>
              </a:spcAft>
              <a:buSzPct val="100000"/>
              <a:buChar char="•"/>
            </a:pPr>
            <a:r>
              <a:rPr lang="en-US" sz="1150" dirty="0">
                <a:solidFill>
                  <a:srgbClr val="8B949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scikit-learn — offline training</a:t>
            </a:r>
            <a:endParaRPr lang="en-US" sz="1150" dirty="0"/>
          </a:p>
          <a:p>
            <a:pPr marL="342900" indent="-342900">
              <a:spcAft>
                <a:spcPts val="700"/>
              </a:spcAft>
              <a:buSzPct val="100000"/>
              <a:buChar char="•"/>
            </a:pPr>
            <a:r>
              <a:rPr lang="en-US" sz="1150" dirty="0">
                <a:solidFill>
                  <a:srgbClr val="8B949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pytest + pytest-asyncio — 233 tests</a:t>
            </a:r>
            <a:endParaRPr lang="en-US" sz="1150" dirty="0"/>
          </a:p>
          <a:p>
            <a:pPr marL="342900" indent="-342900">
              <a:spcAft>
                <a:spcPts val="700"/>
              </a:spcAft>
              <a:buSzPct val="100000"/>
              <a:buChar char="•"/>
            </a:pPr>
            <a:r>
              <a:rPr lang="en-US" sz="1150" dirty="0">
                <a:solidFill>
                  <a:srgbClr val="8B949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Node + pptxgenjs — this deck</a:t>
            </a:r>
            <a:endParaRPr lang="en-US" sz="1150" dirty="0"/>
          </a:p>
        </p:txBody>
      </p:sp>
      <p:sp>
        <p:nvSpPr>
          <p:cNvPr id="12" name="Shape 10"/>
          <p:cNvSpPr/>
          <p:nvPr/>
        </p:nvSpPr>
        <p:spPr>
          <a:xfrm>
            <a:off x="8138160" y="1691640"/>
            <a:ext cx="3520440" cy="3200400"/>
          </a:xfrm>
          <a:prstGeom prst="roundRect">
            <a:avLst>
              <a:gd name="adj" fmla="val 1714"/>
            </a:avLst>
          </a:prstGeom>
          <a:solidFill>
            <a:srgbClr val="161B22"/>
          </a:solidFill>
          <a:ln w="12700">
            <a:solidFill>
              <a:srgbClr val="2B323C"/>
            </a:solidFill>
            <a:prstDash val="solid"/>
          </a:ln>
          <a:effectLst>
            <a:outerShdw sx="100000" sy="100000" kx="0" ky="0" algn="bl" rotWithShape="0" blurRad="127000" dist="25400" dir="5400000">
              <a:srgbClr val="000000">
                <a:alpha val="35000"/>
              </a:srgbClr>
            </a:outerShdw>
          </a:effectLst>
        </p:spPr>
      </p:sp>
      <p:sp>
        <p:nvSpPr>
          <p:cNvPr id="13" name="Shape 11"/>
          <p:cNvSpPr/>
          <p:nvPr/>
        </p:nvSpPr>
        <p:spPr>
          <a:xfrm>
            <a:off x="8394192" y="1947672"/>
            <a:ext cx="137160" cy="137160"/>
          </a:xfrm>
          <a:prstGeom prst="roundRect">
            <a:avLst>
              <a:gd name="adj" fmla="val 266667"/>
            </a:avLst>
          </a:prstGeom>
          <a:solidFill>
            <a:srgbClr val="3FB950"/>
          </a:solidFill>
          <a:ln w="12700">
            <a:solidFill>
              <a:srgbClr val="3FB950"/>
            </a:solidFill>
            <a:prstDash val="solid"/>
          </a:ln>
        </p:spPr>
      </p:sp>
      <p:sp>
        <p:nvSpPr>
          <p:cNvPr id="14" name="Text 12"/>
          <p:cNvSpPr txBox="1"/>
          <p:nvPr/>
        </p:nvSpPr>
        <p:spPr>
          <a:xfrm>
            <a:off x="8613648" y="1874520"/>
            <a:ext cx="283464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E6EDF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Built, not imported</a:t>
            </a:r>
            <a:endParaRPr lang="en-US" sz="1400" dirty="0"/>
          </a:p>
        </p:txBody>
      </p:sp>
      <p:sp>
        <p:nvSpPr>
          <p:cNvPr id="15" name="Text 13"/>
          <p:cNvSpPr txBox="1"/>
          <p:nvPr/>
        </p:nvSpPr>
        <p:spPr>
          <a:xfrm>
            <a:off x="8412480" y="2331720"/>
            <a:ext cx="3017520" cy="23774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342900" indent="-342900">
              <a:spcAft>
                <a:spcPts val="700"/>
              </a:spcAft>
              <a:buSzPct val="100000"/>
              <a:buChar char="•"/>
            </a:pPr>
            <a:r>
              <a:rPr lang="en-US" sz="1150" dirty="0">
                <a:solidFill>
                  <a:srgbClr val="8B949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virtual-clock harness + trace</a:t>
            </a:r>
            <a:endParaRPr lang="en-US" sz="1150" dirty="0"/>
          </a:p>
          <a:p>
            <a:pPr marL="342900" indent="-342900">
              <a:spcAft>
                <a:spcPts val="700"/>
              </a:spcAft>
              <a:buSzPct val="100000"/>
              <a:buChar char="•"/>
            </a:pPr>
            <a:r>
              <a:rPr lang="en-US" sz="1150" dirty="0">
                <a:solidFill>
                  <a:srgbClr val="8B949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deterministic mock environment</a:t>
            </a:r>
            <a:endParaRPr lang="en-US" sz="1150" dirty="0"/>
          </a:p>
          <a:p>
            <a:pPr marL="342900" indent="-342900">
              <a:spcAft>
                <a:spcPts val="700"/>
              </a:spcAft>
              <a:buSzPct val="100000"/>
              <a:buChar char="•"/>
            </a:pPr>
            <a:r>
              <a:rPr lang="en-US" sz="1150" dirty="0">
                <a:solidFill>
                  <a:srgbClr val="8B949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rubric scorer</a:t>
            </a:r>
            <a:endParaRPr lang="en-US" sz="1150" dirty="0"/>
          </a:p>
          <a:p>
            <a:pPr marL="342900" indent="-342900">
              <a:spcAft>
                <a:spcPts val="700"/>
              </a:spcAft>
              <a:buSzPct val="100000"/>
              <a:buChar char="•"/>
            </a:pPr>
            <a:r>
              <a:rPr lang="en-US" sz="1150" dirty="0">
                <a:solidFill>
                  <a:srgbClr val="8B949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invariant timing fuzzer</a:t>
            </a:r>
            <a:endParaRPr lang="en-US" sz="1150" dirty="0"/>
          </a:p>
          <a:p>
            <a:pPr marL="342900" indent="-342900">
              <a:spcAft>
                <a:spcPts val="700"/>
              </a:spcAft>
              <a:buSzPct val="100000"/>
              <a:buChar char="•"/>
            </a:pPr>
            <a:r>
              <a:rPr lang="en-US" sz="1150" dirty="0">
                <a:solidFill>
                  <a:srgbClr val="8B949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swimlane trace viewer</a:t>
            </a:r>
            <a:endParaRPr lang="en-US" sz="1150" dirty="0"/>
          </a:p>
        </p:txBody>
      </p:sp>
      <p:sp>
        <p:nvSpPr>
          <p:cNvPr id="16" name="Shape 14"/>
          <p:cNvSpPr/>
          <p:nvPr/>
        </p:nvSpPr>
        <p:spPr>
          <a:xfrm>
            <a:off x="548640" y="5120640"/>
            <a:ext cx="11064240" cy="1234440"/>
          </a:xfrm>
          <a:prstGeom prst="roundRect">
            <a:avLst>
              <a:gd name="adj" fmla="val 4444"/>
            </a:avLst>
          </a:prstGeom>
          <a:solidFill>
            <a:srgbClr val="12181F"/>
          </a:solidFill>
          <a:ln w="12700">
            <a:solidFill>
              <a:srgbClr val="2B323C"/>
            </a:solidFill>
            <a:prstDash val="solid"/>
          </a:ln>
          <a:effectLst>
            <a:outerShdw sx="100000" sy="100000" kx="0" ky="0" algn="bl" rotWithShape="0" blurRad="127000" dist="25400" dir="5400000">
              <a:srgbClr val="000000">
                <a:alpha val="35000"/>
              </a:srgbClr>
            </a:outerShdw>
          </a:effectLst>
        </p:spPr>
      </p:sp>
      <p:sp>
        <p:nvSpPr>
          <p:cNvPr id="17" name="Text 15"/>
          <p:cNvSpPr txBox="1"/>
          <p:nvPr/>
        </p:nvSpPr>
        <p:spPr>
          <a:xfrm>
            <a:off x="822960" y="5303520"/>
            <a:ext cx="105156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D299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 LLM in the loop, and that is a design decision</a:t>
            </a:r>
            <a:endParaRPr lang="en-US" sz="1350" dirty="0"/>
          </a:p>
        </p:txBody>
      </p:sp>
      <p:sp>
        <p:nvSpPr>
          <p:cNvPr id="18" name="Text 16"/>
          <p:cNvSpPr txBox="1"/>
          <p:nvPr/>
        </p:nvSpPr>
        <p:spPr>
          <a:xfrm>
            <a:off x="822960" y="5632704"/>
            <a:ext cx="10515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500"/>
              </a:lnSpc>
              <a:buNone/>
            </a:pPr>
            <a:r>
              <a:rPr lang="en-US" sz="1100" dirty="0">
                <a:solidFill>
                  <a:srgbClr val="8B949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Task completion and interruption recovery are 75% of the score and both are properties of what got executed and what got cancelled — not of model quality. Latency is a further 15%, and inference time is pure cost against it. A brilliant LLM that double-books scores worse than a kernel that cannot. So the kernel is the product, and the language model is a component it is allowed to distrust.</a:t>
            </a:r>
            <a:endParaRPr lang="en-US" sz="1100" dirty="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solidFill>
          <a:srgbClr val="0E1116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384048"/>
            <a:ext cx="110642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200" kern="0" dirty="0">
                <a:solidFill>
                  <a:srgbClr val="58A6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HONEST CLOSE</a:t>
            </a:r>
            <a:endParaRPr lang="en-US" sz="12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676656"/>
            <a:ext cx="1106424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400" b="1" dirty="0">
                <a:solidFill>
                  <a:srgbClr val="E6EDF3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Innovation, limitations, and what comes next</a:t>
            </a:r>
            <a:endParaRPr lang="en-US" sz="3400" dirty="0"/>
          </a:p>
        </p:txBody>
      </p:sp>
      <p:sp>
        <p:nvSpPr>
          <p:cNvPr id="4" name="Shape 2"/>
          <p:cNvSpPr/>
          <p:nvPr/>
        </p:nvSpPr>
        <p:spPr>
          <a:xfrm>
            <a:off x="548640" y="1645920"/>
            <a:ext cx="5349240" cy="2788920"/>
          </a:xfrm>
          <a:prstGeom prst="roundRect">
            <a:avLst>
              <a:gd name="adj" fmla="val 1967"/>
            </a:avLst>
          </a:prstGeom>
          <a:solidFill>
            <a:srgbClr val="161B22"/>
          </a:solidFill>
          <a:ln w="12700">
            <a:solidFill>
              <a:srgbClr val="2B323C"/>
            </a:solidFill>
            <a:prstDash val="solid"/>
          </a:ln>
          <a:effectLst>
            <a:outerShdw sx="100000" sy="100000" kx="0" ky="0" algn="bl" rotWithShape="0" blurRad="127000" dist="25400" dir="5400000">
              <a:srgbClr val="000000">
                <a:alpha val="35000"/>
              </a:srgbClr>
            </a:outerShdw>
          </a:effectLst>
        </p:spPr>
      </p:sp>
      <p:sp>
        <p:nvSpPr>
          <p:cNvPr id="5" name="Text 3"/>
          <p:cNvSpPr txBox="1"/>
          <p:nvPr/>
        </p:nvSpPr>
        <p:spPr>
          <a:xfrm>
            <a:off x="804672" y="1828800"/>
            <a:ext cx="4846320" cy="3017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3FB95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What appears to be ours</a:t>
            </a:r>
            <a:endParaRPr lang="en-US" sz="1400" dirty="0"/>
          </a:p>
        </p:txBody>
      </p:sp>
      <p:sp>
        <p:nvSpPr>
          <p:cNvPr id="6" name="Shape 4"/>
          <p:cNvSpPr/>
          <p:nvPr/>
        </p:nvSpPr>
        <p:spPr>
          <a:xfrm>
            <a:off x="822960" y="2286000"/>
            <a:ext cx="100584" cy="100584"/>
          </a:xfrm>
          <a:prstGeom prst="roundRect">
            <a:avLst>
              <a:gd name="adj" fmla="val 363636"/>
            </a:avLst>
          </a:prstGeom>
          <a:solidFill>
            <a:srgbClr val="3FB950"/>
          </a:solidFill>
          <a:ln w="12700">
            <a:solidFill>
              <a:srgbClr val="3FB950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1033272" y="2240280"/>
            <a:ext cx="461772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400"/>
              </a:lnSpc>
              <a:buNone/>
            </a:pPr>
            <a:r>
              <a:rPr lang="en-US" sz="1050" dirty="0">
                <a:solidFill>
                  <a:srgbClr val="8B949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Floor × work as two independent axes — the only way BACKCHANNEL and REPEAT_REQUEST are expressible at all</a:t>
            </a:r>
            <a:endParaRPr lang="en-US" sz="1050" dirty="0"/>
          </a:p>
        </p:txBody>
      </p:sp>
      <p:sp>
        <p:nvSpPr>
          <p:cNvPr id="8" name="Shape 6"/>
          <p:cNvSpPr/>
          <p:nvPr/>
        </p:nvSpPr>
        <p:spPr>
          <a:xfrm>
            <a:off x="822960" y="2724912"/>
            <a:ext cx="100584" cy="100584"/>
          </a:xfrm>
          <a:prstGeom prst="roundRect">
            <a:avLst>
              <a:gd name="adj" fmla="val 363636"/>
            </a:avLst>
          </a:prstGeom>
          <a:solidFill>
            <a:srgbClr val="3FB950"/>
          </a:solidFill>
          <a:ln w="12700">
            <a:solidFill>
              <a:srgbClr val="3FB950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1033272" y="2679192"/>
            <a:ext cx="461772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400"/>
              </a:lnSpc>
              <a:buNone/>
            </a:pPr>
            <a:r>
              <a:rPr lang="en-US" sz="1050" dirty="0">
                <a:solidFill>
                  <a:srgbClr val="8B949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CANCELLED_UNCERTAIN, resolved by verifier probe, compensator, or admission</a:t>
            </a:r>
            <a:endParaRPr lang="en-US" sz="1050" dirty="0"/>
          </a:p>
        </p:txBody>
      </p:sp>
      <p:sp>
        <p:nvSpPr>
          <p:cNvPr id="10" name="Shape 8"/>
          <p:cNvSpPr/>
          <p:nvPr/>
        </p:nvSpPr>
        <p:spPr>
          <a:xfrm>
            <a:off x="822960" y="3163824"/>
            <a:ext cx="100584" cy="100584"/>
          </a:xfrm>
          <a:prstGeom prst="roundRect">
            <a:avLst>
              <a:gd name="adj" fmla="val 363636"/>
            </a:avLst>
          </a:prstGeom>
          <a:solidFill>
            <a:srgbClr val="3FB950"/>
          </a:solidFill>
          <a:ln w="12700">
            <a:solidFill>
              <a:srgbClr val="3FB950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1033272" y="3118104"/>
            <a:ext cx="461772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400"/>
              </a:lnSpc>
              <a:buNone/>
            </a:pPr>
            <a:r>
              <a:rPr lang="en-US" sz="1050" dirty="0">
                <a:solidFill>
                  <a:srgbClr val="8B949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provable-speech gate that puts every claim’s warrant into the trace</a:t>
            </a:r>
            <a:endParaRPr lang="en-US" sz="1050" dirty="0"/>
          </a:p>
        </p:txBody>
      </p:sp>
      <p:sp>
        <p:nvSpPr>
          <p:cNvPr id="12" name="Shape 10"/>
          <p:cNvSpPr/>
          <p:nvPr/>
        </p:nvSpPr>
        <p:spPr>
          <a:xfrm>
            <a:off x="822960" y="3602736"/>
            <a:ext cx="100584" cy="100584"/>
          </a:xfrm>
          <a:prstGeom prst="roundRect">
            <a:avLst>
              <a:gd name="adj" fmla="val 363636"/>
            </a:avLst>
          </a:prstGeom>
          <a:solidFill>
            <a:srgbClr val="3FB950"/>
          </a:solidFill>
          <a:ln w="12700">
            <a:solidFill>
              <a:srgbClr val="3FB950"/>
            </a:solidFill>
            <a:prstDash val="solid"/>
          </a:ln>
        </p:spPr>
      </p:sp>
      <p:sp>
        <p:nvSpPr>
          <p:cNvPr id="13" name="Text 11"/>
          <p:cNvSpPr txBox="1"/>
          <p:nvPr/>
        </p:nvSpPr>
        <p:spPr>
          <a:xfrm>
            <a:off x="1033272" y="3557016"/>
            <a:ext cx="461772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400"/>
              </a:lnSpc>
              <a:buNone/>
            </a:pPr>
            <a:r>
              <a:rPr lang="en-US" sz="1050" dirty="0">
                <a:solidFill>
                  <a:srgbClr val="8B949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Working multimodal grounding with calibrated abstention</a:t>
            </a:r>
            <a:endParaRPr lang="en-US" sz="1050" dirty="0"/>
          </a:p>
        </p:txBody>
      </p:sp>
      <p:sp>
        <p:nvSpPr>
          <p:cNvPr id="14" name="Shape 12"/>
          <p:cNvSpPr/>
          <p:nvPr/>
        </p:nvSpPr>
        <p:spPr>
          <a:xfrm>
            <a:off x="822960" y="4041648"/>
            <a:ext cx="100584" cy="100584"/>
          </a:xfrm>
          <a:prstGeom prst="roundRect">
            <a:avLst>
              <a:gd name="adj" fmla="val 363636"/>
            </a:avLst>
          </a:prstGeom>
          <a:solidFill>
            <a:srgbClr val="3FB950"/>
          </a:solidFill>
          <a:ln w="12700">
            <a:solidFill>
              <a:srgbClr val="3FB950"/>
            </a:solidFill>
            <a:prstDash val="solid"/>
          </a:ln>
        </p:spPr>
      </p:sp>
      <p:sp>
        <p:nvSpPr>
          <p:cNvPr id="15" name="Text 13"/>
          <p:cNvSpPr txBox="1"/>
          <p:nvPr/>
        </p:nvSpPr>
        <p:spPr>
          <a:xfrm>
            <a:off x="1033272" y="3995928"/>
            <a:ext cx="461772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400"/>
              </a:lnSpc>
              <a:buNone/>
            </a:pPr>
            <a:r>
              <a:rPr lang="en-US" sz="1050" dirty="0">
                <a:solidFill>
                  <a:srgbClr val="8B949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Invariant fuzzing as the defence against a hidden set nobody can see</a:t>
            </a:r>
            <a:endParaRPr lang="en-US" sz="1050" dirty="0"/>
          </a:p>
        </p:txBody>
      </p:sp>
      <p:sp>
        <p:nvSpPr>
          <p:cNvPr id="16" name="Shape 14"/>
          <p:cNvSpPr/>
          <p:nvPr/>
        </p:nvSpPr>
        <p:spPr>
          <a:xfrm>
            <a:off x="6263640" y="1645920"/>
            <a:ext cx="5349240" cy="2788920"/>
          </a:xfrm>
          <a:prstGeom prst="roundRect">
            <a:avLst>
              <a:gd name="adj" fmla="val 1967"/>
            </a:avLst>
          </a:prstGeom>
          <a:solidFill>
            <a:srgbClr val="161B22"/>
          </a:solidFill>
          <a:ln w="12700">
            <a:solidFill>
              <a:srgbClr val="2B323C"/>
            </a:solidFill>
            <a:prstDash val="solid"/>
          </a:ln>
          <a:effectLst>
            <a:outerShdw sx="100000" sy="100000" kx="0" ky="0" algn="bl" rotWithShape="0" blurRad="127000" dist="25400" dir="5400000">
              <a:srgbClr val="000000">
                <a:alpha val="35000"/>
              </a:srgbClr>
            </a:outerShdw>
          </a:effectLst>
        </p:spPr>
      </p:sp>
      <p:sp>
        <p:nvSpPr>
          <p:cNvPr id="17" name="Text 15"/>
          <p:cNvSpPr txBox="1"/>
          <p:nvPr/>
        </p:nvSpPr>
        <p:spPr>
          <a:xfrm>
            <a:off x="6519672" y="1828800"/>
            <a:ext cx="4846320" cy="3017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D299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Limitations, stated plainly</a:t>
            </a:r>
            <a:endParaRPr lang="en-US" sz="1400" dirty="0"/>
          </a:p>
        </p:txBody>
      </p:sp>
      <p:sp>
        <p:nvSpPr>
          <p:cNvPr id="18" name="Shape 16"/>
          <p:cNvSpPr/>
          <p:nvPr/>
        </p:nvSpPr>
        <p:spPr>
          <a:xfrm>
            <a:off x="6537960" y="2286000"/>
            <a:ext cx="100584" cy="100584"/>
          </a:xfrm>
          <a:prstGeom prst="roundRect">
            <a:avLst>
              <a:gd name="adj" fmla="val 363636"/>
            </a:avLst>
          </a:prstGeom>
          <a:solidFill>
            <a:srgbClr val="D29922"/>
          </a:solidFill>
          <a:ln w="12700">
            <a:solidFill>
              <a:srgbClr val="D29922"/>
            </a:solidFill>
            <a:prstDash val="solid"/>
          </a:ln>
        </p:spPr>
      </p:sp>
      <p:sp>
        <p:nvSpPr>
          <p:cNvPr id="19" name="Text 17"/>
          <p:cNvSpPr txBox="1"/>
          <p:nvPr/>
        </p:nvSpPr>
        <p:spPr>
          <a:xfrm>
            <a:off x="6748272" y="2240280"/>
            <a:ext cx="4617720" cy="5212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400"/>
              </a:lnSpc>
              <a:buNone/>
            </a:pPr>
            <a:r>
              <a:rPr lang="en-US" sz="1050" dirty="0">
                <a:solidFill>
                  <a:srgbClr val="8B949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official evaluation kit was never released publicly; ours is a spec-faithful replica, and every interface assumption needs re-checking against the real one</a:t>
            </a:r>
            <a:endParaRPr lang="en-US" sz="1050" dirty="0"/>
          </a:p>
        </p:txBody>
      </p:sp>
      <p:sp>
        <p:nvSpPr>
          <p:cNvPr id="20" name="Shape 18"/>
          <p:cNvSpPr/>
          <p:nvPr/>
        </p:nvSpPr>
        <p:spPr>
          <a:xfrm>
            <a:off x="6537960" y="2834640"/>
            <a:ext cx="100584" cy="100584"/>
          </a:xfrm>
          <a:prstGeom prst="roundRect">
            <a:avLst>
              <a:gd name="adj" fmla="val 363636"/>
            </a:avLst>
          </a:prstGeom>
          <a:solidFill>
            <a:srgbClr val="D29922"/>
          </a:solidFill>
          <a:ln w="12700">
            <a:solidFill>
              <a:srgbClr val="D29922"/>
            </a:solidFill>
            <a:prstDash val="solid"/>
          </a:ln>
        </p:spPr>
      </p:sp>
      <p:sp>
        <p:nvSpPr>
          <p:cNvPr id="21" name="Text 19"/>
          <p:cNvSpPr txBox="1"/>
          <p:nvPr/>
        </p:nvSpPr>
        <p:spPr>
          <a:xfrm>
            <a:off x="6748272" y="2788920"/>
            <a:ext cx="4617720" cy="5212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400"/>
              </a:lnSpc>
              <a:buNone/>
            </a:pPr>
            <a:r>
              <a:rPr lang="en-US" sz="1050" dirty="0">
                <a:solidFill>
                  <a:srgbClr val="8B949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interruption corpus is synthetic — generated from the taxonomy, not real user speech</a:t>
            </a:r>
            <a:endParaRPr lang="en-US" sz="1050" dirty="0"/>
          </a:p>
        </p:txBody>
      </p:sp>
      <p:sp>
        <p:nvSpPr>
          <p:cNvPr id="22" name="Shape 20"/>
          <p:cNvSpPr/>
          <p:nvPr/>
        </p:nvSpPr>
        <p:spPr>
          <a:xfrm>
            <a:off x="6537960" y="3383280"/>
            <a:ext cx="100584" cy="100584"/>
          </a:xfrm>
          <a:prstGeom prst="roundRect">
            <a:avLst>
              <a:gd name="adj" fmla="val 363636"/>
            </a:avLst>
          </a:prstGeom>
          <a:solidFill>
            <a:srgbClr val="D29922"/>
          </a:solidFill>
          <a:ln w="12700">
            <a:solidFill>
              <a:srgbClr val="D29922"/>
            </a:solidFill>
            <a:prstDash val="solid"/>
          </a:ln>
        </p:spPr>
      </p:sp>
      <p:sp>
        <p:nvSpPr>
          <p:cNvPr id="23" name="Text 21"/>
          <p:cNvSpPr txBox="1"/>
          <p:nvPr/>
        </p:nvSpPr>
        <p:spPr>
          <a:xfrm>
            <a:off x="6748272" y="3337560"/>
            <a:ext cx="4617720" cy="5212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400"/>
              </a:lnSpc>
              <a:buNone/>
            </a:pPr>
            <a:r>
              <a:rPr lang="en-US" sz="1050" dirty="0">
                <a:solidFill>
                  <a:srgbClr val="8B949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Perception is trained on generated media; real device photographs drop into the same pipeline but are unmeasured</a:t>
            </a:r>
            <a:endParaRPr lang="en-US" sz="1050" dirty="0"/>
          </a:p>
        </p:txBody>
      </p:sp>
      <p:sp>
        <p:nvSpPr>
          <p:cNvPr id="24" name="Shape 22"/>
          <p:cNvSpPr/>
          <p:nvPr/>
        </p:nvSpPr>
        <p:spPr>
          <a:xfrm>
            <a:off x="6537960" y="3931920"/>
            <a:ext cx="100584" cy="100584"/>
          </a:xfrm>
          <a:prstGeom prst="roundRect">
            <a:avLst>
              <a:gd name="adj" fmla="val 363636"/>
            </a:avLst>
          </a:prstGeom>
          <a:solidFill>
            <a:srgbClr val="D29922"/>
          </a:solidFill>
          <a:ln w="12700">
            <a:solidFill>
              <a:srgbClr val="D29922"/>
            </a:solidFill>
            <a:prstDash val="solid"/>
          </a:ln>
        </p:spPr>
      </p:sp>
      <p:sp>
        <p:nvSpPr>
          <p:cNvPr id="25" name="Text 23"/>
          <p:cNvSpPr txBox="1"/>
          <p:nvPr/>
        </p:nvSpPr>
        <p:spPr>
          <a:xfrm>
            <a:off x="6748272" y="3886200"/>
            <a:ext cx="4617720" cy="5212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400"/>
              </a:lnSpc>
              <a:buNone/>
            </a:pPr>
            <a:r>
              <a:rPr lang="en-US" sz="1050" dirty="0">
                <a:solidFill>
                  <a:srgbClr val="8B949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Dependency-aware cancellation is not unique to us — other Theme 5 entries are working the same intuition</a:t>
            </a:r>
            <a:endParaRPr lang="en-US" sz="1050" dirty="0"/>
          </a:p>
        </p:txBody>
      </p:sp>
      <p:sp>
        <p:nvSpPr>
          <p:cNvPr id="26" name="Shape 24"/>
          <p:cNvSpPr/>
          <p:nvPr/>
        </p:nvSpPr>
        <p:spPr>
          <a:xfrm>
            <a:off x="548640" y="4663440"/>
            <a:ext cx="11064240" cy="1600200"/>
          </a:xfrm>
          <a:prstGeom prst="roundRect">
            <a:avLst>
              <a:gd name="adj" fmla="val 3429"/>
            </a:avLst>
          </a:prstGeom>
          <a:solidFill>
            <a:srgbClr val="12181F"/>
          </a:solidFill>
          <a:ln w="12700">
            <a:solidFill>
              <a:srgbClr val="2B323C"/>
            </a:solidFill>
            <a:prstDash val="solid"/>
          </a:ln>
          <a:effectLst>
            <a:outerShdw sx="100000" sy="100000" kx="0" ky="0" algn="bl" rotWithShape="0" blurRad="127000" dist="25400" dir="5400000">
              <a:srgbClr val="000000">
                <a:alpha val="35000"/>
              </a:srgbClr>
            </a:outerShdw>
          </a:effectLst>
        </p:spPr>
      </p:sp>
      <p:sp>
        <p:nvSpPr>
          <p:cNvPr id="27" name="Text 25"/>
          <p:cNvSpPr txBox="1"/>
          <p:nvPr/>
        </p:nvSpPr>
        <p:spPr>
          <a:xfrm>
            <a:off x="822960" y="4846320"/>
            <a:ext cx="105156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58A6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Taken further as a worklet</a:t>
            </a:r>
            <a:endParaRPr lang="en-US" sz="1400" dirty="0"/>
          </a:p>
        </p:txBody>
      </p:sp>
      <p:sp>
        <p:nvSpPr>
          <p:cNvPr id="28" name="Text 26"/>
          <p:cNvSpPr txBox="1"/>
          <p:nvPr/>
        </p:nvSpPr>
        <p:spPr>
          <a:xfrm>
            <a:off x="822960" y="5175504"/>
            <a:ext cx="1051560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600"/>
              </a:lnSpc>
              <a:buNone/>
            </a:pPr>
            <a:r>
              <a:rPr lang="en-US" sz="1150" dirty="0">
                <a:solidFill>
                  <a:srgbClr val="8B949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kernel is model-agnostic and manifest-driven, so it sits underneath an existing assistant rather than replacing it. The immediate extensions are a real ASR front-end in place of transcript replay, on-device perception weights for the troubleshooting case, and the trace viewer as a standing debugging tool — full-duplex agents are currently very hard to debug, and being able to see an interruption being absorbed is useful well beyond this hackathon.</a:t>
            </a:r>
            <a:endParaRPr lang="en-US" sz="115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12</Slides>
  <Notes>12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12</vt:i4>
      </vt:variant>
    </vt:vector>
  </HeadingPairs>
  <TitlesOfParts>
    <vt:vector size="15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PARLEY — Interruptible Real-Time Agents</dc:title>
  <dc:subject>PptxGenJS Presentation</dc:subject>
  <dc:creator>ThaparPatiala_TEAM</dc:creator>
  <cp:lastModifiedBy>ThaparPatiala_TEAM</cp:lastModifiedBy>
  <cp:revision>1</cp:revision>
  <dcterms:created xsi:type="dcterms:W3CDTF">2026-09-25T08:13:30Z</dcterms:created>
  <dcterms:modified xsi:type="dcterms:W3CDTF">2026-09-25T08:13:30Z</dcterms:modified>
</cp:coreProperties>
</file>